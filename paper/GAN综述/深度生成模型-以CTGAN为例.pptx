
<file path=[Content_Types].xml><?xml version="1.0" encoding="utf-8"?>
<Types xmlns="http://schemas.openxmlformats.org/package/2006/content-types">
  <Default Extension="png" ContentType="image/png"/>
  <Default Extension="svg" ContentType="image/svg+xml"/>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73" r:id="rId2"/>
    <p:sldId id="556" r:id="rId3"/>
    <p:sldId id="544" r:id="rId4"/>
    <p:sldId id="563" r:id="rId5"/>
    <p:sldId id="558" r:id="rId6"/>
    <p:sldId id="564" r:id="rId7"/>
    <p:sldId id="565" r:id="rId8"/>
    <p:sldId id="559" r:id="rId9"/>
    <p:sldId id="561" r:id="rId10"/>
    <p:sldId id="566" r:id="rId11"/>
    <p:sldId id="567" r:id="rId12"/>
    <p:sldId id="568" r:id="rId13"/>
    <p:sldId id="560" r:id="rId14"/>
    <p:sldId id="562" r:id="rId15"/>
    <p:sldId id="557" r:id="rId16"/>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FAADC"/>
    <a:srgbClr val="003F87"/>
    <a:srgbClr val="2F5597"/>
    <a:srgbClr val="FFFFFF"/>
    <a:srgbClr val="8DA1C4"/>
    <a:srgbClr val="1820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74740" autoAdjust="0"/>
  </p:normalViewPr>
  <p:slideViewPr>
    <p:cSldViewPr snapToGrid="0" showGuides="1">
      <p:cViewPr varScale="1">
        <p:scale>
          <a:sx n="54" d="100"/>
          <a:sy n="54" d="100"/>
        </p:scale>
        <p:origin x="1296"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 Id="rId4" Type="http://schemas.openxmlformats.org/officeDocument/2006/relationships/image" Target="../media/image3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D7308E-CB75-4937-8AB5-A3598BE66253}" type="datetimeFigureOut">
              <a:rPr lang="zh-CN" altLang="en-US" smtClean="0"/>
              <a:t>2021/11/9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0DA2A2-8270-4ED5-BF5C-C8E0B3242FE8}" type="slidenum">
              <a:rPr lang="zh-CN" altLang="en-US" smtClean="0"/>
              <a:t>‹#›</a:t>
            </a:fld>
            <a:endParaRPr lang="zh-CN" altLang="en-US"/>
          </a:p>
        </p:txBody>
      </p:sp>
    </p:spTree>
    <p:extLst>
      <p:ext uri="{BB962C8B-B14F-4D97-AF65-F5344CB8AC3E}">
        <p14:creationId xmlns:p14="http://schemas.microsoft.com/office/powerpoint/2010/main" val="1952645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en.wikipedia.org/wiki/Kullback%E2%80%93Leibler_divergence"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en.wikipedia.org/wiki/Kullback%E2%80%93Leibler_divergence"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rdipietro.github.io/friendly-intro-to-cross-entropy-loss/"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s://arxiv.org/abs/1611.04076"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0DA2A2-8270-4ED5-BF5C-C8E0B3242FE8}" type="slidenum">
              <a:rPr lang="zh-CN" altLang="en-US" smtClean="0"/>
              <a:t>1</a:t>
            </a:fld>
            <a:endParaRPr lang="zh-CN" altLang="en-US"/>
          </a:p>
        </p:txBody>
      </p:sp>
    </p:spTree>
    <p:extLst>
      <p:ext uri="{BB962C8B-B14F-4D97-AF65-F5344CB8AC3E}">
        <p14:creationId xmlns:p14="http://schemas.microsoft.com/office/powerpoint/2010/main" val="28272670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0DA2A2-8270-4ED5-BF5C-C8E0B3242FE8}" type="slidenum">
              <a:rPr lang="zh-CN" altLang="en-US" smtClean="0"/>
              <a:t>2</a:t>
            </a:fld>
            <a:endParaRPr lang="zh-CN" altLang="en-US"/>
          </a:p>
        </p:txBody>
      </p:sp>
    </p:spTree>
    <p:extLst>
      <p:ext uri="{BB962C8B-B14F-4D97-AF65-F5344CB8AC3E}">
        <p14:creationId xmlns:p14="http://schemas.microsoft.com/office/powerpoint/2010/main" val="35895966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、生成模型可以不需要数据标签，进行无监督学习，生成符合同样本具有相同概率分布的新数据，能够适用于需要产生近似真实样本的任务，比如由</a:t>
            </a:r>
            <a:endParaRPr lang="en-US" altLang="zh-CN" dirty="0"/>
          </a:p>
          <a:p>
            <a:r>
              <a:rPr lang="zh-CN" altLang="en-US" dirty="0"/>
              <a:t>低分辨率生成高分辨率、二维图像转会为三维图像、给定特定条件生成对应的样本（</a:t>
            </a:r>
            <a:r>
              <a:rPr lang="en-US" altLang="zh-CN" dirty="0"/>
              <a:t>GAN</a:t>
            </a:r>
            <a:r>
              <a:rPr lang="zh-CN" altLang="en-US" dirty="0"/>
              <a:t>）。</a:t>
            </a:r>
            <a:endParaRPr lang="en-US" altLang="zh-CN" dirty="0"/>
          </a:p>
          <a:p>
            <a:r>
              <a:rPr lang="en-US" altLang="zh-CN" dirty="0"/>
              <a:t>2</a:t>
            </a:r>
            <a:r>
              <a:rPr lang="zh-CN" altLang="en-US" dirty="0"/>
              <a:t>、利用生成模型的从数据层到隐含层的编码过程，可以提取数据特征。</a:t>
            </a:r>
            <a:endParaRPr lang="en-US" altLang="zh-CN" dirty="0"/>
          </a:p>
          <a:p>
            <a:r>
              <a:rPr lang="en-US" altLang="zh-CN" dirty="0"/>
              <a:t>3</a:t>
            </a:r>
            <a:r>
              <a:rPr lang="zh-CN" altLang="en-US" dirty="0"/>
              <a:t>、</a:t>
            </a:r>
            <a:r>
              <a:rPr lang="zh-CN" altLang="en-US" sz="1200" b="0" i="0" kern="1200" dirty="0">
                <a:solidFill>
                  <a:schemeClr val="tx1"/>
                </a:solidFill>
                <a:effectLst/>
                <a:latin typeface="+mn-lt"/>
                <a:ea typeface="+mn-ea"/>
                <a:cs typeface="+mn-cs"/>
              </a:rPr>
              <a:t>生成模型可以用有损失（部分样本无标记）的数据进行训练，进行</a:t>
            </a:r>
            <a:r>
              <a:rPr lang="zh-CN" altLang="en-US" sz="1200" b="1" i="0" kern="1200" dirty="0">
                <a:solidFill>
                  <a:schemeClr val="tx1"/>
                </a:solidFill>
                <a:effectLst/>
                <a:latin typeface="+mn-lt"/>
                <a:ea typeface="+mn-ea"/>
                <a:cs typeface="+mn-cs"/>
              </a:rPr>
              <a:t>半监督学习</a:t>
            </a:r>
            <a:r>
              <a:rPr lang="zh-CN" altLang="en-US" sz="1200" b="0" i="0" kern="1200" dirty="0">
                <a:solidFill>
                  <a:schemeClr val="tx1"/>
                </a:solidFill>
                <a:effectLst/>
                <a:latin typeface="+mn-lt"/>
                <a:ea typeface="+mn-ea"/>
                <a:cs typeface="+mn-cs"/>
              </a:rPr>
              <a:t>，降低了我们获得数据样本的难度。</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、在训练数据缺少的情况下，如医疗、小样本，生成模型形成的新数据能够让数据变得更加充实。（</a:t>
            </a:r>
            <a:r>
              <a:rPr lang="en-US" altLang="zh-CN" sz="1200" b="0" i="0" kern="1200" dirty="0">
                <a:solidFill>
                  <a:schemeClr val="tx1"/>
                </a:solidFill>
                <a:effectLst/>
                <a:latin typeface="+mn-lt"/>
                <a:ea typeface="+mn-ea"/>
                <a:cs typeface="+mn-cs"/>
              </a:rPr>
              <a:t>GAN</a:t>
            </a:r>
            <a:r>
              <a:rPr lang="zh-CN" altLang="en-US"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3D0DA2A2-8270-4ED5-BF5C-C8E0B3242FE8}" type="slidenum">
              <a:rPr lang="zh-CN" altLang="en-US" smtClean="0"/>
              <a:t>3</a:t>
            </a:fld>
            <a:endParaRPr lang="zh-CN" altLang="en-US"/>
          </a:p>
        </p:txBody>
      </p:sp>
    </p:spTree>
    <p:extLst>
      <p:ext uri="{BB962C8B-B14F-4D97-AF65-F5344CB8AC3E}">
        <p14:creationId xmlns:p14="http://schemas.microsoft.com/office/powerpoint/2010/main" val="40304516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BM</a:t>
            </a:r>
            <a:r>
              <a:rPr lang="zh-CN" altLang="en-US" dirty="0"/>
              <a:t>：</a:t>
            </a:r>
            <a:r>
              <a:rPr lang="zh-CN" altLang="en-US" sz="1200" b="0" i="0" kern="1200" dirty="0">
                <a:solidFill>
                  <a:schemeClr val="tx1"/>
                </a:solidFill>
                <a:effectLst/>
                <a:latin typeface="+mn-lt"/>
                <a:ea typeface="+mn-ea"/>
                <a:cs typeface="+mn-cs"/>
              </a:rPr>
              <a:t>一种每一个神经元都跟其它神经元相互连接的网络，一些神经元作为输入神经元，剩余的则是作为隐神经元。</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RBM</a:t>
            </a:r>
            <a:r>
              <a:rPr lang="zh-CN" altLang="en-US" sz="1200" b="0" i="0" kern="1200" dirty="0">
                <a:solidFill>
                  <a:schemeClr val="tx1"/>
                </a:solidFill>
                <a:effectLst/>
                <a:latin typeface="+mn-lt"/>
                <a:ea typeface="+mn-ea"/>
                <a:cs typeface="+mn-cs"/>
              </a:rPr>
              <a:t>：它们不会随意在所有神经元间建立连接，而只在不同神经元群之间建立连接，因此任何输入神经元都不会同其他输入神经元相连，任何隐神经元也不会同其他隐神经元相连，类似于前馈神经网络，前向通过数据之后再将这些数据反向传回。</a:t>
            </a:r>
            <a:endParaRPr lang="en-US" altLang="zh-CN" sz="1200" b="0" i="0" kern="1200" dirty="0">
              <a:solidFill>
                <a:schemeClr val="tx1"/>
              </a:solidFill>
              <a:effectLst/>
              <a:latin typeface="+mn-lt"/>
              <a:ea typeface="+mn-ea"/>
              <a:cs typeface="+mn-cs"/>
            </a:endParaRPr>
          </a:p>
          <a:p>
            <a:r>
              <a:rPr lang="en-US" altLang="zh-CN" dirty="0"/>
              <a:t>DBN</a:t>
            </a:r>
            <a:r>
              <a:rPr lang="zh-CN" altLang="en-US" dirty="0"/>
              <a:t>：</a:t>
            </a:r>
            <a:r>
              <a:rPr lang="zh-CN" altLang="en-US" sz="1200" b="0" i="0" kern="1200" dirty="0">
                <a:solidFill>
                  <a:schemeClr val="tx1"/>
                </a:solidFill>
                <a:effectLst/>
                <a:latin typeface="+mn-lt"/>
                <a:ea typeface="+mn-ea"/>
                <a:cs typeface="+mn-cs"/>
              </a:rPr>
              <a:t>是由于它本身几乎是由多个受限玻尔兹曼机堆砌而成。实践表明一层一层地对这种类型的神经网络进行训练非常有效，这样每一个自编码机或者受限玻尔兹曼机只需要学习如何编码前一神经元层的输出。</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AE</a:t>
            </a:r>
            <a:r>
              <a:rPr lang="zh-CN" altLang="en-US" sz="1200" b="0" i="0" kern="1200" dirty="0">
                <a:solidFill>
                  <a:schemeClr val="tx1"/>
                </a:solidFill>
                <a:effectLst/>
                <a:latin typeface="+mn-lt"/>
                <a:ea typeface="+mn-ea"/>
                <a:cs typeface="+mn-cs"/>
              </a:rPr>
              <a:t>用</a:t>
            </a:r>
            <a:r>
              <a:rPr lang="en-US" altLang="zh-CN" sz="1200" b="0" i="0" u="none" strike="noStrike" kern="1200" dirty="0">
                <a:solidFill>
                  <a:schemeClr val="tx1"/>
                </a:solidFill>
                <a:effectLst/>
                <a:latin typeface="+mn-lt"/>
                <a:ea typeface="+mn-ea"/>
                <a:cs typeface="+mn-cs"/>
                <a:hlinkClick r:id="rId3"/>
              </a:rPr>
              <a:t>KL-divergence</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encoder-decoder</a:t>
            </a:r>
            <a:r>
              <a:rPr lang="zh-CN" altLang="en-US" sz="1200" b="0" i="0" kern="1200" dirty="0">
                <a:solidFill>
                  <a:schemeClr val="tx1"/>
                </a:solidFill>
                <a:effectLst/>
                <a:latin typeface="+mn-lt"/>
                <a:ea typeface="+mn-ea"/>
                <a:cs typeface="+mn-cs"/>
              </a:rPr>
              <a:t>的方式逼近真实分布</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但这些年</a:t>
            </a:r>
            <a:r>
              <a:rPr lang="en-US" altLang="zh-CN" sz="1200" b="0" i="0" kern="1200" dirty="0">
                <a:solidFill>
                  <a:schemeClr val="tx1"/>
                </a:solidFill>
                <a:effectLst/>
                <a:latin typeface="+mn-lt"/>
                <a:ea typeface="+mn-ea"/>
                <a:cs typeface="+mn-cs"/>
              </a:rPr>
              <a:t>GAN</a:t>
            </a:r>
            <a:r>
              <a:rPr lang="zh-CN" altLang="en-US" sz="1200" b="0" i="0" kern="1200" dirty="0">
                <a:solidFill>
                  <a:schemeClr val="tx1"/>
                </a:solidFill>
                <a:effectLst/>
                <a:latin typeface="+mn-lt"/>
                <a:ea typeface="+mn-ea"/>
                <a:cs typeface="+mn-cs"/>
              </a:rPr>
              <a:t>因其”端到端”灵活性和隐式的目标函数得到广泛青睐</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而且</a:t>
            </a:r>
            <a:r>
              <a:rPr lang="en-US" altLang="zh-CN" sz="1200" b="0" i="0" kern="1200" dirty="0">
                <a:solidFill>
                  <a:schemeClr val="tx1"/>
                </a:solidFill>
                <a:effectLst/>
                <a:latin typeface="+mn-lt"/>
                <a:ea typeface="+mn-ea"/>
                <a:cs typeface="+mn-cs"/>
              </a:rPr>
              <a:t>, GAN</a:t>
            </a:r>
            <a:r>
              <a:rPr lang="zh-CN" altLang="en-US" sz="1200" b="0" i="0" kern="1200" dirty="0">
                <a:solidFill>
                  <a:schemeClr val="tx1"/>
                </a:solidFill>
                <a:effectLst/>
                <a:latin typeface="+mn-lt"/>
                <a:ea typeface="+mn-ea"/>
                <a:cs typeface="+mn-cs"/>
              </a:rPr>
              <a:t>更倾向于生成清晰的图像</a:t>
            </a:r>
            <a:r>
              <a:rPr lang="en-US" altLang="zh-CN" sz="1200" b="0" i="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5"/>
          </p:nvPr>
        </p:nvSpPr>
        <p:spPr/>
        <p:txBody>
          <a:bodyPr/>
          <a:lstStyle/>
          <a:p>
            <a:fld id="{3D0DA2A2-8270-4ED5-BF5C-C8E0B3242FE8}" type="slidenum">
              <a:rPr lang="zh-CN" altLang="en-US" smtClean="0"/>
              <a:t>4</a:t>
            </a:fld>
            <a:endParaRPr lang="zh-CN" altLang="en-US"/>
          </a:p>
        </p:txBody>
      </p:sp>
    </p:spTree>
    <p:extLst>
      <p:ext uri="{BB962C8B-B14F-4D97-AF65-F5344CB8AC3E}">
        <p14:creationId xmlns:p14="http://schemas.microsoft.com/office/powerpoint/2010/main" val="20732269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0DA2A2-8270-4ED5-BF5C-C8E0B3242FE8}" type="slidenum">
              <a:rPr lang="zh-CN" altLang="en-US" smtClean="0"/>
              <a:t>5</a:t>
            </a:fld>
            <a:endParaRPr lang="zh-CN" altLang="en-US"/>
          </a:p>
        </p:txBody>
      </p:sp>
    </p:spTree>
    <p:extLst>
      <p:ext uri="{BB962C8B-B14F-4D97-AF65-F5344CB8AC3E}">
        <p14:creationId xmlns:p14="http://schemas.microsoft.com/office/powerpoint/2010/main" val="10676048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VAE</a:t>
            </a:r>
            <a:r>
              <a:rPr lang="zh-CN" altLang="en-US" sz="1200" b="0" i="0" kern="1200" dirty="0">
                <a:solidFill>
                  <a:schemeClr val="tx1"/>
                </a:solidFill>
                <a:effectLst/>
                <a:latin typeface="+mn-lt"/>
                <a:ea typeface="+mn-ea"/>
                <a:cs typeface="+mn-cs"/>
              </a:rPr>
              <a:t>训练完全依靠一个假设的</a:t>
            </a:r>
            <a:r>
              <a:rPr lang="en-US" altLang="zh-CN" sz="1200" b="0" i="0" kern="1200" dirty="0">
                <a:solidFill>
                  <a:schemeClr val="tx1"/>
                </a:solidFill>
                <a:effectLst/>
                <a:latin typeface="+mn-lt"/>
                <a:ea typeface="+mn-ea"/>
                <a:cs typeface="+mn-cs"/>
              </a:rPr>
              <a:t>loss</a:t>
            </a:r>
            <a:r>
              <a:rPr lang="zh-CN" altLang="en-US" sz="1200" b="0" i="0" kern="1200" dirty="0">
                <a:solidFill>
                  <a:schemeClr val="tx1"/>
                </a:solidFill>
                <a:effectLst/>
                <a:latin typeface="+mn-lt"/>
                <a:ea typeface="+mn-ea"/>
                <a:cs typeface="+mn-cs"/>
              </a:rPr>
              <a:t>函数和</a:t>
            </a:r>
            <a:r>
              <a:rPr lang="en-US" altLang="zh-CN" sz="1200" b="0" i="0" u="none" strike="noStrike" kern="1200" dirty="0">
                <a:solidFill>
                  <a:schemeClr val="tx1"/>
                </a:solidFill>
                <a:effectLst/>
                <a:latin typeface="+mn-lt"/>
                <a:ea typeface="+mn-ea"/>
                <a:cs typeface="+mn-cs"/>
                <a:hlinkClick r:id="rId3"/>
              </a:rPr>
              <a:t>KL-divergence</a:t>
            </a:r>
            <a:r>
              <a:rPr lang="zh-CN" altLang="en-US" sz="1200" b="0" i="0" kern="1200" dirty="0">
                <a:solidFill>
                  <a:schemeClr val="tx1"/>
                </a:solidFill>
                <a:effectLst/>
                <a:latin typeface="+mn-lt"/>
                <a:ea typeface="+mn-ea"/>
                <a:cs typeface="+mn-cs"/>
              </a:rPr>
              <a:t>逼近真实分布</a:t>
            </a:r>
            <a:r>
              <a:rPr lang="en-US" altLang="zh-CN" sz="1200" b="0" i="0" kern="1200" dirty="0">
                <a:solidFill>
                  <a:schemeClr val="tx1"/>
                </a:solidFill>
                <a:effectLst/>
                <a:latin typeface="+mn-lt"/>
                <a:ea typeface="+mn-ea"/>
                <a:cs typeface="+mn-cs"/>
              </a:rPr>
              <a:t>:</a:t>
            </a:r>
          </a:p>
          <a:p>
            <a:r>
              <a:rPr lang="en-US" altLang="zh-CN" sz="1200" b="0" i="0" kern="1200" dirty="0">
                <a:solidFill>
                  <a:schemeClr val="tx1"/>
                </a:solidFill>
                <a:effectLst/>
                <a:latin typeface="+mn-lt"/>
                <a:ea typeface="+mn-ea"/>
                <a:cs typeface="+mn-cs"/>
              </a:rPr>
              <a:t>GAN</a:t>
            </a:r>
            <a:r>
              <a:rPr lang="zh-CN" altLang="en-US" sz="1200" b="0" i="0" kern="1200" dirty="0">
                <a:solidFill>
                  <a:schemeClr val="tx1"/>
                </a:solidFill>
                <a:effectLst/>
                <a:latin typeface="+mn-lt"/>
                <a:ea typeface="+mn-ea"/>
                <a:cs typeface="+mn-cs"/>
              </a:rPr>
              <a:t>则</a:t>
            </a:r>
            <a:r>
              <a:rPr lang="zh-CN" altLang="en-US" sz="1200" b="1" i="0" kern="1200" dirty="0">
                <a:solidFill>
                  <a:schemeClr val="tx1"/>
                </a:solidFill>
                <a:effectLst/>
                <a:latin typeface="+mn-lt"/>
                <a:ea typeface="+mn-ea"/>
                <a:cs typeface="+mn-cs"/>
              </a:rPr>
              <a:t>没有假设单个</a:t>
            </a:r>
            <a:r>
              <a:rPr lang="en-US" altLang="zh-CN" sz="1200" b="1" i="0" kern="1200" dirty="0">
                <a:solidFill>
                  <a:schemeClr val="tx1"/>
                </a:solidFill>
                <a:effectLst/>
                <a:latin typeface="+mn-lt"/>
                <a:ea typeface="+mn-ea"/>
                <a:cs typeface="+mn-cs"/>
              </a:rPr>
              <a:t>loss</a:t>
            </a:r>
            <a:r>
              <a:rPr lang="zh-CN" altLang="en-US" sz="1200" b="1" i="0" kern="1200" dirty="0">
                <a:solidFill>
                  <a:schemeClr val="tx1"/>
                </a:solidFill>
                <a:effectLst/>
                <a:latin typeface="+mn-lt"/>
                <a:ea typeface="+mn-ea"/>
                <a:cs typeface="+mn-cs"/>
              </a:rPr>
              <a:t>函数</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而是让</a:t>
            </a:r>
            <a:r>
              <a:rPr lang="zh-CN" altLang="en-US" sz="1200" b="1" i="0" kern="1200" dirty="0">
                <a:solidFill>
                  <a:schemeClr val="tx1"/>
                </a:solidFill>
                <a:effectLst/>
                <a:latin typeface="+mn-lt"/>
                <a:ea typeface="+mn-ea"/>
                <a:cs typeface="+mn-cs"/>
              </a:rPr>
              <a:t>判别器</a:t>
            </a:r>
            <a:r>
              <a:rPr lang="en-US" altLang="zh-CN" sz="1200" b="1" i="0" kern="1200" dirty="0">
                <a:solidFill>
                  <a:schemeClr val="tx1"/>
                </a:solidFill>
                <a:effectLst/>
                <a:latin typeface="+mn-lt"/>
                <a:ea typeface="+mn-ea"/>
                <a:cs typeface="+mn-cs"/>
              </a:rPr>
              <a:t>D</a:t>
            </a:r>
            <a:r>
              <a:rPr lang="zh-CN" altLang="en-US" sz="1200" b="0" i="0" kern="1200" dirty="0">
                <a:solidFill>
                  <a:schemeClr val="tx1"/>
                </a:solidFill>
                <a:effectLst/>
                <a:latin typeface="+mn-lt"/>
                <a:ea typeface="+mn-ea"/>
                <a:cs typeface="+mn-cs"/>
              </a:rPr>
              <a:t>和</a:t>
            </a:r>
            <a:r>
              <a:rPr lang="zh-CN" altLang="en-US" sz="1200" b="1" i="0" kern="1200" dirty="0">
                <a:solidFill>
                  <a:schemeClr val="tx1"/>
                </a:solidFill>
                <a:effectLst/>
                <a:latin typeface="+mn-lt"/>
                <a:ea typeface="+mn-ea"/>
                <a:cs typeface="+mn-cs"/>
              </a:rPr>
              <a:t>生成器</a:t>
            </a:r>
            <a:r>
              <a:rPr lang="en-US" altLang="zh-CN" sz="1200" b="1" i="0" kern="1200" dirty="0">
                <a:solidFill>
                  <a:schemeClr val="tx1"/>
                </a:solidFill>
                <a:effectLst/>
                <a:latin typeface="+mn-lt"/>
                <a:ea typeface="+mn-ea"/>
                <a:cs typeface="+mn-cs"/>
              </a:rPr>
              <a:t>G</a:t>
            </a:r>
            <a:r>
              <a:rPr lang="zh-CN" altLang="en-US" sz="1200" b="0" i="0" kern="1200" dirty="0">
                <a:solidFill>
                  <a:schemeClr val="tx1"/>
                </a:solidFill>
                <a:effectLst/>
                <a:latin typeface="+mn-lt"/>
                <a:ea typeface="+mn-ea"/>
                <a:cs typeface="+mn-cs"/>
              </a:rPr>
              <a:t>之间进行一种零和博弈</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一方面</a:t>
            </a:r>
            <a:r>
              <a:rPr lang="en-US" altLang="zh-CN" sz="1200" b="0" i="0" kern="1200" dirty="0">
                <a:solidFill>
                  <a:schemeClr val="tx1"/>
                </a:solidFill>
                <a:effectLst/>
                <a:latin typeface="+mn-lt"/>
                <a:ea typeface="+mn-ea"/>
                <a:cs typeface="+mn-cs"/>
              </a:rPr>
              <a:t>, </a:t>
            </a:r>
            <a:r>
              <a:rPr lang="zh-CN" altLang="en-US" sz="1200" b="1" i="0" kern="1200" dirty="0">
                <a:solidFill>
                  <a:schemeClr val="tx1"/>
                </a:solidFill>
                <a:effectLst/>
                <a:latin typeface="+mn-lt"/>
                <a:ea typeface="+mn-ea"/>
                <a:cs typeface="+mn-cs"/>
              </a:rPr>
              <a:t>生成器</a:t>
            </a:r>
            <a:r>
              <a:rPr lang="en-US" altLang="zh-CN" sz="1200" b="1" i="0" kern="1200" dirty="0">
                <a:solidFill>
                  <a:schemeClr val="tx1"/>
                </a:solidFill>
                <a:effectLst/>
                <a:latin typeface="+mn-lt"/>
                <a:ea typeface="+mn-ea"/>
                <a:cs typeface="+mn-cs"/>
              </a:rPr>
              <a:t>G</a:t>
            </a:r>
            <a:r>
              <a:rPr lang="zh-CN" altLang="en-US" sz="1200" b="0" i="0" kern="1200" dirty="0">
                <a:solidFill>
                  <a:schemeClr val="tx1"/>
                </a:solidFill>
                <a:effectLst/>
                <a:latin typeface="+mn-lt"/>
                <a:ea typeface="+mn-ea"/>
                <a:cs typeface="+mn-cs"/>
              </a:rPr>
              <a:t>要以生成假样本为目的</a:t>
            </a:r>
            <a:r>
              <a:rPr lang="en-US" altLang="zh-CN" sz="1200" b="0" i="0" kern="1200" dirty="0">
                <a:solidFill>
                  <a:schemeClr val="tx1"/>
                </a:solidFill>
                <a:effectLst/>
                <a:latin typeface="+mn-lt"/>
                <a:ea typeface="+mn-ea"/>
                <a:cs typeface="+mn-cs"/>
              </a:rPr>
              <a:t>(loss</a:t>
            </a:r>
            <a:r>
              <a:rPr lang="zh-CN" altLang="en-US" sz="1200" b="0" i="0" kern="1200" dirty="0">
                <a:solidFill>
                  <a:schemeClr val="tx1"/>
                </a:solidFill>
                <a:effectLst/>
                <a:latin typeface="+mn-lt"/>
                <a:ea typeface="+mn-ea"/>
                <a:cs typeface="+mn-cs"/>
              </a:rPr>
              <a:t>评估</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欺骗</a:t>
            </a:r>
            <a:r>
              <a:rPr lang="zh-CN" altLang="en-US" sz="1200" b="1" i="0" kern="1200" dirty="0">
                <a:solidFill>
                  <a:schemeClr val="tx1"/>
                </a:solidFill>
                <a:effectLst/>
                <a:latin typeface="+mn-lt"/>
                <a:ea typeface="+mn-ea"/>
                <a:cs typeface="+mn-cs"/>
              </a:rPr>
              <a:t>判别器</a:t>
            </a:r>
            <a:r>
              <a:rPr lang="en-US" altLang="zh-CN" sz="1200" b="1" i="0" kern="1200" dirty="0">
                <a:solidFill>
                  <a:schemeClr val="tx1"/>
                </a:solidFill>
                <a:effectLst/>
                <a:latin typeface="+mn-lt"/>
                <a:ea typeface="+mn-ea"/>
                <a:cs typeface="+mn-cs"/>
              </a:rPr>
              <a:t>D</a:t>
            </a:r>
            <a:r>
              <a:rPr lang="zh-CN" altLang="en-US" sz="1200" b="0" i="0" kern="1200" dirty="0">
                <a:solidFill>
                  <a:schemeClr val="tx1"/>
                </a:solidFill>
                <a:effectLst/>
                <a:latin typeface="+mn-lt"/>
                <a:ea typeface="+mn-ea"/>
                <a:cs typeface="+mn-cs"/>
              </a:rPr>
              <a:t>误认为是真实样本</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另一方面</a:t>
            </a:r>
            <a:r>
              <a:rPr lang="en-US" altLang="zh-CN" sz="1200" b="0" i="0" kern="1200" dirty="0">
                <a:solidFill>
                  <a:schemeClr val="tx1"/>
                </a:solidFill>
                <a:effectLst/>
                <a:latin typeface="+mn-lt"/>
                <a:ea typeface="+mn-ea"/>
                <a:cs typeface="+mn-cs"/>
              </a:rPr>
              <a:t>, </a:t>
            </a:r>
            <a:r>
              <a:rPr lang="zh-CN" altLang="en-US" sz="1200" b="1" i="0" kern="1200" dirty="0">
                <a:solidFill>
                  <a:schemeClr val="tx1"/>
                </a:solidFill>
                <a:effectLst/>
                <a:latin typeface="+mn-lt"/>
                <a:ea typeface="+mn-ea"/>
                <a:cs typeface="+mn-cs"/>
              </a:rPr>
              <a:t>判别器</a:t>
            </a:r>
            <a:r>
              <a:rPr lang="en-US" altLang="zh-CN" sz="1200" b="1" i="0" kern="1200" dirty="0">
                <a:solidFill>
                  <a:schemeClr val="tx1"/>
                </a:solidFill>
                <a:effectLst/>
                <a:latin typeface="+mn-lt"/>
                <a:ea typeface="+mn-ea"/>
                <a:cs typeface="+mn-cs"/>
              </a:rPr>
              <a:t>D</a:t>
            </a:r>
            <a:r>
              <a:rPr lang="zh-CN" altLang="en-US" sz="1200" b="0" i="0" kern="1200" dirty="0">
                <a:solidFill>
                  <a:schemeClr val="tx1"/>
                </a:solidFill>
                <a:effectLst/>
                <a:latin typeface="+mn-lt"/>
                <a:ea typeface="+mn-ea"/>
                <a:cs typeface="+mn-cs"/>
              </a:rPr>
              <a:t>要以区分真实样本</a:t>
            </a:r>
            <a:r>
              <a:rPr lang="en-US" altLang="zh-CN" sz="1200" b="1" i="0" kern="1200" dirty="0">
                <a:solidFill>
                  <a:schemeClr val="tx1"/>
                </a:solidFill>
                <a:effectLst/>
                <a:latin typeface="+mn-lt"/>
                <a:ea typeface="+mn-ea"/>
                <a:cs typeface="+mn-cs"/>
              </a:rPr>
              <a:t>x</a:t>
            </a:r>
            <a:r>
              <a:rPr lang="zh-CN" altLang="en-US" sz="1200" b="0" i="0" kern="1200" dirty="0">
                <a:solidFill>
                  <a:schemeClr val="tx1"/>
                </a:solidFill>
                <a:effectLst/>
                <a:latin typeface="+mn-lt"/>
                <a:ea typeface="+mn-ea"/>
                <a:cs typeface="+mn-cs"/>
              </a:rPr>
              <a:t>和假样本</a:t>
            </a:r>
            <a:r>
              <a:rPr lang="en-US" altLang="zh-CN" sz="1200" b="1" i="0" kern="1200" dirty="0">
                <a:solidFill>
                  <a:schemeClr val="tx1"/>
                </a:solidFill>
                <a:effectLst/>
                <a:latin typeface="+mn-lt"/>
                <a:ea typeface="+mn-ea"/>
                <a:cs typeface="+mn-cs"/>
              </a:rPr>
              <a:t>G(z)</a:t>
            </a:r>
            <a:r>
              <a:rPr lang="zh-CN" altLang="en-US" sz="1200" b="0" i="0" kern="1200" dirty="0">
                <a:solidFill>
                  <a:schemeClr val="tx1"/>
                </a:solidFill>
                <a:effectLst/>
                <a:latin typeface="+mn-lt"/>
                <a:ea typeface="+mn-ea"/>
                <a:cs typeface="+mn-cs"/>
              </a:rPr>
              <a:t>为最终目的</a:t>
            </a:r>
            <a:r>
              <a:rPr lang="en-US" altLang="zh-CN" sz="1200" b="0" i="0" kern="1200" dirty="0">
                <a:solidFill>
                  <a:schemeClr val="tx1"/>
                </a:solidFill>
                <a:effectLst/>
                <a:latin typeface="+mn-lt"/>
                <a:ea typeface="+mn-ea"/>
                <a:cs typeface="+mn-cs"/>
              </a:rPr>
              <a:t>(loss</a:t>
            </a:r>
            <a:r>
              <a:rPr lang="zh-CN" altLang="en-US" sz="1200" b="0" i="0" kern="1200" dirty="0">
                <a:solidFill>
                  <a:schemeClr val="tx1"/>
                </a:solidFill>
                <a:effectLst/>
                <a:latin typeface="+mn-lt"/>
                <a:ea typeface="+mn-ea"/>
                <a:cs typeface="+mn-cs"/>
              </a:rPr>
              <a:t>评估。</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GAN</a:t>
            </a:r>
            <a:r>
              <a:rPr lang="zh-CN" altLang="en-US" sz="1200" b="0" i="0" kern="1200" dirty="0">
                <a:solidFill>
                  <a:schemeClr val="tx1"/>
                </a:solidFill>
                <a:effectLst/>
                <a:latin typeface="+mn-lt"/>
                <a:ea typeface="+mn-ea"/>
                <a:cs typeface="+mn-cs"/>
              </a:rPr>
              <a:t>生成图像更清晰，生成对抗网络也有一些问题</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比如经常很难训练</a:t>
            </a:r>
            <a:r>
              <a:rPr lang="en-US" altLang="zh-CN" sz="1200" b="0" i="0" kern="1200" dirty="0">
                <a:solidFill>
                  <a:schemeClr val="tx1"/>
                </a:solidFill>
                <a:effectLst/>
                <a:latin typeface="+mn-lt"/>
                <a:ea typeface="+mn-ea"/>
                <a:cs typeface="+mn-cs"/>
              </a:rPr>
              <a:t>(DCGAN</a:t>
            </a:r>
            <a:r>
              <a:rPr lang="zh-CN" altLang="en-US" sz="1200" b="0" i="0" kern="1200" dirty="0">
                <a:solidFill>
                  <a:schemeClr val="tx1"/>
                </a:solidFill>
                <a:effectLst/>
                <a:latin typeface="+mn-lt"/>
                <a:ea typeface="+mn-ea"/>
                <a:cs typeface="+mn-cs"/>
              </a:rPr>
              <a:t>试图解决</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有时候</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特别是高像素图像</a:t>
            </a:r>
            <a:r>
              <a:rPr lang="en-US" altLang="zh-CN" sz="1200" b="0" i="0" kern="1200" dirty="0">
                <a:solidFill>
                  <a:schemeClr val="tx1"/>
                </a:solidFill>
                <a:effectLst/>
                <a:latin typeface="+mn-lt"/>
                <a:ea typeface="+mn-ea"/>
                <a:cs typeface="+mn-cs"/>
              </a:rPr>
              <a:t>), GAN</a:t>
            </a:r>
            <a:r>
              <a:rPr lang="zh-CN" altLang="en-US" sz="1200" b="0" i="0" kern="1200" dirty="0">
                <a:solidFill>
                  <a:schemeClr val="tx1"/>
                </a:solidFill>
                <a:effectLst/>
                <a:latin typeface="+mn-lt"/>
                <a:ea typeface="+mn-ea"/>
                <a:cs typeface="+mn-cs"/>
              </a:rPr>
              <a:t>生成</a:t>
            </a:r>
            <a:r>
              <a:rPr lang="zh-CN" altLang="en-US" sz="1200" b="1" i="0" kern="1200" dirty="0">
                <a:solidFill>
                  <a:schemeClr val="tx1"/>
                </a:solidFill>
                <a:effectLst/>
                <a:latin typeface="+mn-lt"/>
                <a:ea typeface="+mn-ea"/>
                <a:cs typeface="+mn-cs"/>
              </a:rPr>
              <a:t>图像不清晰</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还有时候</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生成图片多样性太差</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只是对真实样本的简单改动</a:t>
            </a:r>
            <a:r>
              <a:rPr lang="en-US" altLang="zh-CN" sz="1200" b="0" i="0" kern="1200" dirty="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5"/>
          </p:nvPr>
        </p:nvSpPr>
        <p:spPr/>
        <p:txBody>
          <a:bodyPr/>
          <a:lstStyle/>
          <a:p>
            <a:fld id="{3D0DA2A2-8270-4ED5-BF5C-C8E0B3242FE8}" type="slidenum">
              <a:rPr lang="zh-CN" altLang="en-US" smtClean="0"/>
              <a:t>6</a:t>
            </a:fld>
            <a:endParaRPr lang="zh-CN" altLang="en-US"/>
          </a:p>
        </p:txBody>
      </p:sp>
    </p:spTree>
    <p:extLst>
      <p:ext uri="{BB962C8B-B14F-4D97-AF65-F5344CB8AC3E}">
        <p14:creationId xmlns:p14="http://schemas.microsoft.com/office/powerpoint/2010/main" val="32525274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、传统</a:t>
            </a:r>
            <a:r>
              <a:rPr lang="en-US" altLang="zh-CN" sz="1200" b="0" i="0" kern="1200" dirty="0">
                <a:solidFill>
                  <a:schemeClr val="tx1"/>
                </a:solidFill>
                <a:effectLst/>
                <a:latin typeface="+mn-lt"/>
                <a:ea typeface="+mn-ea"/>
                <a:cs typeface="+mn-cs"/>
              </a:rPr>
              <a:t>GAN</a:t>
            </a:r>
            <a:r>
              <a:rPr lang="zh-CN" altLang="en-US" sz="1200" b="0" i="0" kern="1200" dirty="0">
                <a:solidFill>
                  <a:schemeClr val="tx1"/>
                </a:solidFill>
                <a:effectLst/>
                <a:latin typeface="+mn-lt"/>
                <a:ea typeface="+mn-ea"/>
                <a:cs typeface="+mn-cs"/>
              </a:rPr>
              <a:t>中</a:t>
            </a:r>
            <a:r>
              <a:rPr lang="en-US" altLang="zh-CN" sz="1200" b="0" i="0" kern="1200" dirty="0">
                <a:solidFill>
                  <a:schemeClr val="tx1"/>
                </a:solidFill>
                <a:effectLst/>
                <a:latin typeface="+mn-lt"/>
                <a:ea typeface="+mn-ea"/>
                <a:cs typeface="+mn-cs"/>
              </a:rPr>
              <a:t>, D</a:t>
            </a:r>
            <a:r>
              <a:rPr lang="zh-CN" altLang="en-US" sz="1200" b="0" i="0" kern="1200" dirty="0">
                <a:solidFill>
                  <a:schemeClr val="tx1"/>
                </a:solidFill>
                <a:effectLst/>
                <a:latin typeface="+mn-lt"/>
                <a:ea typeface="+mn-ea"/>
                <a:cs typeface="+mn-cs"/>
              </a:rPr>
              <a:t>网络和</a:t>
            </a:r>
            <a:r>
              <a:rPr lang="en-US" altLang="zh-CN" sz="1200" b="0" i="0" kern="1200" dirty="0">
                <a:solidFill>
                  <a:schemeClr val="tx1"/>
                </a:solidFill>
                <a:effectLst/>
                <a:latin typeface="+mn-lt"/>
                <a:ea typeface="+mn-ea"/>
                <a:cs typeface="+mn-cs"/>
              </a:rPr>
              <a:t>G</a:t>
            </a:r>
            <a:r>
              <a:rPr lang="zh-CN" altLang="en-US" sz="1200" b="0" i="0" kern="1200" dirty="0">
                <a:solidFill>
                  <a:schemeClr val="tx1"/>
                </a:solidFill>
                <a:effectLst/>
                <a:latin typeface="+mn-lt"/>
                <a:ea typeface="+mn-ea"/>
                <a:cs typeface="+mn-cs"/>
              </a:rPr>
              <a:t>网络都是用简单的</a:t>
            </a:r>
            <a:r>
              <a:rPr lang="zh-CN" altLang="en-US" sz="1200" b="0" i="0" u="none" strike="noStrike" kern="1200" dirty="0">
                <a:solidFill>
                  <a:schemeClr val="tx1"/>
                </a:solidFill>
                <a:effectLst/>
                <a:latin typeface="+mn-lt"/>
                <a:ea typeface="+mn-ea"/>
                <a:cs typeface="+mn-cs"/>
                <a:hlinkClick r:id="rId3"/>
              </a:rPr>
              <a:t>交叉熵</a:t>
            </a:r>
            <a:r>
              <a:rPr lang="en-US" altLang="zh-CN" sz="1200" b="0" i="0" u="none" strike="noStrike" kern="1200" dirty="0">
                <a:solidFill>
                  <a:schemeClr val="tx1"/>
                </a:solidFill>
                <a:effectLst/>
                <a:latin typeface="+mn-lt"/>
                <a:ea typeface="+mn-ea"/>
                <a:cs typeface="+mn-cs"/>
                <a:hlinkClick r:id="rId3"/>
              </a:rPr>
              <a:t>loss</a:t>
            </a:r>
            <a:r>
              <a:rPr lang="zh-CN" altLang="en-US" sz="1200" b="0" i="0" kern="1200" dirty="0">
                <a:solidFill>
                  <a:schemeClr val="tx1"/>
                </a:solidFill>
                <a:effectLst/>
                <a:latin typeface="+mn-lt"/>
                <a:ea typeface="+mn-ea"/>
                <a:cs typeface="+mn-cs"/>
              </a:rPr>
              <a:t>做更新</a:t>
            </a:r>
            <a:r>
              <a:rPr lang="en-US" altLang="zh-CN" sz="1200" b="0" i="0" kern="1200" dirty="0">
                <a:solidFill>
                  <a:schemeClr val="tx1"/>
                </a:solidFill>
                <a:effectLst/>
                <a:latin typeface="+mn-lt"/>
                <a:ea typeface="+mn-ea"/>
                <a:cs typeface="+mn-cs"/>
              </a:rPr>
              <a:t>, </a:t>
            </a:r>
            <a:r>
              <a:rPr lang="zh-CN" altLang="en-US" sz="1200" b="0" i="0" u="none" strike="noStrike" kern="1200" dirty="0">
                <a:solidFill>
                  <a:schemeClr val="tx1"/>
                </a:solidFill>
                <a:effectLst/>
                <a:latin typeface="+mn-lt"/>
                <a:ea typeface="+mn-ea"/>
                <a:cs typeface="+mn-cs"/>
                <a:hlinkClick r:id="rId4"/>
              </a:rPr>
              <a:t>最小二乘</a:t>
            </a:r>
            <a:r>
              <a:rPr lang="en-US" altLang="zh-CN" sz="1200" b="0" i="0" u="none" strike="noStrike" kern="1200" dirty="0">
                <a:solidFill>
                  <a:schemeClr val="tx1"/>
                </a:solidFill>
                <a:effectLst/>
                <a:latin typeface="+mn-lt"/>
                <a:ea typeface="+mn-ea"/>
                <a:cs typeface="+mn-cs"/>
                <a:hlinkClick r:id="rId4"/>
              </a:rPr>
              <a:t>GAN</a:t>
            </a:r>
            <a:r>
              <a:rPr lang="zh-CN" altLang="en-US" sz="1200" b="0" i="0" kern="1200" dirty="0">
                <a:solidFill>
                  <a:schemeClr val="tx1"/>
                </a:solidFill>
                <a:effectLst/>
                <a:latin typeface="+mn-lt"/>
                <a:ea typeface="+mn-ea"/>
                <a:cs typeface="+mn-cs"/>
              </a:rPr>
              <a:t>则用最小二乘</a:t>
            </a:r>
            <a:r>
              <a:rPr lang="en-US" altLang="zh-CN" sz="1200" b="0" i="0" kern="1200" dirty="0">
                <a:solidFill>
                  <a:schemeClr val="tx1"/>
                </a:solidFill>
                <a:effectLst/>
                <a:latin typeface="+mn-lt"/>
                <a:ea typeface="+mn-ea"/>
                <a:cs typeface="+mn-cs"/>
              </a:rPr>
              <a:t>(Least Squares) Loss </a:t>
            </a:r>
            <a:r>
              <a:rPr lang="zh-CN" altLang="en-US" sz="1200" b="0" i="0" kern="1200" dirty="0">
                <a:solidFill>
                  <a:schemeClr val="tx1"/>
                </a:solidFill>
                <a:effectLst/>
                <a:latin typeface="+mn-lt"/>
                <a:ea typeface="+mn-ea"/>
                <a:cs typeface="+mn-cs"/>
              </a:rPr>
              <a:t>做更新。更严格地惩罚远离数据集的离群</a:t>
            </a:r>
            <a:r>
              <a:rPr lang="en-US" altLang="zh-CN" sz="1200" b="0" i="0" kern="1200" dirty="0">
                <a:solidFill>
                  <a:schemeClr val="tx1"/>
                </a:solidFill>
                <a:effectLst/>
                <a:latin typeface="+mn-lt"/>
                <a:ea typeface="+mn-ea"/>
                <a:cs typeface="+mn-cs"/>
              </a:rPr>
              <a:t>Fake sample, </a:t>
            </a:r>
            <a:r>
              <a:rPr lang="zh-CN" altLang="en-US" sz="1200" b="0" i="0" kern="1200" dirty="0">
                <a:solidFill>
                  <a:schemeClr val="tx1"/>
                </a:solidFill>
                <a:effectLst/>
                <a:latin typeface="+mn-lt"/>
                <a:ea typeface="+mn-ea"/>
                <a:cs typeface="+mn-cs"/>
              </a:rPr>
              <a:t>使得生成图片更接近真实数据</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同时图像也更清晰</a:t>
            </a:r>
            <a:r>
              <a:rPr lang="en-US" altLang="zh-CN" sz="1200" b="0" i="0" kern="1200" dirty="0">
                <a:solidFill>
                  <a:schemeClr val="tx1"/>
                </a:solidFill>
                <a:effectLst/>
                <a:latin typeface="+mn-lt"/>
                <a:ea typeface="+mn-ea"/>
                <a:cs typeface="+mn-cs"/>
              </a:rPr>
              <a:t>) 2. </a:t>
            </a:r>
            <a:r>
              <a:rPr lang="zh-CN" altLang="en-US" sz="1200" b="0" i="0" kern="1200" dirty="0">
                <a:solidFill>
                  <a:schemeClr val="tx1"/>
                </a:solidFill>
                <a:effectLst/>
                <a:latin typeface="+mn-lt"/>
                <a:ea typeface="+mn-ea"/>
                <a:cs typeface="+mn-cs"/>
              </a:rPr>
              <a:t>最小二乘保证离群</a:t>
            </a:r>
            <a:r>
              <a:rPr lang="en-US" altLang="zh-CN" sz="1200" b="0" i="0" kern="1200" dirty="0">
                <a:solidFill>
                  <a:schemeClr val="tx1"/>
                </a:solidFill>
                <a:effectLst/>
                <a:latin typeface="+mn-lt"/>
                <a:ea typeface="+mn-ea"/>
                <a:cs typeface="+mn-cs"/>
              </a:rPr>
              <a:t>sample</a:t>
            </a:r>
            <a:r>
              <a:rPr lang="zh-CN" altLang="en-US" sz="1200" b="0" i="0" kern="1200" dirty="0">
                <a:solidFill>
                  <a:schemeClr val="tx1"/>
                </a:solidFill>
                <a:effectLst/>
                <a:latin typeface="+mn-lt"/>
                <a:ea typeface="+mn-ea"/>
                <a:cs typeface="+mn-cs"/>
              </a:rPr>
              <a:t>惩罚更大</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解决了原本</a:t>
            </a:r>
            <a:r>
              <a:rPr lang="en-US" altLang="zh-CN" sz="1200" b="0" i="0" kern="1200" dirty="0">
                <a:solidFill>
                  <a:schemeClr val="tx1"/>
                </a:solidFill>
                <a:effectLst/>
                <a:latin typeface="+mn-lt"/>
                <a:ea typeface="+mn-ea"/>
                <a:cs typeface="+mn-cs"/>
              </a:rPr>
              <a:t>GAN</a:t>
            </a:r>
            <a:r>
              <a:rPr lang="zh-CN" altLang="en-US" sz="1200" b="0" i="0" kern="1200" dirty="0">
                <a:solidFill>
                  <a:schemeClr val="tx1"/>
                </a:solidFill>
                <a:effectLst/>
                <a:latin typeface="+mn-lt"/>
                <a:ea typeface="+mn-ea"/>
                <a:cs typeface="+mn-cs"/>
              </a:rPr>
              <a:t>训练不充分</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不稳定</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的问题。</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WGAN</a:t>
            </a:r>
            <a:r>
              <a:rPr lang="zh-CN" altLang="en-US" sz="1200" b="1"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通过剪裁</a:t>
            </a:r>
            <a:r>
              <a:rPr lang="en-US" altLang="zh-CN" sz="1200" b="0" i="0" kern="1200" dirty="0">
                <a:solidFill>
                  <a:schemeClr val="tx1"/>
                </a:solidFill>
                <a:effectLst/>
                <a:latin typeface="+mn-lt"/>
                <a:ea typeface="+mn-ea"/>
                <a:cs typeface="+mn-cs"/>
              </a:rPr>
              <a:t>D</a:t>
            </a:r>
            <a:r>
              <a:rPr lang="zh-CN" altLang="en-US" sz="1200" b="0" i="0" kern="1200" dirty="0">
                <a:solidFill>
                  <a:schemeClr val="tx1"/>
                </a:solidFill>
                <a:effectLst/>
                <a:latin typeface="+mn-lt"/>
                <a:ea typeface="+mn-ea"/>
                <a:cs typeface="+mn-cs"/>
              </a:rPr>
              <a:t>网络参数的方式</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对</a:t>
            </a:r>
            <a:r>
              <a:rPr lang="en-US" altLang="zh-CN" sz="1200" b="0" i="0" kern="1200" dirty="0">
                <a:solidFill>
                  <a:schemeClr val="tx1"/>
                </a:solidFill>
                <a:effectLst/>
                <a:latin typeface="+mn-lt"/>
                <a:ea typeface="+mn-ea"/>
                <a:cs typeface="+mn-cs"/>
              </a:rPr>
              <a:t>D</a:t>
            </a:r>
            <a:r>
              <a:rPr lang="zh-CN" altLang="en-US" sz="1200" b="0" i="0" kern="1200" dirty="0">
                <a:solidFill>
                  <a:schemeClr val="tx1"/>
                </a:solidFill>
                <a:effectLst/>
                <a:latin typeface="+mn-lt"/>
                <a:ea typeface="+mn-ea"/>
                <a:cs typeface="+mn-cs"/>
              </a:rPr>
              <a:t>网络进行稳定更新，减少参数的复杂度</a:t>
            </a:r>
            <a:endParaRPr lang="en-US" altLang="zh-CN" sz="1200" b="0" i="0" kern="1200" dirty="0">
              <a:solidFill>
                <a:schemeClr val="tx1"/>
              </a:solidFill>
              <a:effectLst/>
              <a:latin typeface="+mn-lt"/>
              <a:ea typeface="+mn-ea"/>
              <a:cs typeface="+mn-cs"/>
            </a:endParaRPr>
          </a:p>
          <a:p>
            <a:pPr fontAlgn="base"/>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BGAN</a:t>
            </a:r>
            <a:r>
              <a:rPr lang="zh-CN" altLang="en-US" sz="1200" b="0" i="0" kern="1200" dirty="0">
                <a:solidFill>
                  <a:schemeClr val="tx1"/>
                </a:solidFill>
                <a:effectLst/>
                <a:latin typeface="+mn-lt"/>
                <a:ea typeface="+mn-ea"/>
                <a:cs typeface="+mn-cs"/>
              </a:rPr>
              <a:t>优势在于</a:t>
            </a:r>
            <a:r>
              <a:rPr lang="zh-CN" altLang="en-US" sz="1200" b="1" i="0" kern="1200" dirty="0">
                <a:solidFill>
                  <a:schemeClr val="tx1"/>
                </a:solidFill>
                <a:effectLst/>
                <a:latin typeface="+mn-lt"/>
                <a:ea typeface="+mn-ea"/>
                <a:cs typeface="+mn-cs"/>
              </a:rPr>
              <a:t>生成离散样本（当然像图像这样的连续样本也可以支持）。</a:t>
            </a:r>
            <a:r>
              <a:rPr lang="en-US" altLang="zh-CN" sz="1200" b="0" i="0" kern="1200" dirty="0">
                <a:solidFill>
                  <a:schemeClr val="tx1"/>
                </a:solidFill>
                <a:effectLst/>
                <a:latin typeface="+mn-lt"/>
                <a:ea typeface="+mn-ea"/>
                <a:cs typeface="+mn-cs"/>
              </a:rPr>
              <a:t>BGAN</a:t>
            </a:r>
            <a:r>
              <a:rPr lang="zh-CN" altLang="en-US" sz="1200" b="0" i="0" kern="1200" dirty="0">
                <a:solidFill>
                  <a:schemeClr val="tx1"/>
                </a:solidFill>
                <a:effectLst/>
                <a:latin typeface="+mn-lt"/>
                <a:ea typeface="+mn-ea"/>
                <a:cs typeface="+mn-cs"/>
              </a:rPr>
              <a:t>的生成器以不断生成决策边界上的样本为目标。</a:t>
            </a:r>
            <a:endParaRPr lang="en-US" altLang="zh-CN" sz="1200" b="0" i="0" kern="1200" dirty="0">
              <a:solidFill>
                <a:schemeClr val="tx1"/>
              </a:solidFill>
              <a:effectLst/>
              <a:latin typeface="+mn-lt"/>
              <a:ea typeface="+mn-ea"/>
              <a:cs typeface="+mn-cs"/>
            </a:endParaRPr>
          </a:p>
          <a:p>
            <a:pPr fontAlgn="base"/>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SGAN</a:t>
            </a:r>
            <a:r>
              <a:rPr lang="zh-CN" altLang="en-US" sz="1200" b="0" i="0" kern="1200" dirty="0">
                <a:solidFill>
                  <a:schemeClr val="tx1"/>
                </a:solidFill>
                <a:effectLst/>
                <a:latin typeface="+mn-lt"/>
                <a:ea typeface="+mn-ea"/>
                <a:cs typeface="+mn-cs"/>
              </a:rPr>
              <a:t>是一种结构创新的</a:t>
            </a:r>
            <a:r>
              <a:rPr lang="en-US" altLang="zh-CN" sz="1200" b="0" i="0" kern="1200" dirty="0">
                <a:solidFill>
                  <a:schemeClr val="tx1"/>
                </a:solidFill>
                <a:effectLst/>
                <a:latin typeface="+mn-lt"/>
                <a:ea typeface="+mn-ea"/>
                <a:cs typeface="+mn-cs"/>
              </a:rPr>
              <a:t>GAN</a:t>
            </a:r>
            <a:r>
              <a:rPr lang="zh-CN" altLang="en-US" sz="1200" b="0" i="0" kern="1200" dirty="0">
                <a:solidFill>
                  <a:schemeClr val="tx1"/>
                </a:solidFill>
                <a:effectLst/>
                <a:latin typeface="+mn-lt"/>
                <a:ea typeface="+mn-ea"/>
                <a:cs typeface="+mn-cs"/>
              </a:rPr>
              <a:t>，通过堆叠多个</a:t>
            </a:r>
            <a:r>
              <a:rPr lang="en-US" altLang="zh-CN" sz="1200" b="0" i="0" kern="1200" dirty="0">
                <a:solidFill>
                  <a:schemeClr val="tx1"/>
                </a:solidFill>
                <a:effectLst/>
                <a:latin typeface="+mn-lt"/>
                <a:ea typeface="+mn-ea"/>
                <a:cs typeface="+mn-cs"/>
              </a:rPr>
              <a:t>GAN</a:t>
            </a:r>
            <a:r>
              <a:rPr lang="zh-CN" altLang="en-US" sz="1200" b="0" i="0" kern="1200" dirty="0">
                <a:solidFill>
                  <a:schemeClr val="tx1"/>
                </a:solidFill>
                <a:effectLst/>
                <a:latin typeface="+mn-lt"/>
                <a:ea typeface="+mn-ea"/>
                <a:cs typeface="+mn-cs"/>
              </a:rPr>
              <a:t>网络，实现生成模型的信息“分层化”</a:t>
            </a:r>
            <a:endParaRPr lang="en-US" altLang="zh-CN" sz="1200" b="0" i="0" kern="1200" dirty="0">
              <a:solidFill>
                <a:schemeClr val="tx1"/>
              </a:solidFill>
              <a:effectLst/>
              <a:latin typeface="+mn-lt"/>
              <a:ea typeface="+mn-ea"/>
              <a:cs typeface="+mn-cs"/>
            </a:endParaRPr>
          </a:p>
          <a:p>
            <a:pPr fontAlgn="base"/>
            <a:r>
              <a:rPr lang="en-US" altLang="zh-CN" sz="1200" b="0" i="0" kern="1200" dirty="0">
                <a:solidFill>
                  <a:schemeClr val="tx1"/>
                </a:solidFill>
                <a:effectLst/>
                <a:latin typeface="+mn-lt"/>
                <a:ea typeface="+mn-ea"/>
                <a:cs typeface="+mn-cs"/>
              </a:rPr>
              <a:t>5</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DCGAN</a:t>
            </a:r>
            <a:r>
              <a:rPr lang="zh-CN" altLang="en-US" sz="1200" b="0" i="0" kern="1200" dirty="0">
                <a:solidFill>
                  <a:schemeClr val="tx1"/>
                </a:solidFill>
                <a:effectLst/>
                <a:latin typeface="+mn-lt"/>
                <a:ea typeface="+mn-ea"/>
                <a:cs typeface="+mn-cs"/>
              </a:rPr>
              <a:t>引入卷积减少参数量，不容易过拟合</a:t>
            </a:r>
            <a:endParaRPr lang="en-US" altLang="zh-CN" sz="1200" b="0" i="0" kern="1200" dirty="0">
              <a:solidFill>
                <a:schemeClr val="tx1"/>
              </a:solidFill>
              <a:effectLst/>
              <a:latin typeface="+mn-lt"/>
              <a:ea typeface="+mn-ea"/>
              <a:cs typeface="+mn-cs"/>
            </a:endParaRPr>
          </a:p>
          <a:p>
            <a:pPr fontAlgn="base"/>
            <a:r>
              <a:rPr lang="en-US" altLang="zh-CN" sz="1200" b="0" i="0" kern="1200" dirty="0">
                <a:solidFill>
                  <a:schemeClr val="tx1"/>
                </a:solidFill>
                <a:effectLst/>
                <a:latin typeface="+mn-lt"/>
                <a:ea typeface="+mn-ea"/>
                <a:cs typeface="+mn-cs"/>
              </a:rPr>
              <a:t>6</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CGAN</a:t>
            </a:r>
            <a:r>
              <a:rPr lang="zh-CN" altLang="en-US" sz="1200" b="0" i="0" kern="1200" dirty="0">
                <a:solidFill>
                  <a:schemeClr val="tx1"/>
                </a:solidFill>
                <a:effectLst/>
                <a:latin typeface="+mn-lt"/>
                <a:ea typeface="+mn-ea"/>
                <a:cs typeface="+mn-cs"/>
              </a:rPr>
              <a:t>是对条件生成</a:t>
            </a:r>
            <a:r>
              <a:rPr lang="en-US" altLang="zh-CN" sz="1200" b="0" i="0" kern="1200" dirty="0">
                <a:solidFill>
                  <a:schemeClr val="tx1"/>
                </a:solidFill>
                <a:effectLst/>
                <a:latin typeface="+mn-lt"/>
                <a:ea typeface="+mn-ea"/>
                <a:cs typeface="+mn-cs"/>
              </a:rPr>
              <a:t>GAN</a:t>
            </a:r>
            <a:r>
              <a:rPr lang="zh-CN" altLang="en-US" sz="1200" b="0" i="0" kern="1200" dirty="0">
                <a:solidFill>
                  <a:schemeClr val="tx1"/>
                </a:solidFill>
                <a:effectLst/>
                <a:latin typeface="+mn-lt"/>
                <a:ea typeface="+mn-ea"/>
                <a:cs typeface="+mn-cs"/>
              </a:rPr>
              <a:t>的最先尝试，方法也比较简单，直接在网络输入加入条件信息</a:t>
            </a:r>
            <a:r>
              <a:rPr lang="en-US" altLang="zh-CN" sz="1200" b="0" i="0"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，用来控制网络的条件输出模式：</a:t>
            </a:r>
          </a:p>
          <a:p>
            <a:endParaRPr lang="en-US" altLang="zh-CN" sz="1200" b="0" i="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3D0DA2A2-8270-4ED5-BF5C-C8E0B3242FE8}" type="slidenum">
              <a:rPr lang="zh-CN" altLang="en-US" smtClean="0"/>
              <a:t>7</a:t>
            </a:fld>
            <a:endParaRPr lang="zh-CN" altLang="en-US"/>
          </a:p>
        </p:txBody>
      </p:sp>
    </p:spTree>
    <p:extLst>
      <p:ext uri="{BB962C8B-B14F-4D97-AF65-F5344CB8AC3E}">
        <p14:creationId xmlns:p14="http://schemas.microsoft.com/office/powerpoint/2010/main" val="3667018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D0DA2A2-8270-4ED5-BF5C-C8E0B3242FE8}" type="slidenum">
              <a:rPr lang="zh-CN" altLang="en-US" smtClean="0"/>
              <a:t>8</a:t>
            </a:fld>
            <a:endParaRPr lang="zh-CN" altLang="en-US"/>
          </a:p>
        </p:txBody>
      </p:sp>
    </p:spTree>
    <p:extLst>
      <p:ext uri="{BB962C8B-B14F-4D97-AF65-F5344CB8AC3E}">
        <p14:creationId xmlns:p14="http://schemas.microsoft.com/office/powerpoint/2010/main" val="10517348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表格数据中的连续值通常是非高斯的，其中最小</a:t>
            </a:r>
            <a:r>
              <a:rPr lang="en-US" altLang="zh-CN" dirty="0"/>
              <a:t>-</a:t>
            </a:r>
            <a:r>
              <a:rPr lang="zh-CN" altLang="en-US" dirty="0"/>
              <a:t>最大变换会导致梯度消失问题。</a:t>
            </a:r>
            <a:endParaRPr lang="en-US" altLang="zh-CN" dirty="0"/>
          </a:p>
          <a:p>
            <a:r>
              <a:rPr lang="zh-CN" altLang="en-US" dirty="0"/>
              <a:t> </a:t>
            </a:r>
            <a:r>
              <a:rPr lang="en-US" altLang="zh-CN" dirty="0"/>
              <a:t>2D </a:t>
            </a:r>
            <a:r>
              <a:rPr lang="zh-CN" altLang="en-US" dirty="0"/>
              <a:t>数据集上对所有模式进行建模； 因此，它在模拟连续柱的多峰分布时也会很困难。</a:t>
            </a:r>
            <a:endParaRPr lang="en-US" altLang="zh-CN" dirty="0"/>
          </a:p>
          <a:p>
            <a:r>
              <a:rPr lang="zh-CN" altLang="en-US" dirty="0"/>
              <a:t>这会造成严重的模式崩溃。 缺少一个次要类别只会导致鉴别器难以检测到的数据分布发生微小变化。 不平衡的数据也会导致小班的培训机会不足。</a:t>
            </a:r>
            <a:endParaRPr lang="en-US" altLang="zh-CN" dirty="0"/>
          </a:p>
          <a:p>
            <a:r>
              <a:rPr lang="zh-CN" altLang="en-US" dirty="0"/>
              <a:t>前者处理非高斯分布和多模态分布问题，后者能够处理离散列的数据不平衡性问题。</a:t>
            </a:r>
            <a:endParaRPr lang="en-US" altLang="zh-CN" dirty="0"/>
          </a:p>
        </p:txBody>
      </p:sp>
      <p:sp>
        <p:nvSpPr>
          <p:cNvPr id="4" name="灯片编号占位符 3"/>
          <p:cNvSpPr>
            <a:spLocks noGrp="1"/>
          </p:cNvSpPr>
          <p:nvPr>
            <p:ph type="sldNum" sz="quarter" idx="5"/>
          </p:nvPr>
        </p:nvSpPr>
        <p:spPr/>
        <p:txBody>
          <a:bodyPr/>
          <a:lstStyle/>
          <a:p>
            <a:fld id="{3D0DA2A2-8270-4ED5-BF5C-C8E0B3242FE8}" type="slidenum">
              <a:rPr lang="zh-CN" altLang="en-US" smtClean="0"/>
              <a:t>9</a:t>
            </a:fld>
            <a:endParaRPr lang="zh-CN" altLang="en-US"/>
          </a:p>
        </p:txBody>
      </p:sp>
    </p:spTree>
    <p:extLst>
      <p:ext uri="{BB962C8B-B14F-4D97-AF65-F5344CB8AC3E}">
        <p14:creationId xmlns:p14="http://schemas.microsoft.com/office/powerpoint/2010/main" val="18052883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采用</a:t>
            </a:r>
            <a:r>
              <a:rPr lang="en-US" altLang="zh-CN" sz="1200" b="0" i="0" u="none" strike="noStrike" kern="1200" baseline="0" dirty="0">
                <a:solidFill>
                  <a:schemeClr val="tx1"/>
                </a:solidFill>
                <a:latin typeface="+mn-lt"/>
                <a:ea typeface="+mn-ea"/>
                <a:cs typeface="+mn-cs"/>
              </a:rPr>
              <a:t>variational Gaussian mixture model (VGM)</a:t>
            </a:r>
            <a:r>
              <a:rPr lang="zh-CN" altLang="en-US" sz="1200" b="0" i="0" u="none" strike="noStrike" kern="1200" baseline="0" dirty="0">
                <a:solidFill>
                  <a:schemeClr val="tx1"/>
                </a:solidFill>
                <a:latin typeface="+mn-lt"/>
                <a:ea typeface="+mn-ea"/>
                <a:cs typeface="+mn-cs"/>
              </a:rPr>
              <a:t>识别模态</a:t>
            </a:r>
            <a:endParaRPr lang="en-US" altLang="zh-CN" dirty="0"/>
          </a:p>
        </p:txBody>
      </p:sp>
      <p:sp>
        <p:nvSpPr>
          <p:cNvPr id="4" name="灯片编号占位符 3"/>
          <p:cNvSpPr>
            <a:spLocks noGrp="1"/>
          </p:cNvSpPr>
          <p:nvPr>
            <p:ph type="sldNum" sz="quarter" idx="5"/>
          </p:nvPr>
        </p:nvSpPr>
        <p:spPr/>
        <p:txBody>
          <a:bodyPr/>
          <a:lstStyle/>
          <a:p>
            <a:fld id="{3D0DA2A2-8270-4ED5-BF5C-C8E0B3242FE8}" type="slidenum">
              <a:rPr lang="zh-CN" altLang="en-US" smtClean="0"/>
              <a:t>10</a:t>
            </a:fld>
            <a:endParaRPr lang="zh-CN" altLang="en-US"/>
          </a:p>
        </p:txBody>
      </p:sp>
    </p:spTree>
    <p:extLst>
      <p:ext uri="{BB962C8B-B14F-4D97-AF65-F5344CB8AC3E}">
        <p14:creationId xmlns:p14="http://schemas.microsoft.com/office/powerpoint/2010/main" val="19719641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Sigmoid</a:t>
            </a:r>
            <a:r>
              <a:rPr lang="zh-CN" altLang="en-US" sz="1200" b="0" i="0" kern="1200" dirty="0">
                <a:solidFill>
                  <a:schemeClr val="tx1"/>
                </a:solidFill>
                <a:effectLst/>
                <a:latin typeface="+mn-lt"/>
                <a:ea typeface="+mn-ea"/>
                <a:cs typeface="+mn-cs"/>
              </a:rPr>
              <a:t>，可以看出当输入非常大或者非常小的时候，会导致其导数趋近于零，也就是权重的梯度趋近于零，即</a:t>
            </a:r>
            <a:r>
              <a:rPr lang="zh-CN" altLang="en-US" sz="1200" b="1" i="0" kern="1200" dirty="0">
                <a:solidFill>
                  <a:schemeClr val="tx1"/>
                </a:solidFill>
                <a:effectLst/>
                <a:latin typeface="+mn-lt"/>
                <a:ea typeface="+mn-ea"/>
                <a:cs typeface="+mn-cs"/>
              </a:rPr>
              <a:t>梯度消失</a:t>
            </a:r>
            <a:r>
              <a:rPr lang="zh-CN" altLang="en-US"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tanh</a:t>
            </a:r>
            <a:r>
              <a:rPr lang="zh-CN" altLang="en-US" sz="1200" b="0" i="0" kern="1200" dirty="0">
                <a:solidFill>
                  <a:schemeClr val="tx1"/>
                </a:solidFill>
                <a:effectLst/>
                <a:latin typeface="+mn-lt"/>
                <a:ea typeface="+mn-ea"/>
                <a:cs typeface="+mn-cs"/>
              </a:rPr>
              <a:t>（双曲正切），</a:t>
            </a:r>
            <a:r>
              <a:rPr lang="zh-CN" altLang="en-US" sz="1200" b="1" i="0" kern="1200" dirty="0">
                <a:solidFill>
                  <a:schemeClr val="tx1"/>
                </a:solidFill>
                <a:effectLst/>
                <a:latin typeface="+mn-lt"/>
                <a:ea typeface="+mn-ea"/>
                <a:cs typeface="+mn-cs"/>
              </a:rPr>
              <a:t>相较于</a:t>
            </a:r>
            <a:r>
              <a:rPr lang="en-US" altLang="zh-CN" sz="1200" b="1" i="0" kern="1200" dirty="0">
                <a:solidFill>
                  <a:schemeClr val="tx1"/>
                </a:solidFill>
                <a:effectLst/>
                <a:latin typeface="+mn-lt"/>
                <a:ea typeface="+mn-ea"/>
                <a:cs typeface="+mn-cs"/>
              </a:rPr>
              <a:t>sigmoid</a:t>
            </a:r>
            <a:r>
              <a:rPr lang="zh-CN" altLang="en-US" sz="1200" b="1" i="0" kern="1200" dirty="0">
                <a:solidFill>
                  <a:schemeClr val="tx1"/>
                </a:solidFill>
                <a:effectLst/>
                <a:latin typeface="+mn-lt"/>
                <a:ea typeface="+mn-ea"/>
                <a:cs typeface="+mn-cs"/>
              </a:rPr>
              <a:t>函数要常见一些，该函数是将取值为 </a:t>
            </a:r>
            <a:r>
              <a:rPr lang="en-US" altLang="zh-CN" sz="1200" b="1" i="0" kern="1200" dirty="0">
                <a:solidFill>
                  <a:schemeClr val="tx1"/>
                </a:solidFill>
                <a:effectLst/>
                <a:latin typeface="+mn-lt"/>
                <a:ea typeface="+mn-ea"/>
                <a:cs typeface="+mn-cs"/>
              </a:rPr>
              <a:t>(−∞,+∞) </a:t>
            </a:r>
            <a:r>
              <a:rPr lang="zh-CN" altLang="en-US" sz="1200" b="1" i="0" kern="1200" dirty="0">
                <a:solidFill>
                  <a:schemeClr val="tx1"/>
                </a:solidFill>
                <a:effectLst/>
                <a:latin typeface="+mn-lt"/>
                <a:ea typeface="+mn-ea"/>
                <a:cs typeface="+mn-cs"/>
              </a:rPr>
              <a:t>的数映射到 </a:t>
            </a:r>
            <a:r>
              <a:rPr lang="en-US" altLang="zh-CN" sz="1200" b="1" i="0" kern="1200" dirty="0">
                <a:solidFill>
                  <a:schemeClr val="tx1"/>
                </a:solidFill>
                <a:effectLst/>
                <a:latin typeface="+mn-lt"/>
                <a:ea typeface="+mn-ea"/>
                <a:cs typeface="+mn-cs"/>
              </a:rPr>
              <a:t>(−1,1) </a:t>
            </a:r>
            <a:r>
              <a:rPr lang="zh-CN" altLang="en-US" sz="1200" b="1" i="0" kern="1200" dirty="0">
                <a:solidFill>
                  <a:schemeClr val="tx1"/>
                </a:solidFill>
                <a:effectLst/>
                <a:latin typeface="+mn-lt"/>
                <a:ea typeface="+mn-ea"/>
                <a:cs typeface="+mn-cs"/>
              </a:rPr>
              <a:t>之间，</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0 </a:t>
            </a:r>
            <a:r>
              <a:rPr lang="zh-CN" altLang="en-US" sz="1200" b="0" i="0" kern="1200" dirty="0">
                <a:solidFill>
                  <a:schemeClr val="tx1"/>
                </a:solidFill>
                <a:effectLst/>
                <a:latin typeface="+mn-lt"/>
                <a:ea typeface="+mn-ea"/>
                <a:cs typeface="+mn-cs"/>
              </a:rPr>
              <a:t>附近很短一段区域内可看做线性的。由于</a:t>
            </a:r>
            <a:r>
              <a:rPr lang="en-US" altLang="zh-CN" sz="1200" b="0" i="0" kern="1200" dirty="0">
                <a:solidFill>
                  <a:schemeClr val="tx1"/>
                </a:solidFill>
                <a:effectLst/>
                <a:latin typeface="+mn-lt"/>
                <a:ea typeface="+mn-ea"/>
                <a:cs typeface="+mn-cs"/>
              </a:rPr>
              <a:t>tanh</a:t>
            </a:r>
            <a:r>
              <a:rPr lang="zh-CN" altLang="en-US" sz="1200" b="0" i="0" kern="1200" dirty="0">
                <a:solidFill>
                  <a:schemeClr val="tx1"/>
                </a:solidFill>
                <a:effectLst/>
                <a:latin typeface="+mn-lt"/>
                <a:ea typeface="+mn-ea"/>
                <a:cs typeface="+mn-cs"/>
              </a:rPr>
              <a:t>函数均值为 </a:t>
            </a:r>
            <a:r>
              <a:rPr lang="en-US" altLang="zh-CN" sz="1200" b="0" i="0" kern="1200" dirty="0">
                <a:solidFill>
                  <a:schemeClr val="tx1"/>
                </a:solidFill>
                <a:effectLst/>
                <a:latin typeface="+mn-lt"/>
                <a:ea typeface="+mn-ea"/>
                <a:cs typeface="+mn-cs"/>
              </a:rPr>
              <a:t>0 </a:t>
            </a:r>
            <a:r>
              <a:rPr lang="zh-CN" altLang="en-US" sz="1200" b="0" i="0" kern="1200" dirty="0">
                <a:solidFill>
                  <a:schemeClr val="tx1"/>
                </a:solidFill>
                <a:effectLst/>
                <a:latin typeface="+mn-lt"/>
                <a:ea typeface="+mn-ea"/>
                <a:cs typeface="+mn-cs"/>
              </a:rPr>
              <a:t>，因此弥补了</a:t>
            </a:r>
            <a:r>
              <a:rPr lang="en-US" altLang="zh-CN" sz="1200" b="0" i="0" kern="1200" dirty="0">
                <a:solidFill>
                  <a:schemeClr val="tx1"/>
                </a:solidFill>
                <a:effectLst/>
                <a:latin typeface="+mn-lt"/>
                <a:ea typeface="+mn-ea"/>
                <a:cs typeface="+mn-cs"/>
              </a:rPr>
              <a:t>sigmoid</a:t>
            </a:r>
            <a:r>
              <a:rPr lang="zh-CN" altLang="en-US" sz="1200" b="0" i="0" kern="1200" dirty="0">
                <a:solidFill>
                  <a:schemeClr val="tx1"/>
                </a:solidFill>
                <a:effectLst/>
                <a:latin typeface="+mn-lt"/>
                <a:ea typeface="+mn-ea"/>
                <a:cs typeface="+mn-cs"/>
              </a:rPr>
              <a:t>函数均值为 </a:t>
            </a:r>
            <a:r>
              <a:rPr lang="en-US" altLang="zh-CN" sz="1200" b="0" i="0" kern="1200" dirty="0">
                <a:solidFill>
                  <a:schemeClr val="tx1"/>
                </a:solidFill>
                <a:effectLst/>
                <a:latin typeface="+mn-lt"/>
                <a:ea typeface="+mn-ea"/>
                <a:cs typeface="+mn-cs"/>
              </a:rPr>
              <a:t>0.5 </a:t>
            </a:r>
            <a:r>
              <a:rPr lang="zh-CN" altLang="en-US" sz="1200" b="0" i="0" kern="1200" dirty="0">
                <a:solidFill>
                  <a:schemeClr val="tx1"/>
                </a:solidFill>
                <a:effectLst/>
                <a:latin typeface="+mn-lt"/>
                <a:ea typeface="+mn-ea"/>
                <a:cs typeface="+mn-cs"/>
              </a:rPr>
              <a:t>的缺点，同样有梯度消失的问题。</a:t>
            </a:r>
            <a:endParaRPr lang="en-US" altLang="zh-CN" sz="1200" b="0" i="0" kern="1200" dirty="0">
              <a:solidFill>
                <a:schemeClr val="tx1"/>
              </a:solidFill>
              <a:effectLst/>
              <a:latin typeface="+mn-lt"/>
              <a:ea typeface="+mn-ea"/>
              <a:cs typeface="+mn-cs"/>
            </a:endParaRPr>
          </a:p>
          <a:p>
            <a:r>
              <a:rPr lang="en-US" altLang="zh-CN" sz="1200" b="1" i="0" kern="1200" dirty="0" err="1">
                <a:solidFill>
                  <a:schemeClr val="tx1"/>
                </a:solidFill>
                <a:effectLst/>
                <a:latin typeface="+mn-lt"/>
                <a:ea typeface="+mn-ea"/>
                <a:cs typeface="+mn-cs"/>
              </a:rPr>
              <a:t>ReLU</a:t>
            </a:r>
            <a:r>
              <a:rPr lang="zh-CN" altLang="en-US" sz="1200" b="1" i="0" kern="1200" dirty="0">
                <a:solidFill>
                  <a:schemeClr val="tx1"/>
                </a:solidFill>
                <a:effectLst/>
                <a:latin typeface="+mn-lt"/>
                <a:ea typeface="+mn-ea"/>
                <a:cs typeface="+mn-cs"/>
              </a:rPr>
              <a:t>（修正线性单元）：</a:t>
            </a:r>
            <a:r>
              <a:rPr lang="en-US" altLang="zh-CN" sz="1200" b="0" i="0" kern="1200" dirty="0">
                <a:solidFill>
                  <a:schemeClr val="tx1"/>
                </a:solidFill>
                <a:effectLst/>
                <a:latin typeface="+mn-lt"/>
                <a:ea typeface="+mn-ea"/>
                <a:cs typeface="+mn-cs"/>
              </a:rPr>
              <a:t>1. </a:t>
            </a:r>
            <a:r>
              <a:rPr lang="zh-CN" altLang="en-US" sz="1200" b="0" i="0" kern="1200" dirty="0">
                <a:solidFill>
                  <a:schemeClr val="tx1"/>
                </a:solidFill>
                <a:effectLst/>
                <a:latin typeface="+mn-lt"/>
                <a:ea typeface="+mn-ea"/>
                <a:cs typeface="+mn-cs"/>
              </a:rPr>
              <a:t>在输入为正数的时候（对于大多数输入 </a:t>
            </a:r>
            <a:r>
              <a:rPr lang="en-US" altLang="zh-CN" sz="1200" b="0" i="0" kern="1200" dirty="0">
                <a:solidFill>
                  <a:schemeClr val="tx1"/>
                </a:solidFill>
                <a:effectLst/>
                <a:latin typeface="+mn-lt"/>
                <a:ea typeface="+mn-ea"/>
                <a:cs typeface="+mn-cs"/>
              </a:rPr>
              <a:t>z </a:t>
            </a:r>
            <a:r>
              <a:rPr lang="zh-CN" altLang="en-US" sz="1200" b="0" i="0" kern="1200" dirty="0">
                <a:solidFill>
                  <a:schemeClr val="tx1"/>
                </a:solidFill>
                <a:effectLst/>
                <a:latin typeface="+mn-lt"/>
                <a:ea typeface="+mn-ea"/>
                <a:cs typeface="+mn-cs"/>
              </a:rPr>
              <a:t>空间来说），不存在梯度消失问题。</a:t>
            </a:r>
            <a:r>
              <a:rPr lang="en-US" altLang="zh-CN" sz="1200" b="0" i="0" kern="1200" dirty="0">
                <a:solidFill>
                  <a:schemeClr val="tx1"/>
                </a:solidFill>
                <a:effectLst/>
                <a:latin typeface="+mn-lt"/>
                <a:ea typeface="+mn-ea"/>
                <a:cs typeface="+mn-cs"/>
              </a:rPr>
              <a:t>2. </a:t>
            </a:r>
            <a:r>
              <a:rPr lang="zh-CN" altLang="en-US" sz="1200" b="0" i="0" kern="1200" dirty="0">
                <a:solidFill>
                  <a:schemeClr val="tx1"/>
                </a:solidFill>
                <a:effectLst/>
                <a:latin typeface="+mn-lt"/>
                <a:ea typeface="+mn-ea"/>
                <a:cs typeface="+mn-cs"/>
              </a:rPr>
              <a:t>计算速度要快很多。</a:t>
            </a:r>
            <a:r>
              <a:rPr lang="en-US" altLang="zh-CN" sz="1200" b="0" i="0" kern="1200" dirty="0" err="1">
                <a:solidFill>
                  <a:schemeClr val="tx1"/>
                </a:solidFill>
                <a:effectLst/>
                <a:latin typeface="+mn-lt"/>
                <a:ea typeface="+mn-ea"/>
                <a:cs typeface="+mn-cs"/>
              </a:rPr>
              <a:t>ReLU</a:t>
            </a:r>
            <a:r>
              <a:rPr lang="zh-CN" altLang="en-US" sz="1200" b="0" i="0" kern="1200" dirty="0">
                <a:solidFill>
                  <a:schemeClr val="tx1"/>
                </a:solidFill>
                <a:effectLst/>
                <a:latin typeface="+mn-lt"/>
                <a:ea typeface="+mn-ea"/>
                <a:cs typeface="+mn-cs"/>
              </a:rPr>
              <a:t>函数只有线性关系，不管是前向传播还是反向传播，都比</a:t>
            </a:r>
            <a:r>
              <a:rPr lang="en-US" altLang="zh-CN" sz="1200" b="0" i="0" kern="1200" dirty="0" err="1">
                <a:solidFill>
                  <a:schemeClr val="tx1"/>
                </a:solidFill>
                <a:effectLst/>
                <a:latin typeface="+mn-lt"/>
                <a:ea typeface="+mn-ea"/>
                <a:cs typeface="+mn-cs"/>
              </a:rPr>
              <a:t>sigmod</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tanh</a:t>
            </a:r>
            <a:r>
              <a:rPr lang="zh-CN" altLang="en-US" sz="1200" b="0" i="0" kern="1200" dirty="0">
                <a:solidFill>
                  <a:schemeClr val="tx1"/>
                </a:solidFill>
                <a:effectLst/>
                <a:latin typeface="+mn-lt"/>
                <a:ea typeface="+mn-ea"/>
                <a:cs typeface="+mn-cs"/>
              </a:rPr>
              <a:t>要快很多。（</a:t>
            </a:r>
            <a:r>
              <a:rPr lang="en-US" altLang="zh-CN" sz="1200" b="0" i="0" kern="1200" dirty="0" err="1">
                <a:solidFill>
                  <a:schemeClr val="tx1"/>
                </a:solidFill>
                <a:effectLst/>
                <a:latin typeface="+mn-lt"/>
                <a:ea typeface="+mn-ea"/>
                <a:cs typeface="+mn-cs"/>
              </a:rPr>
              <a:t>sigmod</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tanh</a:t>
            </a:r>
            <a:r>
              <a:rPr lang="zh-CN" altLang="en-US" sz="1200" b="0" i="0" kern="1200" dirty="0">
                <a:solidFill>
                  <a:schemeClr val="tx1"/>
                </a:solidFill>
                <a:effectLst/>
                <a:latin typeface="+mn-lt"/>
                <a:ea typeface="+mn-ea"/>
                <a:cs typeface="+mn-cs"/>
              </a:rPr>
              <a:t>要计算指数，计算速度会比较慢）。但当输入为负时，梯度为</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，会产生</a:t>
            </a:r>
            <a:r>
              <a:rPr lang="zh-CN" altLang="en-US" sz="1200" b="1" i="0" kern="1200" dirty="0">
                <a:solidFill>
                  <a:schemeClr val="tx1"/>
                </a:solidFill>
                <a:effectLst/>
                <a:latin typeface="+mn-lt"/>
                <a:ea typeface="+mn-ea"/>
                <a:cs typeface="+mn-cs"/>
              </a:rPr>
              <a:t>梯度消失</a:t>
            </a:r>
            <a:r>
              <a:rPr lang="zh-CN" altLang="en-US" sz="1200" b="0" i="0" kern="1200" dirty="0">
                <a:solidFill>
                  <a:schemeClr val="tx1"/>
                </a:solidFill>
                <a:effectLst/>
                <a:latin typeface="+mn-lt"/>
                <a:ea typeface="+mn-ea"/>
                <a:cs typeface="+mn-cs"/>
              </a:rPr>
              <a:t>问题。</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Leaky </a:t>
            </a:r>
            <a:r>
              <a:rPr lang="en-US" altLang="zh-CN" sz="1200" b="0" i="0" kern="1200" dirty="0" err="1">
                <a:solidFill>
                  <a:schemeClr val="tx1"/>
                </a:solidFill>
                <a:effectLst/>
                <a:latin typeface="+mn-lt"/>
                <a:ea typeface="+mn-ea"/>
                <a:cs typeface="+mn-cs"/>
              </a:rPr>
              <a:t>ReLU</a:t>
            </a:r>
            <a:r>
              <a:rPr lang="zh-CN" altLang="en-US" sz="1200" b="0" i="0" kern="1200" dirty="0">
                <a:solidFill>
                  <a:schemeClr val="tx1"/>
                </a:solidFill>
                <a:effectLst/>
                <a:latin typeface="+mn-lt"/>
                <a:ea typeface="+mn-ea"/>
                <a:cs typeface="+mn-cs"/>
              </a:rPr>
              <a:t>函数解决了</a:t>
            </a:r>
            <a:r>
              <a:rPr lang="en-US" altLang="zh-CN" sz="1200" b="0" i="0" kern="1200" dirty="0" err="1">
                <a:solidFill>
                  <a:schemeClr val="tx1"/>
                </a:solidFill>
                <a:effectLst/>
                <a:latin typeface="+mn-lt"/>
                <a:ea typeface="+mn-ea"/>
                <a:cs typeface="+mn-cs"/>
              </a:rPr>
              <a:t>ReLU</a:t>
            </a:r>
            <a:r>
              <a:rPr lang="zh-CN" altLang="en-US" sz="1200" b="0" i="0" kern="1200" dirty="0">
                <a:solidFill>
                  <a:schemeClr val="tx1"/>
                </a:solidFill>
                <a:effectLst/>
                <a:latin typeface="+mn-lt"/>
                <a:ea typeface="+mn-ea"/>
                <a:cs typeface="+mn-cs"/>
              </a:rPr>
              <a:t>函数在</a:t>
            </a:r>
            <a:r>
              <a:rPr lang="zh-CN" altLang="en-US" sz="1200" b="1" i="0" kern="1200" dirty="0">
                <a:solidFill>
                  <a:schemeClr val="tx1"/>
                </a:solidFill>
                <a:effectLst/>
                <a:latin typeface="+mn-lt"/>
                <a:ea typeface="+mn-ea"/>
                <a:cs typeface="+mn-cs"/>
              </a:rPr>
              <a:t>输入为负的情况下产生的梯度消失问题</a:t>
            </a:r>
            <a:r>
              <a:rPr lang="zh-CN" altLang="en-US"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BN</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batch Normalization</a:t>
            </a:r>
            <a:r>
              <a:rPr lang="zh-CN" altLang="en-US"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Gumbel </a:t>
            </a:r>
            <a:r>
              <a:rPr lang="en-US" altLang="zh-CN" sz="1200" b="0" i="0" kern="1200" dirty="0" err="1">
                <a:solidFill>
                  <a:schemeClr val="tx1"/>
                </a:solidFill>
                <a:effectLst/>
                <a:latin typeface="+mn-lt"/>
                <a:ea typeface="+mn-ea"/>
                <a:cs typeface="+mn-cs"/>
              </a:rPr>
              <a:t>softmax</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Dropout</a:t>
            </a:r>
            <a:r>
              <a:rPr lang="zh-CN" altLang="en-US" sz="1200" b="0" i="0" kern="1200" dirty="0">
                <a:solidFill>
                  <a:schemeClr val="tx1"/>
                </a:solidFill>
                <a:effectLst/>
                <a:latin typeface="+mn-lt"/>
                <a:ea typeface="+mn-ea"/>
                <a:cs typeface="+mn-cs"/>
              </a:rPr>
              <a:t>解决过拟合和费时的问题</a:t>
            </a:r>
            <a:endParaRPr lang="en-US" altLang="zh-CN" dirty="0"/>
          </a:p>
        </p:txBody>
      </p:sp>
      <p:sp>
        <p:nvSpPr>
          <p:cNvPr id="4" name="灯片编号占位符 3"/>
          <p:cNvSpPr>
            <a:spLocks noGrp="1"/>
          </p:cNvSpPr>
          <p:nvPr>
            <p:ph type="sldNum" sz="quarter" idx="5"/>
          </p:nvPr>
        </p:nvSpPr>
        <p:spPr/>
        <p:txBody>
          <a:bodyPr/>
          <a:lstStyle/>
          <a:p>
            <a:fld id="{3D0DA2A2-8270-4ED5-BF5C-C8E0B3242FE8}" type="slidenum">
              <a:rPr lang="zh-CN" altLang="en-US" smtClean="0"/>
              <a:t>11</a:t>
            </a:fld>
            <a:endParaRPr lang="zh-CN" altLang="en-US"/>
          </a:p>
        </p:txBody>
      </p:sp>
    </p:spTree>
    <p:extLst>
      <p:ext uri="{BB962C8B-B14F-4D97-AF65-F5344CB8AC3E}">
        <p14:creationId xmlns:p14="http://schemas.microsoft.com/office/powerpoint/2010/main" val="28159043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采用</a:t>
            </a:r>
            <a:r>
              <a:rPr lang="en-US" altLang="zh-CN" sz="1200" b="0" i="0" u="none" strike="noStrike" kern="1200" baseline="0" dirty="0">
                <a:solidFill>
                  <a:schemeClr val="tx1"/>
                </a:solidFill>
                <a:latin typeface="+mn-lt"/>
                <a:ea typeface="+mn-ea"/>
                <a:cs typeface="+mn-cs"/>
              </a:rPr>
              <a:t>variational Gaussian mixture model (VGM)</a:t>
            </a:r>
            <a:r>
              <a:rPr lang="zh-CN" altLang="en-US" sz="1200" b="0" i="0" u="none" strike="noStrike" kern="1200" baseline="0" dirty="0">
                <a:solidFill>
                  <a:schemeClr val="tx1"/>
                </a:solidFill>
                <a:latin typeface="+mn-lt"/>
                <a:ea typeface="+mn-ea"/>
                <a:cs typeface="+mn-cs"/>
              </a:rPr>
              <a:t>识别模态</a:t>
            </a:r>
            <a:endParaRPr lang="en-US" altLang="zh-CN" sz="1200" b="0" i="0" u="none" strike="noStrike" kern="1200" baseline="0" dirty="0">
              <a:solidFill>
                <a:schemeClr val="tx1"/>
              </a:solidFill>
              <a:latin typeface="+mn-lt"/>
              <a:ea typeface="+mn-ea"/>
              <a:cs typeface="+mn-cs"/>
            </a:endParaRPr>
          </a:p>
          <a:p>
            <a:r>
              <a:rPr lang="zh-CN" altLang="en-US" sz="1200" b="0" i="0" u="none" strike="noStrike" kern="1200" baseline="0" dirty="0">
                <a:solidFill>
                  <a:schemeClr val="tx1"/>
                </a:solidFill>
                <a:latin typeface="+mn-lt"/>
                <a:ea typeface="+mn-ea"/>
                <a:cs typeface="+mn-cs"/>
              </a:rPr>
              <a:t>分类任务用</a:t>
            </a:r>
            <a:r>
              <a:rPr lang="en-US" altLang="zh-CN" sz="1200" b="0" i="0" u="none" strike="noStrike" kern="1200" baseline="0" dirty="0">
                <a:solidFill>
                  <a:schemeClr val="tx1"/>
                </a:solidFill>
                <a:latin typeface="+mn-lt"/>
                <a:ea typeface="+mn-ea"/>
                <a:cs typeface="+mn-cs"/>
              </a:rPr>
              <a:t>F1</a:t>
            </a:r>
            <a:r>
              <a:rPr lang="zh-CN" altLang="en-US" sz="1200" b="0" i="0" u="none" strike="noStrike" kern="1200" baseline="0" dirty="0">
                <a:solidFill>
                  <a:schemeClr val="tx1"/>
                </a:solidFill>
                <a:latin typeface="+mn-lt"/>
                <a:ea typeface="+mn-ea"/>
                <a:cs typeface="+mn-cs"/>
              </a:rPr>
              <a:t>指标，回归任务用</a:t>
            </a:r>
            <a:r>
              <a:rPr lang="en-US" altLang="zh-CN" sz="1200" b="0" i="0" u="none" strike="noStrike" kern="1200" baseline="0" dirty="0">
                <a:solidFill>
                  <a:schemeClr val="tx1"/>
                </a:solidFill>
                <a:latin typeface="+mn-lt"/>
                <a:ea typeface="+mn-ea"/>
                <a:cs typeface="+mn-cs"/>
              </a:rPr>
              <a:t>R2</a:t>
            </a:r>
            <a:r>
              <a:rPr lang="zh-CN" altLang="en-US" sz="1200" b="0" i="0" u="none" strike="noStrike" kern="1200" baseline="0" dirty="0">
                <a:solidFill>
                  <a:schemeClr val="tx1"/>
                </a:solidFill>
                <a:latin typeface="+mn-lt"/>
                <a:ea typeface="+mn-ea"/>
                <a:cs typeface="+mn-cs"/>
              </a:rPr>
              <a:t>指标。</a:t>
            </a:r>
            <a:endParaRPr lang="en-US" altLang="zh-CN" dirty="0"/>
          </a:p>
        </p:txBody>
      </p:sp>
      <p:sp>
        <p:nvSpPr>
          <p:cNvPr id="4" name="灯片编号占位符 3"/>
          <p:cNvSpPr>
            <a:spLocks noGrp="1"/>
          </p:cNvSpPr>
          <p:nvPr>
            <p:ph type="sldNum" sz="quarter" idx="5"/>
          </p:nvPr>
        </p:nvSpPr>
        <p:spPr/>
        <p:txBody>
          <a:bodyPr/>
          <a:lstStyle/>
          <a:p>
            <a:fld id="{3D0DA2A2-8270-4ED5-BF5C-C8E0B3242FE8}" type="slidenum">
              <a:rPr lang="zh-CN" altLang="en-US" smtClean="0"/>
              <a:t>12</a:t>
            </a:fld>
            <a:endParaRPr lang="zh-CN" altLang="en-US"/>
          </a:p>
        </p:txBody>
      </p:sp>
    </p:spTree>
    <p:extLst>
      <p:ext uri="{BB962C8B-B14F-4D97-AF65-F5344CB8AC3E}">
        <p14:creationId xmlns:p14="http://schemas.microsoft.com/office/powerpoint/2010/main" val="27390351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0DA2A2-8270-4ED5-BF5C-C8E0B3242FE8}" type="slidenum">
              <a:rPr lang="zh-CN" altLang="en-US" smtClean="0"/>
              <a:t>13</a:t>
            </a:fld>
            <a:endParaRPr lang="zh-CN" altLang="en-US"/>
          </a:p>
        </p:txBody>
      </p:sp>
    </p:spTree>
    <p:extLst>
      <p:ext uri="{BB962C8B-B14F-4D97-AF65-F5344CB8AC3E}">
        <p14:creationId xmlns:p14="http://schemas.microsoft.com/office/powerpoint/2010/main" val="27570223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D0DA2A2-8270-4ED5-BF5C-C8E0B3242FE8}" type="slidenum">
              <a:rPr lang="zh-CN" altLang="en-US" smtClean="0"/>
              <a:t>14</a:t>
            </a:fld>
            <a:endParaRPr lang="zh-CN" altLang="en-US"/>
          </a:p>
        </p:txBody>
      </p:sp>
    </p:spTree>
    <p:extLst>
      <p:ext uri="{BB962C8B-B14F-4D97-AF65-F5344CB8AC3E}">
        <p14:creationId xmlns:p14="http://schemas.microsoft.com/office/powerpoint/2010/main" val="22418123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0DA2A2-8270-4ED5-BF5C-C8E0B3242FE8}" type="slidenum">
              <a:rPr lang="zh-CN" altLang="en-US" smtClean="0"/>
              <a:t>15</a:t>
            </a:fld>
            <a:endParaRPr lang="zh-CN" altLang="en-US"/>
          </a:p>
        </p:txBody>
      </p:sp>
    </p:spTree>
    <p:extLst>
      <p:ext uri="{BB962C8B-B14F-4D97-AF65-F5344CB8AC3E}">
        <p14:creationId xmlns:p14="http://schemas.microsoft.com/office/powerpoint/2010/main" val="28721583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FEB6D9-A667-4A00-BA79-5AA262E63FDE}"/>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BA5D85D-5A15-4B00-B3E1-28501AACE1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1267EE7-ABC5-4F15-96E2-46DFE8EAD925}"/>
              </a:ext>
            </a:extLst>
          </p:cNvPr>
          <p:cNvSpPr>
            <a:spLocks noGrp="1"/>
          </p:cNvSpPr>
          <p:nvPr>
            <p:ph type="dt" sz="half" idx="10"/>
          </p:nvPr>
        </p:nvSpPr>
        <p:spPr/>
        <p:txBody>
          <a:bodyPr/>
          <a:lstStyle/>
          <a:p>
            <a:fld id="{150DE5AE-854A-4B80-820C-1ACCD978BA3B}" type="datetimeFigureOut">
              <a:rPr lang="zh-CN" altLang="en-US" smtClean="0"/>
              <a:t>2021/11/9</a:t>
            </a:fld>
            <a:endParaRPr lang="zh-CN" altLang="en-US"/>
          </a:p>
        </p:txBody>
      </p:sp>
      <p:sp>
        <p:nvSpPr>
          <p:cNvPr id="5" name="页脚占位符 4">
            <a:extLst>
              <a:ext uri="{FF2B5EF4-FFF2-40B4-BE49-F238E27FC236}">
                <a16:creationId xmlns:a16="http://schemas.microsoft.com/office/drawing/2014/main" id="{7AF4D921-A1D0-485E-867E-6163F010CD5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5C0938-FA48-4CCB-805D-F35F0EFD6B0C}"/>
              </a:ext>
            </a:extLst>
          </p:cNvPr>
          <p:cNvSpPr>
            <a:spLocks noGrp="1"/>
          </p:cNvSpPr>
          <p:nvPr>
            <p:ph type="sldNum" sz="quarter" idx="12"/>
          </p:nvPr>
        </p:nvSpPr>
        <p:spPr/>
        <p:txBody>
          <a:bodyPr/>
          <a:lstStyle/>
          <a:p>
            <a:fld id="{FF44F22C-E4EF-4ECA-B9AE-8B396F99A3F4}" type="slidenum">
              <a:rPr lang="zh-CN" altLang="en-US" smtClean="0"/>
              <a:t>‹#›</a:t>
            </a:fld>
            <a:endParaRPr lang="zh-CN" altLang="en-US"/>
          </a:p>
        </p:txBody>
      </p:sp>
    </p:spTree>
    <p:extLst>
      <p:ext uri="{BB962C8B-B14F-4D97-AF65-F5344CB8AC3E}">
        <p14:creationId xmlns:p14="http://schemas.microsoft.com/office/powerpoint/2010/main" val="1525221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D5FEA0-4A33-4BE3-89F3-B4340F61D5F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06296AB-1A3F-4B10-B836-B50B182408FB}"/>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1C52684-B4A4-4BBC-9538-918CA59E317C}"/>
              </a:ext>
            </a:extLst>
          </p:cNvPr>
          <p:cNvSpPr>
            <a:spLocks noGrp="1"/>
          </p:cNvSpPr>
          <p:nvPr>
            <p:ph type="dt" sz="half" idx="10"/>
          </p:nvPr>
        </p:nvSpPr>
        <p:spPr/>
        <p:txBody>
          <a:bodyPr/>
          <a:lstStyle/>
          <a:p>
            <a:fld id="{150DE5AE-854A-4B80-820C-1ACCD978BA3B}" type="datetimeFigureOut">
              <a:rPr lang="zh-CN" altLang="en-US" smtClean="0"/>
              <a:t>2021/11/9</a:t>
            </a:fld>
            <a:endParaRPr lang="zh-CN" altLang="en-US"/>
          </a:p>
        </p:txBody>
      </p:sp>
      <p:sp>
        <p:nvSpPr>
          <p:cNvPr id="5" name="页脚占位符 4">
            <a:extLst>
              <a:ext uri="{FF2B5EF4-FFF2-40B4-BE49-F238E27FC236}">
                <a16:creationId xmlns:a16="http://schemas.microsoft.com/office/drawing/2014/main" id="{0D645D9C-6404-45A9-8CCE-E17B192DA8F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6602A07-DE79-42BD-8EF9-DCC82A44F5B4}"/>
              </a:ext>
            </a:extLst>
          </p:cNvPr>
          <p:cNvSpPr>
            <a:spLocks noGrp="1"/>
          </p:cNvSpPr>
          <p:nvPr>
            <p:ph type="sldNum" sz="quarter" idx="12"/>
          </p:nvPr>
        </p:nvSpPr>
        <p:spPr/>
        <p:txBody>
          <a:bodyPr/>
          <a:lstStyle/>
          <a:p>
            <a:fld id="{FF44F22C-E4EF-4ECA-B9AE-8B396F99A3F4}" type="slidenum">
              <a:rPr lang="zh-CN" altLang="en-US" smtClean="0"/>
              <a:t>‹#›</a:t>
            </a:fld>
            <a:endParaRPr lang="zh-CN" altLang="en-US"/>
          </a:p>
        </p:txBody>
      </p:sp>
    </p:spTree>
    <p:extLst>
      <p:ext uri="{BB962C8B-B14F-4D97-AF65-F5344CB8AC3E}">
        <p14:creationId xmlns:p14="http://schemas.microsoft.com/office/powerpoint/2010/main" val="1643455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B75330-6F96-4D78-99E9-FA66405D126A}"/>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221C155-E575-4800-BAFB-5F71F7B2D3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DF4D310C-B163-4114-920D-0D147F3B76F1}"/>
              </a:ext>
            </a:extLst>
          </p:cNvPr>
          <p:cNvSpPr>
            <a:spLocks noGrp="1"/>
          </p:cNvSpPr>
          <p:nvPr>
            <p:ph type="dt" sz="half" idx="10"/>
          </p:nvPr>
        </p:nvSpPr>
        <p:spPr/>
        <p:txBody>
          <a:bodyPr/>
          <a:lstStyle/>
          <a:p>
            <a:fld id="{150DE5AE-854A-4B80-820C-1ACCD978BA3B}" type="datetimeFigureOut">
              <a:rPr lang="zh-CN" altLang="en-US" smtClean="0"/>
              <a:t>2021/11/9</a:t>
            </a:fld>
            <a:endParaRPr lang="zh-CN" altLang="en-US"/>
          </a:p>
        </p:txBody>
      </p:sp>
      <p:sp>
        <p:nvSpPr>
          <p:cNvPr id="5" name="页脚占位符 4">
            <a:extLst>
              <a:ext uri="{FF2B5EF4-FFF2-40B4-BE49-F238E27FC236}">
                <a16:creationId xmlns:a16="http://schemas.microsoft.com/office/drawing/2014/main" id="{5DD405AD-C38A-4FB6-B6BA-210B932EC3B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91B81CF-3C9B-4ED8-B9D2-71DD4D2BEC14}"/>
              </a:ext>
            </a:extLst>
          </p:cNvPr>
          <p:cNvSpPr>
            <a:spLocks noGrp="1"/>
          </p:cNvSpPr>
          <p:nvPr>
            <p:ph type="sldNum" sz="quarter" idx="12"/>
          </p:nvPr>
        </p:nvSpPr>
        <p:spPr/>
        <p:txBody>
          <a:bodyPr/>
          <a:lstStyle/>
          <a:p>
            <a:fld id="{FF44F22C-E4EF-4ECA-B9AE-8B396F99A3F4}" type="slidenum">
              <a:rPr lang="zh-CN" altLang="en-US" smtClean="0"/>
              <a:t>‹#›</a:t>
            </a:fld>
            <a:endParaRPr lang="zh-CN" altLang="en-US"/>
          </a:p>
        </p:txBody>
      </p:sp>
    </p:spTree>
    <p:extLst>
      <p:ext uri="{BB962C8B-B14F-4D97-AF65-F5344CB8AC3E}">
        <p14:creationId xmlns:p14="http://schemas.microsoft.com/office/powerpoint/2010/main" val="4515480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6E681-99D4-4511-8E18-A4F97CBFEA7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6FD7FF0-2731-4D0A-8C8A-23DB22701D2A}"/>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83F7587F-21F0-493F-A40A-5B8FD387300E}"/>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43981B01-CBAA-4467-A55D-FA6165A3A2E2}"/>
              </a:ext>
            </a:extLst>
          </p:cNvPr>
          <p:cNvSpPr>
            <a:spLocks noGrp="1"/>
          </p:cNvSpPr>
          <p:nvPr>
            <p:ph type="dt" sz="half" idx="10"/>
          </p:nvPr>
        </p:nvSpPr>
        <p:spPr/>
        <p:txBody>
          <a:bodyPr/>
          <a:lstStyle/>
          <a:p>
            <a:fld id="{150DE5AE-854A-4B80-820C-1ACCD978BA3B}" type="datetimeFigureOut">
              <a:rPr lang="zh-CN" altLang="en-US" smtClean="0"/>
              <a:t>2021/11/9</a:t>
            </a:fld>
            <a:endParaRPr lang="zh-CN" altLang="en-US"/>
          </a:p>
        </p:txBody>
      </p:sp>
      <p:sp>
        <p:nvSpPr>
          <p:cNvPr id="6" name="页脚占位符 5">
            <a:extLst>
              <a:ext uri="{FF2B5EF4-FFF2-40B4-BE49-F238E27FC236}">
                <a16:creationId xmlns:a16="http://schemas.microsoft.com/office/drawing/2014/main" id="{4D554E01-E0EB-4C7B-A39B-E9499209AB9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EFC5701-28F0-41AD-8DDD-1BC6D888061A}"/>
              </a:ext>
            </a:extLst>
          </p:cNvPr>
          <p:cNvSpPr>
            <a:spLocks noGrp="1"/>
          </p:cNvSpPr>
          <p:nvPr>
            <p:ph type="sldNum" sz="quarter" idx="12"/>
          </p:nvPr>
        </p:nvSpPr>
        <p:spPr/>
        <p:txBody>
          <a:bodyPr/>
          <a:lstStyle/>
          <a:p>
            <a:fld id="{FF44F22C-E4EF-4ECA-B9AE-8B396F99A3F4}" type="slidenum">
              <a:rPr lang="zh-CN" altLang="en-US" smtClean="0"/>
              <a:t>‹#›</a:t>
            </a:fld>
            <a:endParaRPr lang="zh-CN" altLang="en-US"/>
          </a:p>
        </p:txBody>
      </p:sp>
    </p:spTree>
    <p:extLst>
      <p:ext uri="{BB962C8B-B14F-4D97-AF65-F5344CB8AC3E}">
        <p14:creationId xmlns:p14="http://schemas.microsoft.com/office/powerpoint/2010/main" val="758243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7E0A7F-9F0B-482C-8369-627CADEBF7D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1986BC7-4DBB-4AAB-9AE3-89F5FC4FA4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FA8D0ACD-6745-4387-B40A-236AFFE8F719}"/>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79320400-E156-49A6-A6D1-15D1B6E418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08E3386D-C3B6-4BBB-ACAD-E57CE2CD9A01}"/>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82AD9153-7876-478D-8C8A-739AB6A8F664}"/>
              </a:ext>
            </a:extLst>
          </p:cNvPr>
          <p:cNvSpPr>
            <a:spLocks noGrp="1"/>
          </p:cNvSpPr>
          <p:nvPr>
            <p:ph type="dt" sz="half" idx="10"/>
          </p:nvPr>
        </p:nvSpPr>
        <p:spPr/>
        <p:txBody>
          <a:bodyPr/>
          <a:lstStyle/>
          <a:p>
            <a:fld id="{150DE5AE-854A-4B80-820C-1ACCD978BA3B}" type="datetimeFigureOut">
              <a:rPr lang="zh-CN" altLang="en-US" smtClean="0"/>
              <a:t>2021/11/9</a:t>
            </a:fld>
            <a:endParaRPr lang="zh-CN" altLang="en-US"/>
          </a:p>
        </p:txBody>
      </p:sp>
      <p:sp>
        <p:nvSpPr>
          <p:cNvPr id="8" name="页脚占位符 7">
            <a:extLst>
              <a:ext uri="{FF2B5EF4-FFF2-40B4-BE49-F238E27FC236}">
                <a16:creationId xmlns:a16="http://schemas.microsoft.com/office/drawing/2014/main" id="{61C07020-A502-4C0B-8EFE-6390595E184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D2CABBB-8404-4188-9CDF-FC208BF67F88}"/>
              </a:ext>
            </a:extLst>
          </p:cNvPr>
          <p:cNvSpPr>
            <a:spLocks noGrp="1"/>
          </p:cNvSpPr>
          <p:nvPr>
            <p:ph type="sldNum" sz="quarter" idx="12"/>
          </p:nvPr>
        </p:nvSpPr>
        <p:spPr/>
        <p:txBody>
          <a:bodyPr/>
          <a:lstStyle/>
          <a:p>
            <a:fld id="{FF44F22C-E4EF-4ECA-B9AE-8B396F99A3F4}" type="slidenum">
              <a:rPr lang="zh-CN" altLang="en-US" smtClean="0"/>
              <a:t>‹#›</a:t>
            </a:fld>
            <a:endParaRPr lang="zh-CN" altLang="en-US"/>
          </a:p>
        </p:txBody>
      </p:sp>
    </p:spTree>
    <p:extLst>
      <p:ext uri="{BB962C8B-B14F-4D97-AF65-F5344CB8AC3E}">
        <p14:creationId xmlns:p14="http://schemas.microsoft.com/office/powerpoint/2010/main" val="648240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CCCE42-A7E3-40C3-94B5-3BCA9DF1610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26DC7E8-72D1-4F1D-B558-5869D016FDEA}"/>
              </a:ext>
            </a:extLst>
          </p:cNvPr>
          <p:cNvSpPr>
            <a:spLocks noGrp="1"/>
          </p:cNvSpPr>
          <p:nvPr>
            <p:ph type="dt" sz="half" idx="10"/>
          </p:nvPr>
        </p:nvSpPr>
        <p:spPr/>
        <p:txBody>
          <a:bodyPr/>
          <a:lstStyle/>
          <a:p>
            <a:fld id="{150DE5AE-854A-4B80-820C-1ACCD978BA3B}" type="datetimeFigureOut">
              <a:rPr lang="zh-CN" altLang="en-US" smtClean="0"/>
              <a:t>2021/11/9</a:t>
            </a:fld>
            <a:endParaRPr lang="zh-CN" altLang="en-US"/>
          </a:p>
        </p:txBody>
      </p:sp>
      <p:sp>
        <p:nvSpPr>
          <p:cNvPr id="4" name="页脚占位符 3">
            <a:extLst>
              <a:ext uri="{FF2B5EF4-FFF2-40B4-BE49-F238E27FC236}">
                <a16:creationId xmlns:a16="http://schemas.microsoft.com/office/drawing/2014/main" id="{FC28638B-2AF9-4E11-AA01-B61113FC1C5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677B12E-7CFA-4BB8-AC50-6A9F6E15A013}"/>
              </a:ext>
            </a:extLst>
          </p:cNvPr>
          <p:cNvSpPr>
            <a:spLocks noGrp="1"/>
          </p:cNvSpPr>
          <p:nvPr>
            <p:ph type="sldNum" sz="quarter" idx="12"/>
          </p:nvPr>
        </p:nvSpPr>
        <p:spPr/>
        <p:txBody>
          <a:bodyPr/>
          <a:lstStyle/>
          <a:p>
            <a:fld id="{FF44F22C-E4EF-4ECA-B9AE-8B396F99A3F4}" type="slidenum">
              <a:rPr lang="zh-CN" altLang="en-US" smtClean="0"/>
              <a:t>‹#›</a:t>
            </a:fld>
            <a:endParaRPr lang="zh-CN" altLang="en-US"/>
          </a:p>
        </p:txBody>
      </p:sp>
    </p:spTree>
    <p:extLst>
      <p:ext uri="{BB962C8B-B14F-4D97-AF65-F5344CB8AC3E}">
        <p14:creationId xmlns:p14="http://schemas.microsoft.com/office/powerpoint/2010/main" val="577121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478C682-4B4B-48DF-8FE7-CD888712DB84}"/>
              </a:ext>
            </a:extLst>
          </p:cNvPr>
          <p:cNvSpPr>
            <a:spLocks noGrp="1"/>
          </p:cNvSpPr>
          <p:nvPr>
            <p:ph type="dt" sz="half" idx="10"/>
          </p:nvPr>
        </p:nvSpPr>
        <p:spPr/>
        <p:txBody>
          <a:bodyPr/>
          <a:lstStyle/>
          <a:p>
            <a:fld id="{150DE5AE-854A-4B80-820C-1ACCD978BA3B}" type="datetimeFigureOut">
              <a:rPr lang="zh-CN" altLang="en-US" smtClean="0"/>
              <a:t>2021/11/9</a:t>
            </a:fld>
            <a:endParaRPr lang="zh-CN" altLang="en-US"/>
          </a:p>
        </p:txBody>
      </p:sp>
      <p:sp>
        <p:nvSpPr>
          <p:cNvPr id="3" name="页脚占位符 2">
            <a:extLst>
              <a:ext uri="{FF2B5EF4-FFF2-40B4-BE49-F238E27FC236}">
                <a16:creationId xmlns:a16="http://schemas.microsoft.com/office/drawing/2014/main" id="{DC9E3613-D0CE-45AF-A0F7-23BA3DECD1F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91C6DA6-4502-4DAC-84EE-94BCC373C8DF}"/>
              </a:ext>
            </a:extLst>
          </p:cNvPr>
          <p:cNvSpPr>
            <a:spLocks noGrp="1"/>
          </p:cNvSpPr>
          <p:nvPr>
            <p:ph type="sldNum" sz="quarter" idx="12"/>
          </p:nvPr>
        </p:nvSpPr>
        <p:spPr/>
        <p:txBody>
          <a:bodyPr/>
          <a:lstStyle/>
          <a:p>
            <a:fld id="{FF44F22C-E4EF-4ECA-B9AE-8B396F99A3F4}" type="slidenum">
              <a:rPr lang="zh-CN" altLang="en-US" smtClean="0"/>
              <a:t>‹#›</a:t>
            </a:fld>
            <a:endParaRPr lang="zh-CN" altLang="en-US"/>
          </a:p>
        </p:txBody>
      </p:sp>
    </p:spTree>
    <p:extLst>
      <p:ext uri="{BB962C8B-B14F-4D97-AF65-F5344CB8AC3E}">
        <p14:creationId xmlns:p14="http://schemas.microsoft.com/office/powerpoint/2010/main" val="3329801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206E28-5093-4FAB-A67B-0AAC04F584D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2FDAC90-0F2B-4C7D-AB74-1ED4EECA7A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1E8F660-1BD4-42FB-A309-C9A4EAA342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9BCEB166-9FC3-466E-B1F4-7263935D92B0}"/>
              </a:ext>
            </a:extLst>
          </p:cNvPr>
          <p:cNvSpPr>
            <a:spLocks noGrp="1"/>
          </p:cNvSpPr>
          <p:nvPr>
            <p:ph type="dt" sz="half" idx="10"/>
          </p:nvPr>
        </p:nvSpPr>
        <p:spPr/>
        <p:txBody>
          <a:bodyPr/>
          <a:lstStyle/>
          <a:p>
            <a:fld id="{150DE5AE-854A-4B80-820C-1ACCD978BA3B}" type="datetimeFigureOut">
              <a:rPr lang="zh-CN" altLang="en-US" smtClean="0"/>
              <a:t>2021/11/9</a:t>
            </a:fld>
            <a:endParaRPr lang="zh-CN" altLang="en-US"/>
          </a:p>
        </p:txBody>
      </p:sp>
      <p:sp>
        <p:nvSpPr>
          <p:cNvPr id="6" name="页脚占位符 5">
            <a:extLst>
              <a:ext uri="{FF2B5EF4-FFF2-40B4-BE49-F238E27FC236}">
                <a16:creationId xmlns:a16="http://schemas.microsoft.com/office/drawing/2014/main" id="{6292812B-FBE9-4E44-BD4A-458DA1061E1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0E5AED4-2B10-442D-B955-51528A992C50}"/>
              </a:ext>
            </a:extLst>
          </p:cNvPr>
          <p:cNvSpPr>
            <a:spLocks noGrp="1"/>
          </p:cNvSpPr>
          <p:nvPr>
            <p:ph type="sldNum" sz="quarter" idx="12"/>
          </p:nvPr>
        </p:nvSpPr>
        <p:spPr/>
        <p:txBody>
          <a:bodyPr/>
          <a:lstStyle/>
          <a:p>
            <a:fld id="{FF44F22C-E4EF-4ECA-B9AE-8B396F99A3F4}" type="slidenum">
              <a:rPr lang="zh-CN" altLang="en-US" smtClean="0"/>
              <a:t>‹#›</a:t>
            </a:fld>
            <a:endParaRPr lang="zh-CN" altLang="en-US"/>
          </a:p>
        </p:txBody>
      </p:sp>
    </p:spTree>
    <p:extLst>
      <p:ext uri="{BB962C8B-B14F-4D97-AF65-F5344CB8AC3E}">
        <p14:creationId xmlns:p14="http://schemas.microsoft.com/office/powerpoint/2010/main" val="305906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416C5A-5BE0-4F91-8729-26C326C0508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4792FB6-1B91-462F-B91F-9FD3A04183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4D478DE-7362-4F0C-BE80-A4F885A114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25A7690B-15F5-4DD2-88D6-3C33B7525BB0}"/>
              </a:ext>
            </a:extLst>
          </p:cNvPr>
          <p:cNvSpPr>
            <a:spLocks noGrp="1"/>
          </p:cNvSpPr>
          <p:nvPr>
            <p:ph type="dt" sz="half" idx="10"/>
          </p:nvPr>
        </p:nvSpPr>
        <p:spPr/>
        <p:txBody>
          <a:bodyPr/>
          <a:lstStyle/>
          <a:p>
            <a:fld id="{150DE5AE-854A-4B80-820C-1ACCD978BA3B}" type="datetimeFigureOut">
              <a:rPr lang="zh-CN" altLang="en-US" smtClean="0"/>
              <a:t>2021/11/9</a:t>
            </a:fld>
            <a:endParaRPr lang="zh-CN" altLang="en-US"/>
          </a:p>
        </p:txBody>
      </p:sp>
      <p:sp>
        <p:nvSpPr>
          <p:cNvPr id="6" name="页脚占位符 5">
            <a:extLst>
              <a:ext uri="{FF2B5EF4-FFF2-40B4-BE49-F238E27FC236}">
                <a16:creationId xmlns:a16="http://schemas.microsoft.com/office/drawing/2014/main" id="{0581376F-C838-4EC9-871C-0FC3ACE8254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87CB226-1A53-47BD-A2B6-75BF1276FFC6}"/>
              </a:ext>
            </a:extLst>
          </p:cNvPr>
          <p:cNvSpPr>
            <a:spLocks noGrp="1"/>
          </p:cNvSpPr>
          <p:nvPr>
            <p:ph type="sldNum" sz="quarter" idx="12"/>
          </p:nvPr>
        </p:nvSpPr>
        <p:spPr/>
        <p:txBody>
          <a:bodyPr/>
          <a:lstStyle/>
          <a:p>
            <a:fld id="{FF44F22C-E4EF-4ECA-B9AE-8B396F99A3F4}" type="slidenum">
              <a:rPr lang="zh-CN" altLang="en-US" smtClean="0"/>
              <a:t>‹#›</a:t>
            </a:fld>
            <a:endParaRPr lang="zh-CN" altLang="en-US"/>
          </a:p>
        </p:txBody>
      </p:sp>
    </p:spTree>
    <p:extLst>
      <p:ext uri="{BB962C8B-B14F-4D97-AF65-F5344CB8AC3E}">
        <p14:creationId xmlns:p14="http://schemas.microsoft.com/office/powerpoint/2010/main" val="266335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C4D4E0-7AAD-4DFC-B130-91CB4F30DB0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FE3E61B-E3A3-490B-BCB3-1ACCCB2D4A44}"/>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8451EDF-27F8-4FD1-AF64-F3B742A81992}"/>
              </a:ext>
            </a:extLst>
          </p:cNvPr>
          <p:cNvSpPr>
            <a:spLocks noGrp="1"/>
          </p:cNvSpPr>
          <p:nvPr>
            <p:ph type="dt" sz="half" idx="10"/>
          </p:nvPr>
        </p:nvSpPr>
        <p:spPr/>
        <p:txBody>
          <a:bodyPr/>
          <a:lstStyle/>
          <a:p>
            <a:fld id="{150DE5AE-854A-4B80-820C-1ACCD978BA3B}" type="datetimeFigureOut">
              <a:rPr lang="zh-CN" altLang="en-US" smtClean="0"/>
              <a:t>2021/11/9</a:t>
            </a:fld>
            <a:endParaRPr lang="zh-CN" altLang="en-US"/>
          </a:p>
        </p:txBody>
      </p:sp>
      <p:sp>
        <p:nvSpPr>
          <p:cNvPr id="5" name="页脚占位符 4">
            <a:extLst>
              <a:ext uri="{FF2B5EF4-FFF2-40B4-BE49-F238E27FC236}">
                <a16:creationId xmlns:a16="http://schemas.microsoft.com/office/drawing/2014/main" id="{2BF1B75D-3B7E-42ED-94BC-C8590F6DA2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59E50C9-F56A-446E-AA78-4428E91553B0}"/>
              </a:ext>
            </a:extLst>
          </p:cNvPr>
          <p:cNvSpPr>
            <a:spLocks noGrp="1"/>
          </p:cNvSpPr>
          <p:nvPr>
            <p:ph type="sldNum" sz="quarter" idx="12"/>
          </p:nvPr>
        </p:nvSpPr>
        <p:spPr/>
        <p:txBody>
          <a:bodyPr/>
          <a:lstStyle/>
          <a:p>
            <a:fld id="{FF44F22C-E4EF-4ECA-B9AE-8B396F99A3F4}" type="slidenum">
              <a:rPr lang="zh-CN" altLang="en-US" smtClean="0"/>
              <a:t>‹#›</a:t>
            </a:fld>
            <a:endParaRPr lang="zh-CN" altLang="en-US"/>
          </a:p>
        </p:txBody>
      </p:sp>
    </p:spTree>
    <p:extLst>
      <p:ext uri="{BB962C8B-B14F-4D97-AF65-F5344CB8AC3E}">
        <p14:creationId xmlns:p14="http://schemas.microsoft.com/office/powerpoint/2010/main" val="2319537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71FC963-FFA0-4980-B55B-8CD310EE706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9EA66F3-C54B-4826-BB51-7F303DEC675E}"/>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B33BAF1-A695-4E3A-9698-0918902832DF}"/>
              </a:ext>
            </a:extLst>
          </p:cNvPr>
          <p:cNvSpPr>
            <a:spLocks noGrp="1"/>
          </p:cNvSpPr>
          <p:nvPr>
            <p:ph type="dt" sz="half" idx="10"/>
          </p:nvPr>
        </p:nvSpPr>
        <p:spPr/>
        <p:txBody>
          <a:bodyPr/>
          <a:lstStyle/>
          <a:p>
            <a:fld id="{150DE5AE-854A-4B80-820C-1ACCD978BA3B}" type="datetimeFigureOut">
              <a:rPr lang="zh-CN" altLang="en-US" smtClean="0"/>
              <a:t>2021/11/9</a:t>
            </a:fld>
            <a:endParaRPr lang="zh-CN" altLang="en-US"/>
          </a:p>
        </p:txBody>
      </p:sp>
      <p:sp>
        <p:nvSpPr>
          <p:cNvPr id="5" name="页脚占位符 4">
            <a:extLst>
              <a:ext uri="{FF2B5EF4-FFF2-40B4-BE49-F238E27FC236}">
                <a16:creationId xmlns:a16="http://schemas.microsoft.com/office/drawing/2014/main" id="{56F85499-A261-4474-9E03-E51F7D1862E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ADFBFB9-0F9A-4F0A-A8F8-4F50AD6A0888}"/>
              </a:ext>
            </a:extLst>
          </p:cNvPr>
          <p:cNvSpPr>
            <a:spLocks noGrp="1"/>
          </p:cNvSpPr>
          <p:nvPr>
            <p:ph type="sldNum" sz="quarter" idx="12"/>
          </p:nvPr>
        </p:nvSpPr>
        <p:spPr/>
        <p:txBody>
          <a:bodyPr/>
          <a:lstStyle/>
          <a:p>
            <a:fld id="{FF44F22C-E4EF-4ECA-B9AE-8B396F99A3F4}" type="slidenum">
              <a:rPr lang="zh-CN" altLang="en-US" smtClean="0"/>
              <a:t>‹#›</a:t>
            </a:fld>
            <a:endParaRPr lang="zh-CN" altLang="en-US"/>
          </a:p>
        </p:txBody>
      </p:sp>
    </p:spTree>
    <p:extLst>
      <p:ext uri="{BB962C8B-B14F-4D97-AF65-F5344CB8AC3E}">
        <p14:creationId xmlns:p14="http://schemas.microsoft.com/office/powerpoint/2010/main" val="2141205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17903B0-3A3F-45FD-8919-0CE1F6FE43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A2A3680-C466-46B5-9576-1CBDF023C6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C925051C-C117-4522-B3B3-7A332F0CE9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0DE5AE-854A-4B80-820C-1ACCD978BA3B}" type="datetimeFigureOut">
              <a:rPr lang="zh-CN" altLang="en-US" smtClean="0"/>
              <a:t>2021/11/9</a:t>
            </a:fld>
            <a:endParaRPr lang="zh-CN" altLang="en-US"/>
          </a:p>
        </p:txBody>
      </p:sp>
      <p:sp>
        <p:nvSpPr>
          <p:cNvPr id="5" name="页脚占位符 4">
            <a:extLst>
              <a:ext uri="{FF2B5EF4-FFF2-40B4-BE49-F238E27FC236}">
                <a16:creationId xmlns:a16="http://schemas.microsoft.com/office/drawing/2014/main" id="{81E4D47F-AE7F-4BB8-9820-DBD53F1DA6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E87AEAB-85AC-4B60-BB11-E2BA05ED88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44F22C-E4EF-4ECA-B9AE-8B396F99A3F4}" type="slidenum">
              <a:rPr lang="zh-CN" altLang="en-US" smtClean="0"/>
              <a:t>‹#›</a:t>
            </a:fld>
            <a:endParaRPr lang="zh-CN" altLang="en-US"/>
          </a:p>
        </p:txBody>
      </p:sp>
    </p:spTree>
    <p:extLst>
      <p:ext uri="{BB962C8B-B14F-4D97-AF65-F5344CB8AC3E}">
        <p14:creationId xmlns:p14="http://schemas.microsoft.com/office/powerpoint/2010/main" val="31027922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jpe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emf"/><Relationship Id="rId4" Type="http://schemas.openxmlformats.org/officeDocument/2006/relationships/image" Target="../media/image19.svg"/></Relationships>
</file>

<file path=ppt/slides/_rels/slide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8.png"/><Relationship Id="rId7"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9.svg"/><Relationship Id="rId9" Type="http://schemas.openxmlformats.org/officeDocument/2006/relationships/image" Target="../media/image26.png"/></Relationships>
</file>

<file path=ppt/slides/_rels/slide5.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notesSlide" Target="../notesSlides/notesSlide6.xml"/><Relationship Id="rId7" Type="http://schemas.openxmlformats.org/officeDocument/2006/relationships/image" Target="../media/image30.pn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9.png"/><Relationship Id="rId11" Type="http://schemas.openxmlformats.org/officeDocument/2006/relationships/image" Target="../media/image28.wmf"/><Relationship Id="rId5" Type="http://schemas.openxmlformats.org/officeDocument/2006/relationships/image" Target="../media/image19.svg"/><Relationship Id="rId10" Type="http://schemas.openxmlformats.org/officeDocument/2006/relationships/oleObject" Target="../embeddings/oleObject2.bin"/><Relationship Id="rId4" Type="http://schemas.openxmlformats.org/officeDocument/2006/relationships/image" Target="../media/image18.png"/><Relationship Id="rId9" Type="http://schemas.openxmlformats.org/officeDocument/2006/relationships/image" Target="../media/image27.wmf"/></Relationships>
</file>

<file path=ppt/slides/_rels/slide7.xml.rels><?xml version="1.0" encoding="UTF-8" standalone="yes"?>
<Relationships xmlns="http://schemas.openxmlformats.org/package/2006/relationships"><Relationship Id="rId8" Type="http://schemas.openxmlformats.org/officeDocument/2006/relationships/image" Target="../media/image31.wmf"/><Relationship Id="rId13" Type="http://schemas.openxmlformats.org/officeDocument/2006/relationships/image" Target="../media/image33.wmf"/><Relationship Id="rId3" Type="http://schemas.openxmlformats.org/officeDocument/2006/relationships/notesSlide" Target="../notesSlides/notesSlide7.xml"/><Relationship Id="rId7" Type="http://schemas.openxmlformats.org/officeDocument/2006/relationships/oleObject" Target="../embeddings/oleObject3.bin"/><Relationship Id="rId12"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35.png"/><Relationship Id="rId11" Type="http://schemas.openxmlformats.org/officeDocument/2006/relationships/image" Target="../media/image32.wmf"/><Relationship Id="rId5" Type="http://schemas.openxmlformats.org/officeDocument/2006/relationships/image" Target="../media/image19.svg"/><Relationship Id="rId15" Type="http://schemas.openxmlformats.org/officeDocument/2006/relationships/image" Target="../media/image34.wmf"/><Relationship Id="rId10" Type="http://schemas.openxmlformats.org/officeDocument/2006/relationships/oleObject" Target="../embeddings/oleObject4.bin"/><Relationship Id="rId4" Type="http://schemas.openxmlformats.org/officeDocument/2006/relationships/image" Target="../media/image18.png"/><Relationship Id="rId9" Type="http://schemas.openxmlformats.org/officeDocument/2006/relationships/image" Target="../media/image36.png"/><Relationship Id="rId14" Type="http://schemas.openxmlformats.org/officeDocument/2006/relationships/oleObject" Target="../embeddings/oleObject6.bin"/></Relationships>
</file>

<file path=ppt/slides/_rels/slide8.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9.svg"/></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notesSlide" Target="../notesSlides/notesSlide10.xml"/><Relationship Id="rId7" Type="http://schemas.openxmlformats.org/officeDocument/2006/relationships/image" Target="../media/image40.e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39.emf"/><Relationship Id="rId11" Type="http://schemas.openxmlformats.org/officeDocument/2006/relationships/image" Target="../media/image38.wmf"/><Relationship Id="rId5" Type="http://schemas.openxmlformats.org/officeDocument/2006/relationships/image" Target="../media/image19.svg"/><Relationship Id="rId10" Type="http://schemas.openxmlformats.org/officeDocument/2006/relationships/oleObject" Target="../embeddings/oleObject8.bin"/><Relationship Id="rId4" Type="http://schemas.openxmlformats.org/officeDocument/2006/relationships/image" Target="../media/image18.png"/><Relationship Id="rId9" Type="http://schemas.openxmlformats.org/officeDocument/2006/relationships/image" Target="../media/image37.wmf"/></Relationships>
</file>

<file path=ppt/slides/_rels/slide11.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notesSlide" Target="../notesSlides/notesSlide11.xml"/><Relationship Id="rId7"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43.png"/><Relationship Id="rId5" Type="http://schemas.openxmlformats.org/officeDocument/2006/relationships/image" Target="../media/image19.svg"/><Relationship Id="rId10" Type="http://schemas.openxmlformats.org/officeDocument/2006/relationships/image" Target="../media/image42.wmf"/><Relationship Id="rId4" Type="http://schemas.openxmlformats.org/officeDocument/2006/relationships/image" Target="../media/image18.png"/><Relationship Id="rId9" Type="http://schemas.openxmlformats.org/officeDocument/2006/relationships/oleObject" Target="../embeddings/oleObject10.bin"/></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19.svg"/></Relationships>
</file>

<file path=ppt/slides/_rels/slide13.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9.svg"/></Relationships>
</file>

<file path=ppt/slides/_rels/slide15.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7.png"/><Relationship Id="rId7"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8.svg"/><Relationship Id="rId9" Type="http://schemas.openxmlformats.org/officeDocument/2006/relationships/image" Target="../media/image49.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4" name="图形 23">
            <a:extLst>
              <a:ext uri="{FF2B5EF4-FFF2-40B4-BE49-F238E27FC236}">
                <a16:creationId xmlns:a16="http://schemas.microsoft.com/office/drawing/2014/main" id="{E86CA992-2458-4D0A-B4A6-2C7C9652987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02218" y="2130856"/>
            <a:ext cx="623999" cy="518142"/>
          </a:xfrm>
          <a:prstGeom prst="rect">
            <a:avLst/>
          </a:prstGeom>
          <a:effectLst>
            <a:glow rad="12700">
              <a:schemeClr val="bg1">
                <a:alpha val="41000"/>
              </a:schemeClr>
            </a:glow>
          </a:effectLst>
        </p:spPr>
      </p:pic>
      <p:pic>
        <p:nvPicPr>
          <p:cNvPr id="23" name="图形 22">
            <a:extLst>
              <a:ext uri="{FF2B5EF4-FFF2-40B4-BE49-F238E27FC236}">
                <a16:creationId xmlns:a16="http://schemas.microsoft.com/office/drawing/2014/main" id="{01A623C9-37DC-4B6E-BD65-56B0C337645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54966" y="4615171"/>
            <a:ext cx="623999" cy="518142"/>
          </a:xfrm>
          <a:prstGeom prst="rect">
            <a:avLst/>
          </a:prstGeom>
          <a:effectLst>
            <a:glow rad="12700">
              <a:schemeClr val="bg1">
                <a:alpha val="41000"/>
              </a:schemeClr>
            </a:glow>
          </a:effectLst>
        </p:spPr>
      </p:pic>
      <p:sp>
        <p:nvSpPr>
          <p:cNvPr id="11" name="矩形 10">
            <a:extLst>
              <a:ext uri="{FF2B5EF4-FFF2-40B4-BE49-F238E27FC236}">
                <a16:creationId xmlns:a16="http://schemas.microsoft.com/office/drawing/2014/main" id="{0880DD2B-AD4B-4232-845E-4A9C30DE8F64}"/>
              </a:ext>
            </a:extLst>
          </p:cNvPr>
          <p:cNvSpPr/>
          <p:nvPr/>
        </p:nvSpPr>
        <p:spPr>
          <a:xfrm>
            <a:off x="6778975" y="1392996"/>
            <a:ext cx="4761716" cy="4141530"/>
          </a:xfrm>
          <a:prstGeom prst="rect">
            <a:avLst/>
          </a:prstGeom>
          <a:noFill/>
          <a:ln w="63500">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sp>
        <p:nvSpPr>
          <p:cNvPr id="20" name="矩形 19">
            <a:extLst>
              <a:ext uri="{FF2B5EF4-FFF2-40B4-BE49-F238E27FC236}">
                <a16:creationId xmlns:a16="http://schemas.microsoft.com/office/drawing/2014/main" id="{C0BC3B4D-DE95-4660-8889-F39AB20F4DBD}"/>
              </a:ext>
            </a:extLst>
          </p:cNvPr>
          <p:cNvSpPr/>
          <p:nvPr/>
        </p:nvSpPr>
        <p:spPr>
          <a:xfrm>
            <a:off x="-44848" y="2379133"/>
            <a:ext cx="7148053" cy="2413000"/>
          </a:xfrm>
          <a:prstGeom prst="rect">
            <a:avLst/>
          </a:prstGeom>
          <a:solidFill>
            <a:srgbClr val="003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sp>
        <p:nvSpPr>
          <p:cNvPr id="17" name="文本框 16">
            <a:extLst>
              <a:ext uri="{FF2B5EF4-FFF2-40B4-BE49-F238E27FC236}">
                <a16:creationId xmlns:a16="http://schemas.microsoft.com/office/drawing/2014/main" id="{C20597D1-D3A9-4543-B7E9-42A99E9122D9}"/>
              </a:ext>
            </a:extLst>
          </p:cNvPr>
          <p:cNvSpPr txBox="1"/>
          <p:nvPr/>
        </p:nvSpPr>
        <p:spPr>
          <a:xfrm>
            <a:off x="1809899" y="3135784"/>
            <a:ext cx="5505039" cy="851195"/>
          </a:xfrm>
          <a:prstGeom prst="rect">
            <a:avLst/>
          </a:prstGeom>
          <a:noFill/>
        </p:spPr>
        <p:txBody>
          <a:bodyPr wrap="square" rtlCol="0">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chemeClr val="bg1"/>
                </a:solidFill>
                <a:effectLst/>
                <a:uLnTx/>
                <a:uFillTx/>
                <a:latin typeface="微软雅黑"/>
                <a:ea typeface="微软雅黑"/>
                <a:cs typeface="+mn-cs"/>
              </a:rPr>
              <a:t>Deep Generative Models</a:t>
            </a:r>
          </a:p>
          <a:p>
            <a:pPr lvl="0">
              <a:lnSpc>
                <a:spcPct val="110000"/>
              </a:lnSpc>
              <a:defRPr/>
            </a:pPr>
            <a:r>
              <a:rPr lang="en-US" altLang="zh-CN" dirty="0">
                <a:solidFill>
                  <a:schemeClr val="bg1"/>
                </a:solidFill>
              </a:rPr>
              <a:t>--Modeling Tabular Data using Conditional GAN</a:t>
            </a:r>
            <a:endParaRPr kumimoji="0" lang="zh-CN" altLang="en-US" sz="2800" b="0" i="0" u="none" strike="noStrike" kern="1200" cap="none" spc="0" normalizeH="0" baseline="0" noProof="0" dirty="0">
              <a:ln>
                <a:noFill/>
              </a:ln>
              <a:solidFill>
                <a:schemeClr val="bg1"/>
              </a:solidFill>
              <a:effectLst/>
              <a:uLnTx/>
              <a:uFillTx/>
              <a:latin typeface="微软雅黑"/>
              <a:ea typeface="微软雅黑"/>
            </a:endParaRPr>
          </a:p>
        </p:txBody>
      </p:sp>
      <p:pic>
        <p:nvPicPr>
          <p:cNvPr id="4" name="图形 3">
            <a:extLst>
              <a:ext uri="{FF2B5EF4-FFF2-40B4-BE49-F238E27FC236}">
                <a16:creationId xmlns:a16="http://schemas.microsoft.com/office/drawing/2014/main" id="{AAFF26B0-F06D-4E12-ABB4-48CD8800DC6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7212" y="3009722"/>
            <a:ext cx="1387140" cy="1151822"/>
          </a:xfrm>
          <a:prstGeom prst="rect">
            <a:avLst/>
          </a:prstGeom>
          <a:effectLst>
            <a:glow rad="12700">
              <a:schemeClr val="bg1">
                <a:alpha val="41000"/>
              </a:schemeClr>
            </a:glow>
          </a:effectLst>
        </p:spPr>
      </p:pic>
      <p:pic>
        <p:nvPicPr>
          <p:cNvPr id="5" name="图形 4">
            <a:extLst>
              <a:ext uri="{FF2B5EF4-FFF2-40B4-BE49-F238E27FC236}">
                <a16:creationId xmlns:a16="http://schemas.microsoft.com/office/drawing/2014/main" id="{1E317E6C-BBA7-4430-84FA-4C6C4487FAC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185400" y="293382"/>
            <a:ext cx="1508654" cy="529352"/>
          </a:xfrm>
          <a:prstGeom prst="rect">
            <a:avLst/>
          </a:prstGeom>
        </p:spPr>
      </p:pic>
      <p:grpSp>
        <p:nvGrpSpPr>
          <p:cNvPr id="94" name="组合 93">
            <a:extLst>
              <a:ext uri="{FF2B5EF4-FFF2-40B4-BE49-F238E27FC236}">
                <a16:creationId xmlns:a16="http://schemas.microsoft.com/office/drawing/2014/main" id="{74AAB1E3-E9AA-482C-BC5B-5BA03F02F9EE}"/>
              </a:ext>
            </a:extLst>
          </p:cNvPr>
          <p:cNvGrpSpPr/>
          <p:nvPr/>
        </p:nvGrpSpPr>
        <p:grpSpPr>
          <a:xfrm>
            <a:off x="1889454" y="4144266"/>
            <a:ext cx="1865512" cy="499568"/>
            <a:chOff x="697830" y="4447520"/>
            <a:chExt cx="4342067" cy="499568"/>
          </a:xfrm>
        </p:grpSpPr>
        <p:sp>
          <p:nvSpPr>
            <p:cNvPr id="18" name="矩形: 圆角 17">
              <a:extLst>
                <a:ext uri="{FF2B5EF4-FFF2-40B4-BE49-F238E27FC236}">
                  <a16:creationId xmlns:a16="http://schemas.microsoft.com/office/drawing/2014/main" id="{ECCA80A5-3D6E-48F5-B670-5ED8EAE71F9E}"/>
                </a:ext>
              </a:extLst>
            </p:cNvPr>
            <p:cNvSpPr/>
            <p:nvPr/>
          </p:nvSpPr>
          <p:spPr>
            <a:xfrm>
              <a:off x="697830" y="4447520"/>
              <a:ext cx="4342067" cy="499568"/>
            </a:xfrm>
            <a:prstGeom prst="roundRect">
              <a:avLst>
                <a:gd name="adj" fmla="val 50000"/>
              </a:avLst>
            </a:prstGeom>
            <a:solidFill>
              <a:srgbClr val="141B76">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Light"/>
                <a:ea typeface="微软雅黑 Light"/>
                <a:cs typeface="+mn-cs"/>
              </a:endParaRPr>
            </a:p>
          </p:txBody>
        </p:sp>
        <p:sp>
          <p:nvSpPr>
            <p:cNvPr id="19" name="文本框 18">
              <a:extLst>
                <a:ext uri="{FF2B5EF4-FFF2-40B4-BE49-F238E27FC236}">
                  <a16:creationId xmlns:a16="http://schemas.microsoft.com/office/drawing/2014/main" id="{2E50AF1E-6827-451A-909D-87A84C1EA21C}"/>
                </a:ext>
              </a:extLst>
            </p:cNvPr>
            <p:cNvSpPr txBox="1"/>
            <p:nvPr/>
          </p:nvSpPr>
          <p:spPr>
            <a:xfrm>
              <a:off x="794082" y="4529629"/>
              <a:ext cx="4023005"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rPr>
                <a:t>汇报人：陶雨</a:t>
              </a:r>
            </a:p>
          </p:txBody>
        </p:sp>
      </p:grpSp>
      <p:pic>
        <p:nvPicPr>
          <p:cNvPr id="15" name="图形 14">
            <a:extLst>
              <a:ext uri="{FF2B5EF4-FFF2-40B4-BE49-F238E27FC236}">
                <a16:creationId xmlns:a16="http://schemas.microsoft.com/office/drawing/2014/main" id="{A3094F62-EAF0-41BE-8707-942335AF678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791858" y="1768270"/>
            <a:ext cx="623999" cy="518142"/>
          </a:xfrm>
          <a:prstGeom prst="rect">
            <a:avLst/>
          </a:prstGeom>
          <a:effectLst>
            <a:glow rad="12700">
              <a:schemeClr val="bg1">
                <a:alpha val="41000"/>
              </a:schemeClr>
            </a:glow>
          </a:effectLst>
        </p:spPr>
      </p:pic>
      <p:pic>
        <p:nvPicPr>
          <p:cNvPr id="16" name="图形 15">
            <a:extLst>
              <a:ext uri="{FF2B5EF4-FFF2-40B4-BE49-F238E27FC236}">
                <a16:creationId xmlns:a16="http://schemas.microsoft.com/office/drawing/2014/main" id="{D76DFED0-B383-4A06-A2D3-4719720C403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791857" y="5097825"/>
            <a:ext cx="623999" cy="518142"/>
          </a:xfrm>
          <a:prstGeom prst="rect">
            <a:avLst/>
          </a:prstGeom>
          <a:effectLst>
            <a:glow rad="12700">
              <a:schemeClr val="bg1">
                <a:alpha val="41000"/>
              </a:schemeClr>
            </a:glow>
          </a:effectLst>
        </p:spPr>
      </p:pic>
      <p:pic>
        <p:nvPicPr>
          <p:cNvPr id="21" name="图形 20">
            <a:extLst>
              <a:ext uri="{FF2B5EF4-FFF2-40B4-BE49-F238E27FC236}">
                <a16:creationId xmlns:a16="http://schemas.microsoft.com/office/drawing/2014/main" id="{72133DB7-83E6-4F86-A86D-68528E5FAC4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80642" y="1125928"/>
            <a:ext cx="623999" cy="518142"/>
          </a:xfrm>
          <a:prstGeom prst="rect">
            <a:avLst/>
          </a:prstGeom>
          <a:effectLst>
            <a:glow rad="12700">
              <a:schemeClr val="bg1">
                <a:alpha val="41000"/>
              </a:schemeClr>
            </a:glow>
          </a:effectLst>
        </p:spPr>
      </p:pic>
      <p:pic>
        <p:nvPicPr>
          <p:cNvPr id="22" name="图形 21">
            <a:extLst>
              <a:ext uri="{FF2B5EF4-FFF2-40B4-BE49-F238E27FC236}">
                <a16:creationId xmlns:a16="http://schemas.microsoft.com/office/drawing/2014/main" id="{9C81B2E4-B51C-49D8-B71F-3CEFEAECCA5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54966" y="5620170"/>
            <a:ext cx="623999" cy="518142"/>
          </a:xfrm>
          <a:prstGeom prst="rect">
            <a:avLst/>
          </a:prstGeom>
          <a:effectLst>
            <a:glow rad="12700">
              <a:schemeClr val="bg1">
                <a:alpha val="41000"/>
              </a:schemeClr>
            </a:glow>
          </a:effectLst>
        </p:spPr>
      </p:pic>
      <p:sp>
        <p:nvSpPr>
          <p:cNvPr id="25" name="文本框 24">
            <a:extLst>
              <a:ext uri="{FF2B5EF4-FFF2-40B4-BE49-F238E27FC236}">
                <a16:creationId xmlns:a16="http://schemas.microsoft.com/office/drawing/2014/main" id="{E3FECFCA-7D80-4796-9562-DE7780060511}"/>
              </a:ext>
            </a:extLst>
          </p:cNvPr>
          <p:cNvSpPr txBox="1"/>
          <p:nvPr/>
        </p:nvSpPr>
        <p:spPr>
          <a:xfrm>
            <a:off x="7527126" y="1917080"/>
            <a:ext cx="3774974" cy="369332"/>
          </a:xfrm>
          <a:prstGeom prst="rect">
            <a:avLst/>
          </a:prstGeom>
          <a:noFill/>
        </p:spPr>
        <p:txBody>
          <a:bodyPr wrap="square" rtlCol="0">
            <a:spAutoFit/>
          </a:bodyPr>
          <a:lstStyle/>
          <a:p>
            <a:r>
              <a:rPr lang="zh-CN" altLang="en-US" dirty="0">
                <a:solidFill>
                  <a:srgbClr val="003F87"/>
                </a:solidFill>
              </a:rPr>
              <a:t>勤 学 </a:t>
            </a:r>
            <a:r>
              <a:rPr lang="en-US" altLang="zh-CN" dirty="0">
                <a:solidFill>
                  <a:srgbClr val="003F87"/>
                </a:solidFill>
              </a:rPr>
              <a:t> /  </a:t>
            </a:r>
            <a:r>
              <a:rPr lang="zh-CN" altLang="en-US" dirty="0">
                <a:solidFill>
                  <a:srgbClr val="003F87"/>
                </a:solidFill>
              </a:rPr>
              <a:t>修 德  </a:t>
            </a:r>
            <a:r>
              <a:rPr lang="en-US" altLang="zh-CN" dirty="0">
                <a:solidFill>
                  <a:srgbClr val="003F87"/>
                </a:solidFill>
              </a:rPr>
              <a:t>/  </a:t>
            </a:r>
            <a:r>
              <a:rPr lang="zh-CN" altLang="en-US" dirty="0">
                <a:solidFill>
                  <a:srgbClr val="003F87"/>
                </a:solidFill>
              </a:rPr>
              <a:t>明 辨  </a:t>
            </a:r>
            <a:r>
              <a:rPr lang="en-US" altLang="zh-CN" dirty="0">
                <a:solidFill>
                  <a:srgbClr val="003F87"/>
                </a:solidFill>
              </a:rPr>
              <a:t>/  </a:t>
            </a:r>
            <a:r>
              <a:rPr lang="zh-CN" altLang="en-US" dirty="0">
                <a:solidFill>
                  <a:srgbClr val="003F87"/>
                </a:solidFill>
              </a:rPr>
              <a:t>笃 实</a:t>
            </a:r>
          </a:p>
        </p:txBody>
      </p:sp>
      <p:pic>
        <p:nvPicPr>
          <p:cNvPr id="26" name="图片 25">
            <a:extLst>
              <a:ext uri="{FF2B5EF4-FFF2-40B4-BE49-F238E27FC236}">
                <a16:creationId xmlns:a16="http://schemas.microsoft.com/office/drawing/2014/main" id="{0866DE6B-D410-4D6C-84E0-C63D6D54D6EC}"/>
              </a:ext>
            </a:extLst>
          </p:cNvPr>
          <p:cNvPicPr>
            <a:picLocks noChangeAspect="1"/>
          </p:cNvPicPr>
          <p:nvPr/>
        </p:nvPicPr>
        <p:blipFill>
          <a:blip r:embed="rId11" cstate="hqprint">
            <a:extLst>
              <a:ext uri="{28A0092B-C50C-407E-A947-70E740481C1C}">
                <a14:useLocalDpi xmlns:a14="http://schemas.microsoft.com/office/drawing/2010/main" val="0"/>
              </a:ext>
            </a:extLst>
          </a:blip>
          <a:stretch>
            <a:fillRect/>
          </a:stretch>
        </p:blipFill>
        <p:spPr>
          <a:xfrm>
            <a:off x="7427435" y="2389927"/>
            <a:ext cx="3698223" cy="2413000"/>
          </a:xfrm>
          <a:prstGeom prst="rect">
            <a:avLst/>
          </a:prstGeom>
        </p:spPr>
      </p:pic>
      <p:grpSp>
        <p:nvGrpSpPr>
          <p:cNvPr id="27" name="组合 26">
            <a:extLst>
              <a:ext uri="{FF2B5EF4-FFF2-40B4-BE49-F238E27FC236}">
                <a16:creationId xmlns:a16="http://schemas.microsoft.com/office/drawing/2014/main" id="{D6611D19-8CAA-4357-A027-B269BC34AFD1}"/>
              </a:ext>
            </a:extLst>
          </p:cNvPr>
          <p:cNvGrpSpPr/>
          <p:nvPr/>
        </p:nvGrpSpPr>
        <p:grpSpPr>
          <a:xfrm>
            <a:off x="4165386" y="4142002"/>
            <a:ext cx="1930614" cy="499568"/>
            <a:chOff x="697830" y="4447520"/>
            <a:chExt cx="4493595" cy="499568"/>
          </a:xfrm>
        </p:grpSpPr>
        <p:sp>
          <p:nvSpPr>
            <p:cNvPr id="28" name="矩形: 圆角 27">
              <a:extLst>
                <a:ext uri="{FF2B5EF4-FFF2-40B4-BE49-F238E27FC236}">
                  <a16:creationId xmlns:a16="http://schemas.microsoft.com/office/drawing/2014/main" id="{EF17AE21-EAFA-4F84-9191-EABDE86158E0}"/>
                </a:ext>
              </a:extLst>
            </p:cNvPr>
            <p:cNvSpPr/>
            <p:nvPr/>
          </p:nvSpPr>
          <p:spPr>
            <a:xfrm>
              <a:off x="697830" y="4447520"/>
              <a:ext cx="4342067" cy="499568"/>
            </a:xfrm>
            <a:prstGeom prst="roundRect">
              <a:avLst>
                <a:gd name="adj" fmla="val 50000"/>
              </a:avLst>
            </a:prstGeom>
            <a:solidFill>
              <a:srgbClr val="141B76">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Light"/>
                <a:ea typeface="微软雅黑 Light"/>
                <a:cs typeface="+mn-cs"/>
              </a:endParaRPr>
            </a:p>
          </p:txBody>
        </p:sp>
        <p:sp>
          <p:nvSpPr>
            <p:cNvPr id="29" name="文本框 28">
              <a:extLst>
                <a:ext uri="{FF2B5EF4-FFF2-40B4-BE49-F238E27FC236}">
                  <a16:creationId xmlns:a16="http://schemas.microsoft.com/office/drawing/2014/main" id="{B36AFB96-AB8F-420A-9D99-A87EFBC8DEA7}"/>
                </a:ext>
              </a:extLst>
            </p:cNvPr>
            <p:cNvSpPr txBox="1"/>
            <p:nvPr/>
          </p:nvSpPr>
          <p:spPr>
            <a:xfrm>
              <a:off x="794081" y="4529629"/>
              <a:ext cx="4397344" cy="369332"/>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rPr>
                <a:t>时间</a:t>
              </a:r>
              <a:r>
                <a:rPr kumimoji="0" lang="en-US" altLang="zh-CN" sz="1800" b="0" i="0" u="none" strike="noStrike" kern="1200" cap="none" spc="0" normalizeH="0" baseline="0" noProof="0" dirty="0">
                  <a:ln>
                    <a:noFill/>
                  </a:ln>
                  <a:solidFill>
                    <a:prstClr val="white"/>
                  </a:solidFill>
                  <a:effectLst/>
                  <a:uLnTx/>
                  <a:uFillTx/>
                  <a:latin typeface="微软雅黑 Light"/>
                  <a:ea typeface="微软雅黑 Light"/>
                  <a:cs typeface="+mn-cs"/>
                </a:rPr>
                <a:t>: 2021.10.29</a:t>
              </a: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grpSp>
    </p:spTree>
    <p:extLst>
      <p:ext uri="{BB962C8B-B14F-4D97-AF65-F5344CB8AC3E}">
        <p14:creationId xmlns:p14="http://schemas.microsoft.com/office/powerpoint/2010/main" val="1224484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椭圆 36">
            <a:extLst>
              <a:ext uri="{FF2B5EF4-FFF2-40B4-BE49-F238E27FC236}">
                <a16:creationId xmlns:a16="http://schemas.microsoft.com/office/drawing/2014/main" id="{991DEE90-AC86-48BF-A20A-547D360E5EFB}"/>
              </a:ext>
            </a:extLst>
          </p:cNvPr>
          <p:cNvSpPr/>
          <p:nvPr/>
        </p:nvSpPr>
        <p:spPr>
          <a:xfrm>
            <a:off x="870552" y="2175118"/>
            <a:ext cx="1913392" cy="1913392"/>
          </a:xfrm>
          <a:prstGeom prst="ellipse">
            <a:avLst/>
          </a:prstGeom>
          <a:gradFill flip="none" rotWithShape="1">
            <a:gsLst>
              <a:gs pos="0">
                <a:schemeClr val="accent1">
                  <a:lumMod val="60000"/>
                  <a:lumOff val="40000"/>
                </a:schemeClr>
              </a:gs>
              <a:gs pos="100000">
                <a:schemeClr val="accent1">
                  <a:lumMod val="75000"/>
                  <a:alpha val="67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grpSp>
        <p:nvGrpSpPr>
          <p:cNvPr id="3" name="组合 2"/>
          <p:cNvGrpSpPr/>
          <p:nvPr/>
        </p:nvGrpSpPr>
        <p:grpSpPr>
          <a:xfrm>
            <a:off x="-4632" y="-1"/>
            <a:ext cx="12196631" cy="2127749"/>
            <a:chOff x="-4632" y="-1"/>
            <a:chExt cx="12196631" cy="2127749"/>
          </a:xfrm>
        </p:grpSpPr>
        <p:sp>
          <p:nvSpPr>
            <p:cNvPr id="11" name="任意多边形: 形状 10">
              <a:extLst>
                <a:ext uri="{FF2B5EF4-FFF2-40B4-BE49-F238E27FC236}">
                  <a16:creationId xmlns:a16="http://schemas.microsoft.com/office/drawing/2014/main" id="{4BF7FE7A-4E23-4577-B4D3-19330F26E572}"/>
                </a:ext>
              </a:extLst>
            </p:cNvPr>
            <p:cNvSpPr/>
            <p:nvPr/>
          </p:nvSpPr>
          <p:spPr>
            <a:xfrm flipV="1">
              <a:off x="0" y="1684"/>
              <a:ext cx="12191999" cy="2126064"/>
            </a:xfrm>
            <a:custGeom>
              <a:avLst/>
              <a:gdLst>
                <a:gd name="connsiteX0" fmla="*/ 0 w 12191999"/>
                <a:gd name="connsiteY0" fmla="*/ 2126064 h 2126064"/>
                <a:gd name="connsiteX1" fmla="*/ 12191999 w 12191999"/>
                <a:gd name="connsiteY1" fmla="*/ 2126064 h 2126064"/>
                <a:gd name="connsiteX2" fmla="*/ 0 w 12191999"/>
                <a:gd name="connsiteY2" fmla="*/ 0 h 2126064"/>
              </a:gdLst>
              <a:ahLst/>
              <a:cxnLst>
                <a:cxn ang="0">
                  <a:pos x="connsiteX0" y="connsiteY0"/>
                </a:cxn>
                <a:cxn ang="0">
                  <a:pos x="connsiteX1" y="connsiteY1"/>
                </a:cxn>
                <a:cxn ang="0">
                  <a:pos x="connsiteX2" y="connsiteY2"/>
                </a:cxn>
              </a:cxnLst>
              <a:rect l="l" t="t" r="r" b="b"/>
              <a:pathLst>
                <a:path w="12191999" h="2126064">
                  <a:moveTo>
                    <a:pt x="0" y="2126064"/>
                  </a:moveTo>
                  <a:lnTo>
                    <a:pt x="12191999" y="2126064"/>
                  </a:lnTo>
                  <a:lnTo>
                    <a:pt x="0" y="0"/>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Light"/>
                <a:ea typeface="微软雅黑 Light"/>
                <a:cs typeface="+mn-cs"/>
              </a:endParaRPr>
            </a:p>
          </p:txBody>
        </p:sp>
        <p:sp>
          <p:nvSpPr>
            <p:cNvPr id="20" name="任意多边形: 形状 19">
              <a:extLst>
                <a:ext uri="{FF2B5EF4-FFF2-40B4-BE49-F238E27FC236}">
                  <a16:creationId xmlns:a16="http://schemas.microsoft.com/office/drawing/2014/main" id="{469A4E30-8FC8-4074-B7DA-5077F2AFF989}"/>
                </a:ext>
              </a:extLst>
            </p:cNvPr>
            <p:cNvSpPr/>
            <p:nvPr/>
          </p:nvSpPr>
          <p:spPr>
            <a:xfrm flipV="1">
              <a:off x="-4632" y="-1"/>
              <a:ext cx="845081" cy="695700"/>
            </a:xfrm>
            <a:custGeom>
              <a:avLst/>
              <a:gdLst>
                <a:gd name="connsiteX0" fmla="*/ 0 w 845081"/>
                <a:gd name="connsiteY0" fmla="*/ 695700 h 695700"/>
                <a:gd name="connsiteX1" fmla="*/ 845081 w 845081"/>
                <a:gd name="connsiteY1" fmla="*/ 695700 h 695700"/>
                <a:gd name="connsiteX2" fmla="*/ 0 w 845081"/>
                <a:gd name="connsiteY2" fmla="*/ 0 h 695700"/>
                <a:gd name="connsiteX3" fmla="*/ 0 w 845081"/>
                <a:gd name="connsiteY3" fmla="*/ 695700 h 695700"/>
              </a:gdLst>
              <a:ahLst/>
              <a:cxnLst>
                <a:cxn ang="0">
                  <a:pos x="connsiteX0" y="connsiteY0"/>
                </a:cxn>
                <a:cxn ang="0">
                  <a:pos x="connsiteX1" y="connsiteY1"/>
                </a:cxn>
                <a:cxn ang="0">
                  <a:pos x="connsiteX2" y="connsiteY2"/>
                </a:cxn>
                <a:cxn ang="0">
                  <a:pos x="connsiteX3" y="connsiteY3"/>
                </a:cxn>
              </a:cxnLst>
              <a:rect l="l" t="t" r="r" b="b"/>
              <a:pathLst>
                <a:path w="845081" h="695700">
                  <a:moveTo>
                    <a:pt x="0" y="695700"/>
                  </a:moveTo>
                  <a:lnTo>
                    <a:pt x="845081" y="695700"/>
                  </a:lnTo>
                  <a:lnTo>
                    <a:pt x="0" y="0"/>
                  </a:lnTo>
                  <a:lnTo>
                    <a:pt x="0" y="695700"/>
                  </a:lnTo>
                  <a:close/>
                </a:path>
              </a:pathLst>
            </a:custGeom>
            <a:solidFill>
              <a:srgbClr val="003F8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Light"/>
                <a:ea typeface="微软雅黑 Light"/>
                <a:cs typeface="+mn-cs"/>
              </a:endParaRPr>
            </a:p>
          </p:txBody>
        </p:sp>
        <p:sp>
          <p:nvSpPr>
            <p:cNvPr id="19" name="任意多边形: 形状 18">
              <a:extLst>
                <a:ext uri="{FF2B5EF4-FFF2-40B4-BE49-F238E27FC236}">
                  <a16:creationId xmlns:a16="http://schemas.microsoft.com/office/drawing/2014/main" id="{DED759B5-476E-48A8-882B-A40A31639608}"/>
                </a:ext>
              </a:extLst>
            </p:cNvPr>
            <p:cNvSpPr/>
            <p:nvPr/>
          </p:nvSpPr>
          <p:spPr>
            <a:xfrm flipV="1">
              <a:off x="2569944" y="9621"/>
              <a:ext cx="7642459" cy="1665174"/>
            </a:xfrm>
            <a:custGeom>
              <a:avLst/>
              <a:gdLst>
                <a:gd name="connsiteX0" fmla="*/ 2049597 w 7784426"/>
                <a:gd name="connsiteY0" fmla="*/ 1687299 h 1687299"/>
                <a:gd name="connsiteX1" fmla="*/ 7784426 w 7784426"/>
                <a:gd name="connsiteY1" fmla="*/ 1687299 h 1687299"/>
                <a:gd name="connsiteX2" fmla="*/ 7276089 w 7784426"/>
                <a:gd name="connsiteY2" fmla="*/ 1268818 h 1687299"/>
                <a:gd name="connsiteX3" fmla="*/ 0 w 7784426"/>
                <a:gd name="connsiteY3" fmla="*/ 0 h 1687299"/>
                <a:gd name="connsiteX4" fmla="*/ 2049597 w 7784426"/>
                <a:gd name="connsiteY4" fmla="*/ 1687299 h 1687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84426" h="1687299">
                  <a:moveTo>
                    <a:pt x="2049597" y="1687299"/>
                  </a:moveTo>
                  <a:lnTo>
                    <a:pt x="7784426" y="1687299"/>
                  </a:lnTo>
                  <a:lnTo>
                    <a:pt x="7276089" y="1268818"/>
                  </a:lnTo>
                  <a:lnTo>
                    <a:pt x="0" y="0"/>
                  </a:lnTo>
                  <a:lnTo>
                    <a:pt x="2049597" y="1687299"/>
                  </a:lnTo>
                  <a:close/>
                </a:path>
              </a:pathLst>
            </a:custGeom>
            <a:solidFill>
              <a:srgbClr val="003F8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Light"/>
                <a:ea typeface="微软雅黑 Light"/>
                <a:cs typeface="+mn-cs"/>
              </a:endParaRPr>
            </a:p>
          </p:txBody>
        </p:sp>
      </p:grpSp>
      <p:grpSp>
        <p:nvGrpSpPr>
          <p:cNvPr id="32" name="组合 31">
            <a:extLst>
              <a:ext uri="{FF2B5EF4-FFF2-40B4-BE49-F238E27FC236}">
                <a16:creationId xmlns:a16="http://schemas.microsoft.com/office/drawing/2014/main" id="{33F5A969-260B-422F-B4E3-DA6395C64BC8}"/>
              </a:ext>
            </a:extLst>
          </p:cNvPr>
          <p:cNvGrpSpPr/>
          <p:nvPr/>
        </p:nvGrpSpPr>
        <p:grpSpPr>
          <a:xfrm>
            <a:off x="3154566" y="4130877"/>
            <a:ext cx="5762554" cy="1730828"/>
            <a:chOff x="3102428" y="3755572"/>
            <a:chExt cx="5762554" cy="1730828"/>
          </a:xfrm>
        </p:grpSpPr>
        <p:cxnSp>
          <p:nvCxnSpPr>
            <p:cNvPr id="29" name="直接连接符 28">
              <a:extLst>
                <a:ext uri="{FF2B5EF4-FFF2-40B4-BE49-F238E27FC236}">
                  <a16:creationId xmlns:a16="http://schemas.microsoft.com/office/drawing/2014/main" id="{1C4BCF85-EA4C-493A-8D5E-F0143B36AB23}"/>
                </a:ext>
              </a:extLst>
            </p:cNvPr>
            <p:cNvCxnSpPr/>
            <p:nvPr/>
          </p:nvCxnSpPr>
          <p:spPr>
            <a:xfrm>
              <a:off x="3102428" y="3755572"/>
              <a:ext cx="0" cy="173082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DE808EE5-120D-468C-A69F-51673B365677}"/>
                </a:ext>
              </a:extLst>
            </p:cNvPr>
            <p:cNvCxnSpPr/>
            <p:nvPr/>
          </p:nvCxnSpPr>
          <p:spPr>
            <a:xfrm>
              <a:off x="6019799" y="3755572"/>
              <a:ext cx="0" cy="173082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B4991D69-27EB-405C-B1D3-36EF14D376BD}"/>
                </a:ext>
              </a:extLst>
            </p:cNvPr>
            <p:cNvCxnSpPr/>
            <p:nvPr/>
          </p:nvCxnSpPr>
          <p:spPr>
            <a:xfrm>
              <a:off x="8864982" y="3755572"/>
              <a:ext cx="0" cy="173082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2" name="文本框 41">
            <a:extLst>
              <a:ext uri="{FF2B5EF4-FFF2-40B4-BE49-F238E27FC236}">
                <a16:creationId xmlns:a16="http://schemas.microsoft.com/office/drawing/2014/main" id="{0AE1EE13-9C37-48CE-BDB5-4C39D3287054}"/>
              </a:ext>
            </a:extLst>
          </p:cNvPr>
          <p:cNvSpPr txBox="1"/>
          <p:nvPr/>
        </p:nvSpPr>
        <p:spPr>
          <a:xfrm>
            <a:off x="3452213" y="4724552"/>
            <a:ext cx="238597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微软雅黑"/>
                <a:ea typeface="微软雅黑"/>
                <a:cs typeface="+mn-cs"/>
              </a:rPr>
              <a:t>GAN</a:t>
            </a:r>
            <a:r>
              <a:rPr kumimoji="0" lang="zh-CN" altLang="en-US" sz="2400" b="0" i="0" u="none" strike="noStrike" kern="1200" cap="none" spc="0" normalizeH="0" baseline="0" noProof="0" dirty="0">
                <a:ln>
                  <a:noFill/>
                </a:ln>
                <a:solidFill>
                  <a:prstClr val="black"/>
                </a:solidFill>
                <a:effectLst/>
                <a:uLnTx/>
                <a:uFillTx/>
                <a:latin typeface="微软雅黑"/>
                <a:ea typeface="微软雅黑"/>
                <a:cs typeface="+mn-cs"/>
              </a:rPr>
              <a:t>类型</a:t>
            </a:r>
          </a:p>
        </p:txBody>
      </p:sp>
      <p:sp>
        <p:nvSpPr>
          <p:cNvPr id="48" name="文本框 47">
            <a:extLst>
              <a:ext uri="{FF2B5EF4-FFF2-40B4-BE49-F238E27FC236}">
                <a16:creationId xmlns:a16="http://schemas.microsoft.com/office/drawing/2014/main" id="{2AAA4CA5-B98F-4084-9D8B-791B4F288906}"/>
              </a:ext>
            </a:extLst>
          </p:cNvPr>
          <p:cNvSpPr txBox="1"/>
          <p:nvPr/>
        </p:nvSpPr>
        <p:spPr>
          <a:xfrm>
            <a:off x="9168158" y="4724550"/>
            <a:ext cx="238597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dirty="0">
                <a:solidFill>
                  <a:prstClr val="black"/>
                </a:solidFill>
                <a:latin typeface="微软雅黑"/>
                <a:ea typeface="微软雅黑"/>
              </a:rPr>
              <a:t>总结与思考</a:t>
            </a:r>
            <a:endParaRPr kumimoji="0" lang="zh-CN" altLang="en-US" sz="2400" b="0" i="0" u="none" strike="noStrike" kern="1200" cap="none" spc="0" normalizeH="0" baseline="0" noProof="0" dirty="0">
              <a:ln>
                <a:noFill/>
              </a:ln>
              <a:solidFill>
                <a:prstClr val="black"/>
              </a:solidFill>
              <a:effectLst/>
              <a:uLnTx/>
              <a:uFillTx/>
              <a:latin typeface="微软雅黑"/>
              <a:ea typeface="微软雅黑"/>
              <a:cs typeface="+mn-cs"/>
            </a:endParaRPr>
          </a:p>
        </p:txBody>
      </p:sp>
      <p:grpSp>
        <p:nvGrpSpPr>
          <p:cNvPr id="6" name="组合 5">
            <a:extLst>
              <a:ext uri="{FF2B5EF4-FFF2-40B4-BE49-F238E27FC236}">
                <a16:creationId xmlns:a16="http://schemas.microsoft.com/office/drawing/2014/main" id="{1D8E30C5-F3E2-490B-BA55-8584F5B46F7C}"/>
              </a:ext>
            </a:extLst>
          </p:cNvPr>
          <p:cNvGrpSpPr/>
          <p:nvPr/>
        </p:nvGrpSpPr>
        <p:grpSpPr>
          <a:xfrm>
            <a:off x="6868837" y="2467476"/>
            <a:ext cx="1300163" cy="1300163"/>
            <a:chOff x="6868837" y="2467476"/>
            <a:chExt cx="1300163" cy="1300163"/>
          </a:xfrm>
        </p:grpSpPr>
        <p:sp>
          <p:nvSpPr>
            <p:cNvPr id="24" name="椭圆 23">
              <a:extLst>
                <a:ext uri="{FF2B5EF4-FFF2-40B4-BE49-F238E27FC236}">
                  <a16:creationId xmlns:a16="http://schemas.microsoft.com/office/drawing/2014/main" id="{AA2B2B69-B1A9-43D3-8805-96C7DC83E749}"/>
                </a:ext>
              </a:extLst>
            </p:cNvPr>
            <p:cNvSpPr/>
            <p:nvPr/>
          </p:nvSpPr>
          <p:spPr>
            <a:xfrm>
              <a:off x="6868837" y="2467476"/>
              <a:ext cx="1300163" cy="1300163"/>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pic>
          <p:nvPicPr>
            <p:cNvPr id="50" name="图形 49">
              <a:extLst>
                <a:ext uri="{FF2B5EF4-FFF2-40B4-BE49-F238E27FC236}">
                  <a16:creationId xmlns:a16="http://schemas.microsoft.com/office/drawing/2014/main" id="{9EAAE6D9-A0F7-4A31-8973-72D41173CF7F}"/>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214643" y="2805011"/>
              <a:ext cx="550429" cy="634015"/>
            </a:xfrm>
            <a:prstGeom prst="rect">
              <a:avLst/>
            </a:prstGeom>
          </p:spPr>
        </p:pic>
      </p:grpSp>
      <p:grpSp>
        <p:nvGrpSpPr>
          <p:cNvPr id="5" name="组合 4">
            <a:extLst>
              <a:ext uri="{FF2B5EF4-FFF2-40B4-BE49-F238E27FC236}">
                <a16:creationId xmlns:a16="http://schemas.microsoft.com/office/drawing/2014/main" id="{719C66ED-F764-400B-9AA0-0C65B6AF1012}"/>
              </a:ext>
            </a:extLst>
          </p:cNvPr>
          <p:cNvGrpSpPr/>
          <p:nvPr/>
        </p:nvGrpSpPr>
        <p:grpSpPr>
          <a:xfrm>
            <a:off x="4023002" y="2467476"/>
            <a:ext cx="1300163" cy="1300163"/>
            <a:chOff x="4023002" y="2467476"/>
            <a:chExt cx="1300163" cy="1300163"/>
          </a:xfrm>
        </p:grpSpPr>
        <p:sp>
          <p:nvSpPr>
            <p:cNvPr id="23" name="椭圆 22">
              <a:extLst>
                <a:ext uri="{FF2B5EF4-FFF2-40B4-BE49-F238E27FC236}">
                  <a16:creationId xmlns:a16="http://schemas.microsoft.com/office/drawing/2014/main" id="{FBB762AA-0FA7-4AE0-9706-E0F0F67F6B71}"/>
                </a:ext>
              </a:extLst>
            </p:cNvPr>
            <p:cNvSpPr/>
            <p:nvPr/>
          </p:nvSpPr>
          <p:spPr>
            <a:xfrm>
              <a:off x="4023002" y="2467476"/>
              <a:ext cx="1300163" cy="130016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pic>
          <p:nvPicPr>
            <p:cNvPr id="51" name="图形 50">
              <a:extLst>
                <a:ext uri="{FF2B5EF4-FFF2-40B4-BE49-F238E27FC236}">
                  <a16:creationId xmlns:a16="http://schemas.microsoft.com/office/drawing/2014/main" id="{2EB309AA-217D-47D1-AA4F-092E330BA8D6}"/>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326109" y="2824061"/>
              <a:ext cx="638175" cy="638175"/>
            </a:xfrm>
            <a:prstGeom prst="rect">
              <a:avLst/>
            </a:prstGeom>
          </p:spPr>
        </p:pic>
      </p:grpSp>
      <p:grpSp>
        <p:nvGrpSpPr>
          <p:cNvPr id="2" name="组合 1">
            <a:extLst>
              <a:ext uri="{FF2B5EF4-FFF2-40B4-BE49-F238E27FC236}">
                <a16:creationId xmlns:a16="http://schemas.microsoft.com/office/drawing/2014/main" id="{23751CDC-445C-446B-B799-DBBAD7025BE3}"/>
              </a:ext>
            </a:extLst>
          </p:cNvPr>
          <p:cNvGrpSpPr/>
          <p:nvPr/>
        </p:nvGrpSpPr>
        <p:grpSpPr>
          <a:xfrm>
            <a:off x="1177167" y="2481733"/>
            <a:ext cx="1300163" cy="1300163"/>
            <a:chOff x="1177167" y="2337355"/>
            <a:chExt cx="1300163" cy="1300163"/>
          </a:xfrm>
        </p:grpSpPr>
        <p:sp>
          <p:nvSpPr>
            <p:cNvPr id="22" name="椭圆 21">
              <a:extLst>
                <a:ext uri="{FF2B5EF4-FFF2-40B4-BE49-F238E27FC236}">
                  <a16:creationId xmlns:a16="http://schemas.microsoft.com/office/drawing/2014/main" id="{0773D16B-B26D-4ACE-B82D-19CC3160B13E}"/>
                </a:ext>
              </a:extLst>
            </p:cNvPr>
            <p:cNvSpPr/>
            <p:nvPr/>
          </p:nvSpPr>
          <p:spPr>
            <a:xfrm>
              <a:off x="1177167" y="2337355"/>
              <a:ext cx="1300163" cy="1300163"/>
            </a:xfrm>
            <a:prstGeom prst="ellipse">
              <a:avLst/>
            </a:prstGeom>
            <a:solidFill>
              <a:srgbClr val="003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pic>
          <p:nvPicPr>
            <p:cNvPr id="52" name="图形 51">
              <a:extLst>
                <a:ext uri="{FF2B5EF4-FFF2-40B4-BE49-F238E27FC236}">
                  <a16:creationId xmlns:a16="http://schemas.microsoft.com/office/drawing/2014/main" id="{A3425BBB-6727-4250-85F3-365EA0CB06CD}"/>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482804" y="2708834"/>
              <a:ext cx="633116" cy="634015"/>
            </a:xfrm>
            <a:prstGeom prst="rect">
              <a:avLst/>
            </a:prstGeom>
          </p:spPr>
        </p:pic>
      </p:grpSp>
      <p:grpSp>
        <p:nvGrpSpPr>
          <p:cNvPr id="7" name="组合 6">
            <a:extLst>
              <a:ext uri="{FF2B5EF4-FFF2-40B4-BE49-F238E27FC236}">
                <a16:creationId xmlns:a16="http://schemas.microsoft.com/office/drawing/2014/main" id="{2312F191-3487-48B2-8693-727C14881658}"/>
              </a:ext>
            </a:extLst>
          </p:cNvPr>
          <p:cNvGrpSpPr/>
          <p:nvPr/>
        </p:nvGrpSpPr>
        <p:grpSpPr>
          <a:xfrm>
            <a:off x="9714671" y="2467476"/>
            <a:ext cx="1300163" cy="1300163"/>
            <a:chOff x="9714671" y="2467476"/>
            <a:chExt cx="1300163" cy="1300163"/>
          </a:xfrm>
        </p:grpSpPr>
        <p:sp>
          <p:nvSpPr>
            <p:cNvPr id="25" name="椭圆 24">
              <a:extLst>
                <a:ext uri="{FF2B5EF4-FFF2-40B4-BE49-F238E27FC236}">
                  <a16:creationId xmlns:a16="http://schemas.microsoft.com/office/drawing/2014/main" id="{A282D3A1-3DD5-42E5-BC06-B87C450047C1}"/>
                </a:ext>
              </a:extLst>
            </p:cNvPr>
            <p:cNvSpPr/>
            <p:nvPr/>
          </p:nvSpPr>
          <p:spPr>
            <a:xfrm>
              <a:off x="9714671" y="2467476"/>
              <a:ext cx="1300163" cy="130016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pic>
          <p:nvPicPr>
            <p:cNvPr id="53" name="图形 52">
              <a:extLst>
                <a:ext uri="{FF2B5EF4-FFF2-40B4-BE49-F238E27FC236}">
                  <a16:creationId xmlns:a16="http://schemas.microsoft.com/office/drawing/2014/main" id="{4AD0FFA1-B1D6-4A7A-8CFA-8B13327B51BB}"/>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042056" y="2824061"/>
              <a:ext cx="638175" cy="638175"/>
            </a:xfrm>
            <a:prstGeom prst="rect">
              <a:avLst/>
            </a:prstGeom>
          </p:spPr>
        </p:pic>
      </p:grpSp>
      <p:grpSp>
        <p:nvGrpSpPr>
          <p:cNvPr id="4" name="组合 3">
            <a:extLst>
              <a:ext uri="{FF2B5EF4-FFF2-40B4-BE49-F238E27FC236}">
                <a16:creationId xmlns:a16="http://schemas.microsoft.com/office/drawing/2014/main" id="{01DC4DF9-EDB5-4893-B60E-C4238C656D54}"/>
              </a:ext>
            </a:extLst>
          </p:cNvPr>
          <p:cNvGrpSpPr/>
          <p:nvPr/>
        </p:nvGrpSpPr>
        <p:grpSpPr>
          <a:xfrm>
            <a:off x="7796463" y="964934"/>
            <a:ext cx="4049551" cy="873366"/>
            <a:chOff x="7796463" y="964934"/>
            <a:chExt cx="4049551" cy="873366"/>
          </a:xfrm>
        </p:grpSpPr>
        <p:sp>
          <p:nvSpPr>
            <p:cNvPr id="33" name="文本框 32">
              <a:extLst>
                <a:ext uri="{FF2B5EF4-FFF2-40B4-BE49-F238E27FC236}">
                  <a16:creationId xmlns:a16="http://schemas.microsoft.com/office/drawing/2014/main" id="{C0C6EF5C-9CFE-4CE5-8D09-222CD3D47BEE}"/>
                </a:ext>
              </a:extLst>
            </p:cNvPr>
            <p:cNvSpPr txBox="1"/>
            <p:nvPr/>
          </p:nvSpPr>
          <p:spPr>
            <a:xfrm>
              <a:off x="8212132" y="964934"/>
              <a:ext cx="3633882"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800" b="0" i="0" u="none" strike="noStrike" kern="1200" cap="none" spc="0" normalizeH="0" baseline="0" noProof="0" dirty="0">
                  <a:ln>
                    <a:noFill/>
                  </a:ln>
                  <a:solidFill>
                    <a:srgbClr val="003F87"/>
                  </a:solidFill>
                  <a:effectLst/>
                  <a:uLnTx/>
                  <a:uFillTx/>
                  <a:latin typeface="微软雅黑"/>
                  <a:ea typeface="微软雅黑"/>
                  <a:cs typeface="+mn-cs"/>
                </a:rPr>
                <a:t>CONTENTS</a:t>
              </a:r>
              <a:endParaRPr kumimoji="0" lang="zh-CN" altLang="en-US" sz="4800" b="0" i="0" u="none" strike="noStrike" kern="1200" cap="none" spc="0" normalizeH="0" baseline="0" noProof="0" dirty="0">
                <a:ln>
                  <a:noFill/>
                </a:ln>
                <a:solidFill>
                  <a:srgbClr val="003F87"/>
                </a:solidFill>
                <a:effectLst/>
                <a:uLnTx/>
                <a:uFillTx/>
                <a:latin typeface="微软雅黑"/>
                <a:ea typeface="微软雅黑"/>
                <a:cs typeface="+mn-cs"/>
              </a:endParaRPr>
            </a:p>
          </p:txBody>
        </p:sp>
        <p:cxnSp>
          <p:nvCxnSpPr>
            <p:cNvPr id="35" name="直接连接符 34">
              <a:extLst>
                <a:ext uri="{FF2B5EF4-FFF2-40B4-BE49-F238E27FC236}">
                  <a16:creationId xmlns:a16="http://schemas.microsoft.com/office/drawing/2014/main" id="{729C69BF-F084-41CE-B5C1-0F9FAF53BB2A}"/>
                </a:ext>
              </a:extLst>
            </p:cNvPr>
            <p:cNvCxnSpPr>
              <a:cxnSpLocks/>
            </p:cNvCxnSpPr>
            <p:nvPr/>
          </p:nvCxnSpPr>
          <p:spPr>
            <a:xfrm flipH="1">
              <a:off x="7796463" y="1838300"/>
              <a:ext cx="360786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9625B235-73FE-4F5D-B741-E83D11F671F4}"/>
                </a:ext>
              </a:extLst>
            </p:cNvPr>
            <p:cNvCxnSpPr>
              <a:cxnSpLocks/>
            </p:cNvCxnSpPr>
            <p:nvPr/>
          </p:nvCxnSpPr>
          <p:spPr>
            <a:xfrm flipH="1">
              <a:off x="10544175" y="1762998"/>
              <a:ext cx="86015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4" name="文本框 53">
            <a:extLst>
              <a:ext uri="{FF2B5EF4-FFF2-40B4-BE49-F238E27FC236}">
                <a16:creationId xmlns:a16="http://schemas.microsoft.com/office/drawing/2014/main" id="{B48B34B3-953B-43F7-9936-47B1D78ECC55}"/>
              </a:ext>
            </a:extLst>
          </p:cNvPr>
          <p:cNvSpPr txBox="1"/>
          <p:nvPr/>
        </p:nvSpPr>
        <p:spPr>
          <a:xfrm>
            <a:off x="570102" y="4428336"/>
            <a:ext cx="2385970"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微软雅黑"/>
              <a:ea typeface="微软雅黑"/>
              <a:cs typeface="+mn-cs"/>
            </a:endParaRPr>
          </a:p>
        </p:txBody>
      </p:sp>
      <p:pic>
        <p:nvPicPr>
          <p:cNvPr id="38" name="图形 37">
            <a:extLst>
              <a:ext uri="{FF2B5EF4-FFF2-40B4-BE49-F238E27FC236}">
                <a16:creationId xmlns:a16="http://schemas.microsoft.com/office/drawing/2014/main" id="{6B9C6FAA-6780-431A-910C-738D95B3514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02150" y="365509"/>
            <a:ext cx="2161308" cy="599425"/>
          </a:xfrm>
          <a:prstGeom prst="rect">
            <a:avLst/>
          </a:prstGeom>
        </p:spPr>
      </p:pic>
      <p:sp>
        <p:nvSpPr>
          <p:cNvPr id="40" name="文本框 39">
            <a:extLst>
              <a:ext uri="{FF2B5EF4-FFF2-40B4-BE49-F238E27FC236}">
                <a16:creationId xmlns:a16="http://schemas.microsoft.com/office/drawing/2014/main" id="{04E6415A-080A-412B-A374-19496E675F49}"/>
              </a:ext>
            </a:extLst>
          </p:cNvPr>
          <p:cNvSpPr txBox="1"/>
          <p:nvPr/>
        </p:nvSpPr>
        <p:spPr>
          <a:xfrm>
            <a:off x="631954" y="4724552"/>
            <a:ext cx="238597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微软雅黑"/>
                <a:ea typeface="微软雅黑"/>
                <a:cs typeface="+mn-cs"/>
              </a:rPr>
              <a:t>发展过程</a:t>
            </a:r>
          </a:p>
        </p:txBody>
      </p:sp>
      <p:sp>
        <p:nvSpPr>
          <p:cNvPr id="56" name="文本框 55">
            <a:extLst>
              <a:ext uri="{FF2B5EF4-FFF2-40B4-BE49-F238E27FC236}">
                <a16:creationId xmlns:a16="http://schemas.microsoft.com/office/drawing/2014/main" id="{63535199-513C-49B0-8A6A-926E3D04FA24}"/>
              </a:ext>
            </a:extLst>
          </p:cNvPr>
          <p:cNvSpPr txBox="1"/>
          <p:nvPr/>
        </p:nvSpPr>
        <p:spPr>
          <a:xfrm>
            <a:off x="6340470" y="4724551"/>
            <a:ext cx="238597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微软雅黑"/>
                <a:ea typeface="微软雅黑"/>
                <a:cs typeface="+mn-cs"/>
              </a:rPr>
              <a:t>CTGAN</a:t>
            </a:r>
            <a:endParaRPr kumimoji="0" lang="zh-CN" altLang="en-US" sz="2400" b="0" i="0" u="none" strike="noStrike" kern="1200" cap="none" spc="0" normalizeH="0" baseline="0" noProof="0" dirty="0">
              <a:ln>
                <a:noFill/>
              </a:ln>
              <a:solidFill>
                <a:prstClr val="black"/>
              </a:solidFill>
              <a:effectLst/>
              <a:uLnTx/>
              <a:uFillTx/>
              <a:latin typeface="微软雅黑"/>
              <a:ea typeface="微软雅黑"/>
              <a:cs typeface="+mn-cs"/>
            </a:endParaRPr>
          </a:p>
        </p:txBody>
      </p:sp>
    </p:spTree>
    <p:extLst>
      <p:ext uri="{BB962C8B-B14F-4D97-AF65-F5344CB8AC3E}">
        <p14:creationId xmlns:p14="http://schemas.microsoft.com/office/powerpoint/2010/main" val="787374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5D9D6A9-337F-42A2-BCCA-8F338829F0A3}"/>
              </a:ext>
            </a:extLst>
          </p:cNvPr>
          <p:cNvSpPr/>
          <p:nvPr/>
        </p:nvSpPr>
        <p:spPr>
          <a:xfrm>
            <a:off x="1" y="481263"/>
            <a:ext cx="12192000" cy="72000"/>
          </a:xfrm>
          <a:prstGeom prst="rect">
            <a:avLst/>
          </a:prstGeom>
          <a:solidFill>
            <a:srgbClr val="003F87">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82090"/>
              </a:solidFill>
              <a:effectLst/>
              <a:uLnTx/>
              <a:uFillTx/>
              <a:latin typeface="微软雅黑 Light"/>
              <a:ea typeface="微软雅黑 Light"/>
              <a:cs typeface="+mn-cs"/>
            </a:endParaRPr>
          </a:p>
        </p:txBody>
      </p:sp>
      <p:grpSp>
        <p:nvGrpSpPr>
          <p:cNvPr id="13" name="组合 12">
            <a:extLst>
              <a:ext uri="{FF2B5EF4-FFF2-40B4-BE49-F238E27FC236}">
                <a16:creationId xmlns:a16="http://schemas.microsoft.com/office/drawing/2014/main" id="{D1242031-CB56-41DD-AAE7-EC8A25A19202}"/>
              </a:ext>
            </a:extLst>
          </p:cNvPr>
          <p:cNvGrpSpPr/>
          <p:nvPr/>
        </p:nvGrpSpPr>
        <p:grpSpPr>
          <a:xfrm>
            <a:off x="5339636" y="76583"/>
            <a:ext cx="6378698" cy="369332"/>
            <a:chOff x="5339636" y="76583"/>
            <a:chExt cx="6378698" cy="369332"/>
          </a:xfrm>
        </p:grpSpPr>
        <p:sp>
          <p:nvSpPr>
            <p:cNvPr id="12" name="矩形 11">
              <a:extLst>
                <a:ext uri="{FF2B5EF4-FFF2-40B4-BE49-F238E27FC236}">
                  <a16:creationId xmlns:a16="http://schemas.microsoft.com/office/drawing/2014/main" id="{A60EDE69-3FC4-463D-B8FA-519ED3E54C8E}"/>
                </a:ext>
              </a:extLst>
            </p:cNvPr>
            <p:cNvSpPr/>
            <p:nvPr/>
          </p:nvSpPr>
          <p:spPr>
            <a:xfrm>
              <a:off x="5339636" y="104027"/>
              <a:ext cx="1311305" cy="308804"/>
            </a:xfrm>
            <a:prstGeom prst="rect">
              <a:avLst/>
            </a:prstGeom>
            <a:solidFill>
              <a:srgbClr val="003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sp>
          <p:nvSpPr>
            <p:cNvPr id="4" name="文本框 3">
              <a:extLst>
                <a:ext uri="{FF2B5EF4-FFF2-40B4-BE49-F238E27FC236}">
                  <a16:creationId xmlns:a16="http://schemas.microsoft.com/office/drawing/2014/main" id="{5292CB5F-A4AC-47BE-A81F-1C3B2B8C443B}"/>
                </a:ext>
              </a:extLst>
            </p:cNvPr>
            <p:cNvSpPr txBox="1"/>
            <p:nvPr/>
          </p:nvSpPr>
          <p:spPr>
            <a:xfrm>
              <a:off x="5416649" y="76583"/>
              <a:ext cx="11309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prstClr val="white"/>
                  </a:solidFill>
                  <a:latin typeface="微软雅黑 Light"/>
                  <a:ea typeface="微软雅黑 Light"/>
                </a:rPr>
                <a:t>发展过程</a:t>
              </a: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sp>
          <p:nvSpPr>
            <p:cNvPr id="5" name="文本框 4">
              <a:extLst>
                <a:ext uri="{FF2B5EF4-FFF2-40B4-BE49-F238E27FC236}">
                  <a16:creationId xmlns:a16="http://schemas.microsoft.com/office/drawing/2014/main" id="{1A7EBC06-2FA6-4594-A4DE-6F2E9D86D04C}"/>
                </a:ext>
              </a:extLst>
            </p:cNvPr>
            <p:cNvSpPr txBox="1"/>
            <p:nvPr/>
          </p:nvSpPr>
          <p:spPr>
            <a:xfrm>
              <a:off x="7046607" y="76583"/>
              <a:ext cx="11309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rgbClr val="003F87"/>
                  </a:solidFill>
                  <a:latin typeface="微软雅黑 Light"/>
                  <a:ea typeface="微软雅黑 Light"/>
                </a:rPr>
                <a:t>GAN</a:t>
              </a:r>
              <a:endParaRPr kumimoji="0" lang="zh-CN" altLang="en-US" sz="1800" b="0" i="0" u="none" strike="noStrike" kern="1200" cap="none" spc="0" normalizeH="0" baseline="0" noProof="0" dirty="0">
                <a:ln>
                  <a:noFill/>
                </a:ln>
                <a:solidFill>
                  <a:srgbClr val="003F87"/>
                </a:solidFill>
                <a:effectLst/>
                <a:uLnTx/>
                <a:uFillTx/>
                <a:latin typeface="微软雅黑 Light"/>
                <a:ea typeface="微软雅黑 Light"/>
                <a:cs typeface="+mn-cs"/>
              </a:endParaRPr>
            </a:p>
          </p:txBody>
        </p:sp>
        <p:sp>
          <p:nvSpPr>
            <p:cNvPr id="6" name="文本框 5">
              <a:extLst>
                <a:ext uri="{FF2B5EF4-FFF2-40B4-BE49-F238E27FC236}">
                  <a16:creationId xmlns:a16="http://schemas.microsoft.com/office/drawing/2014/main" id="{E2F59C7A-835A-4B02-B426-030D8A682C65}"/>
                </a:ext>
              </a:extLst>
            </p:cNvPr>
            <p:cNvSpPr txBox="1"/>
            <p:nvPr/>
          </p:nvSpPr>
          <p:spPr>
            <a:xfrm>
              <a:off x="8676565" y="76583"/>
              <a:ext cx="11309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3F87"/>
                  </a:solidFill>
                  <a:effectLst/>
                  <a:uLnTx/>
                  <a:uFillTx/>
                  <a:latin typeface="微软雅黑 Light"/>
                  <a:ea typeface="微软雅黑 Light"/>
                  <a:cs typeface="+mn-cs"/>
                </a:rPr>
                <a:t>CTGAN</a:t>
              </a:r>
              <a:endParaRPr kumimoji="0" lang="zh-CN" altLang="en-US" sz="1800" b="0" i="0" u="none" strike="noStrike" kern="1200" cap="none" spc="0" normalizeH="0" baseline="0" noProof="0" dirty="0">
                <a:ln>
                  <a:noFill/>
                </a:ln>
                <a:solidFill>
                  <a:srgbClr val="003F87"/>
                </a:solidFill>
                <a:effectLst/>
                <a:uLnTx/>
                <a:uFillTx/>
                <a:latin typeface="微软雅黑 Light"/>
                <a:ea typeface="微软雅黑 Light"/>
                <a:cs typeface="+mn-cs"/>
              </a:endParaRPr>
            </a:p>
          </p:txBody>
        </p:sp>
        <p:sp>
          <p:nvSpPr>
            <p:cNvPr id="7" name="文本框 6">
              <a:extLst>
                <a:ext uri="{FF2B5EF4-FFF2-40B4-BE49-F238E27FC236}">
                  <a16:creationId xmlns:a16="http://schemas.microsoft.com/office/drawing/2014/main" id="{CB8930FC-3020-4855-9D38-CAB435C012DE}"/>
                </a:ext>
              </a:extLst>
            </p:cNvPr>
            <p:cNvSpPr txBox="1"/>
            <p:nvPr/>
          </p:nvSpPr>
          <p:spPr>
            <a:xfrm>
              <a:off x="10306523" y="76583"/>
              <a:ext cx="1411811"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3F87"/>
                  </a:solidFill>
                  <a:effectLst/>
                  <a:uLnTx/>
                  <a:uFillTx/>
                  <a:latin typeface="微软雅黑 Light"/>
                  <a:ea typeface="微软雅黑 Light"/>
                  <a:cs typeface="+mn-cs"/>
                </a:rPr>
                <a:t>总结与思考</a:t>
              </a:r>
            </a:p>
          </p:txBody>
        </p:sp>
        <p:grpSp>
          <p:nvGrpSpPr>
            <p:cNvPr id="8" name="组合 7">
              <a:extLst>
                <a:ext uri="{FF2B5EF4-FFF2-40B4-BE49-F238E27FC236}">
                  <a16:creationId xmlns:a16="http://schemas.microsoft.com/office/drawing/2014/main" id="{31C43EC3-F619-4D86-967C-43CACE30D1FB}"/>
                </a:ext>
              </a:extLst>
            </p:cNvPr>
            <p:cNvGrpSpPr/>
            <p:nvPr/>
          </p:nvGrpSpPr>
          <p:grpSpPr>
            <a:xfrm>
              <a:off x="6791404" y="159486"/>
              <a:ext cx="3296092" cy="209852"/>
              <a:chOff x="6358270" y="115009"/>
              <a:chExt cx="3296092" cy="307494"/>
            </a:xfrm>
          </p:grpSpPr>
          <p:cxnSp>
            <p:nvCxnSpPr>
              <p:cNvPr id="9" name="直接连接符 8">
                <a:extLst>
                  <a:ext uri="{FF2B5EF4-FFF2-40B4-BE49-F238E27FC236}">
                    <a16:creationId xmlns:a16="http://schemas.microsoft.com/office/drawing/2014/main" id="{2D86E86F-7BA5-4521-AB60-58BA96EA6A5B}"/>
                  </a:ext>
                </a:extLst>
              </p:cNvPr>
              <p:cNvCxnSpPr>
                <a:cxnSpLocks/>
              </p:cNvCxnSpPr>
              <p:nvPr/>
            </p:nvCxnSpPr>
            <p:spPr>
              <a:xfrm>
                <a:off x="6358270" y="115009"/>
                <a:ext cx="0" cy="30749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48787DB2-D46F-4A23-8391-FD6D91652166}"/>
                  </a:ext>
                </a:extLst>
              </p:cNvPr>
              <p:cNvCxnSpPr>
                <a:cxnSpLocks/>
              </p:cNvCxnSpPr>
              <p:nvPr/>
            </p:nvCxnSpPr>
            <p:spPr>
              <a:xfrm>
                <a:off x="8006316" y="115009"/>
                <a:ext cx="0" cy="30749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6035BB35-CC45-4A60-944C-0CB81EABC46A}"/>
                  </a:ext>
                </a:extLst>
              </p:cNvPr>
              <p:cNvCxnSpPr>
                <a:cxnSpLocks/>
              </p:cNvCxnSpPr>
              <p:nvPr/>
            </p:nvCxnSpPr>
            <p:spPr>
              <a:xfrm>
                <a:off x="9654362" y="115009"/>
                <a:ext cx="0" cy="30749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pic>
        <p:nvPicPr>
          <p:cNvPr id="41" name="图形 40">
            <a:extLst>
              <a:ext uri="{FF2B5EF4-FFF2-40B4-BE49-F238E27FC236}">
                <a16:creationId xmlns:a16="http://schemas.microsoft.com/office/drawing/2014/main" id="{7397B797-408E-4ED0-BE39-413E49E1A3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3661" y="98896"/>
            <a:ext cx="1251222" cy="347019"/>
          </a:xfrm>
          <a:prstGeom prst="rect">
            <a:avLst/>
          </a:prstGeom>
        </p:spPr>
      </p:pic>
      <p:grpSp>
        <p:nvGrpSpPr>
          <p:cNvPr id="62" name="组合 61">
            <a:extLst>
              <a:ext uri="{FF2B5EF4-FFF2-40B4-BE49-F238E27FC236}">
                <a16:creationId xmlns:a16="http://schemas.microsoft.com/office/drawing/2014/main" id="{9A1CCC4E-615C-40CD-A567-A682A981A8B6}"/>
              </a:ext>
            </a:extLst>
          </p:cNvPr>
          <p:cNvGrpSpPr/>
          <p:nvPr/>
        </p:nvGrpSpPr>
        <p:grpSpPr>
          <a:xfrm>
            <a:off x="8616668" y="4328958"/>
            <a:ext cx="2498971" cy="1235769"/>
            <a:chOff x="3905106" y="2361290"/>
            <a:chExt cx="2498971" cy="1235769"/>
          </a:xfrm>
        </p:grpSpPr>
        <p:sp>
          <p:nvSpPr>
            <p:cNvPr id="63" name="文本框 62">
              <a:extLst>
                <a:ext uri="{FF2B5EF4-FFF2-40B4-BE49-F238E27FC236}">
                  <a16:creationId xmlns:a16="http://schemas.microsoft.com/office/drawing/2014/main" id="{37D8A7CE-9E1F-4CE4-ADFC-D002DD090E6A}"/>
                </a:ext>
              </a:extLst>
            </p:cNvPr>
            <p:cNvSpPr txBox="1"/>
            <p:nvPr/>
          </p:nvSpPr>
          <p:spPr>
            <a:xfrm>
              <a:off x="4381990" y="2361290"/>
              <a:ext cx="1569660"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单击添加标题</a:t>
              </a:r>
            </a:p>
          </p:txBody>
        </p:sp>
        <p:sp>
          <p:nvSpPr>
            <p:cNvPr id="64" name="文本框 63">
              <a:extLst>
                <a:ext uri="{FF2B5EF4-FFF2-40B4-BE49-F238E27FC236}">
                  <a16:creationId xmlns:a16="http://schemas.microsoft.com/office/drawing/2014/main" id="{09FC7FC5-FE27-4F76-AEF1-F0D58C7042A4}"/>
                </a:ext>
              </a:extLst>
            </p:cNvPr>
            <p:cNvSpPr txBox="1"/>
            <p:nvPr/>
          </p:nvSpPr>
          <p:spPr>
            <a:xfrm>
              <a:off x="3905106" y="2690336"/>
              <a:ext cx="2498971" cy="906723"/>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white"/>
                  </a:solidFill>
                  <a:effectLst/>
                  <a:uLnTx/>
                  <a:uFillTx/>
                  <a:latin typeface="微软雅黑 Light" panose="020B0502040204020203" pitchFamily="34" charset="-122"/>
                  <a:ea typeface="微软雅黑 Light" panose="020B0502040204020203" pitchFamily="34" charset="-122"/>
                  <a:cs typeface="+mn-cs"/>
                </a:rPr>
                <a:t>单击此处添加文本单击此处添加文本单击此处添加文本单击此处单击此处</a:t>
              </a:r>
            </a:p>
          </p:txBody>
        </p:sp>
      </p:grpSp>
      <p:grpSp>
        <p:nvGrpSpPr>
          <p:cNvPr id="30" name="组合 29">
            <a:extLst>
              <a:ext uri="{FF2B5EF4-FFF2-40B4-BE49-F238E27FC236}">
                <a16:creationId xmlns:a16="http://schemas.microsoft.com/office/drawing/2014/main" id="{1946339E-B336-4B92-9F74-D6632F197898}"/>
              </a:ext>
            </a:extLst>
          </p:cNvPr>
          <p:cNvGrpSpPr/>
          <p:nvPr/>
        </p:nvGrpSpPr>
        <p:grpSpPr>
          <a:xfrm>
            <a:off x="545701" y="1022542"/>
            <a:ext cx="4832818" cy="1573852"/>
            <a:chOff x="329801" y="1022542"/>
            <a:chExt cx="4832818" cy="1573852"/>
          </a:xfrm>
        </p:grpSpPr>
        <p:sp>
          <p:nvSpPr>
            <p:cNvPr id="21" name="矩形 20">
              <a:extLst>
                <a:ext uri="{FF2B5EF4-FFF2-40B4-BE49-F238E27FC236}">
                  <a16:creationId xmlns:a16="http://schemas.microsoft.com/office/drawing/2014/main" id="{9B1AF2D0-E635-42D4-8BB5-1F7E0B4912B2}"/>
                </a:ext>
              </a:extLst>
            </p:cNvPr>
            <p:cNvSpPr/>
            <p:nvPr/>
          </p:nvSpPr>
          <p:spPr>
            <a:xfrm>
              <a:off x="360999" y="1022542"/>
              <a:ext cx="2082800" cy="520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mj-ea"/>
                  <a:ea typeface="+mj-ea"/>
                </a:rPr>
                <a:t>生成模型定义</a:t>
              </a:r>
            </a:p>
          </p:txBody>
        </p:sp>
        <p:sp>
          <p:nvSpPr>
            <p:cNvPr id="25" name="文本框 24">
              <a:extLst>
                <a:ext uri="{FF2B5EF4-FFF2-40B4-BE49-F238E27FC236}">
                  <a16:creationId xmlns:a16="http://schemas.microsoft.com/office/drawing/2014/main" id="{EE563927-57D9-4A62-913F-CE3EB5434FA5}"/>
                </a:ext>
              </a:extLst>
            </p:cNvPr>
            <p:cNvSpPr txBox="1"/>
            <p:nvPr/>
          </p:nvSpPr>
          <p:spPr>
            <a:xfrm>
              <a:off x="329801" y="1767769"/>
              <a:ext cx="4832818" cy="828625"/>
            </a:xfrm>
            <a:prstGeom prst="rect">
              <a:avLst/>
            </a:prstGeom>
            <a:noFill/>
          </p:spPr>
          <p:txBody>
            <a:bodyPr wrap="square" rtlCol="0">
              <a:spAutoFit/>
            </a:bodyPr>
            <a:lstStyle/>
            <a:p>
              <a:pPr>
                <a:lnSpc>
                  <a:spcPct val="125000"/>
                </a:lnSpc>
              </a:pPr>
              <a:r>
                <a:rPr lang="zh-CN" altLang="en-US" sz="2000" dirty="0"/>
                <a:t>接收若干样本作为训练集，生成与其概率分布相同的新样本。</a:t>
              </a:r>
            </a:p>
          </p:txBody>
        </p:sp>
      </p:grpSp>
      <p:grpSp>
        <p:nvGrpSpPr>
          <p:cNvPr id="28" name="组合 27">
            <a:extLst>
              <a:ext uri="{FF2B5EF4-FFF2-40B4-BE49-F238E27FC236}">
                <a16:creationId xmlns:a16="http://schemas.microsoft.com/office/drawing/2014/main" id="{6DB9A776-5767-4110-A572-DC888DC58A5C}"/>
              </a:ext>
            </a:extLst>
          </p:cNvPr>
          <p:cNvGrpSpPr/>
          <p:nvPr/>
        </p:nvGrpSpPr>
        <p:grpSpPr>
          <a:xfrm>
            <a:off x="5453935" y="1767769"/>
            <a:ext cx="6335699" cy="3494125"/>
            <a:chOff x="5441235" y="1729669"/>
            <a:chExt cx="6335699" cy="3494125"/>
          </a:xfrm>
        </p:grpSpPr>
        <p:grpSp>
          <p:nvGrpSpPr>
            <p:cNvPr id="24" name="组合 23">
              <a:extLst>
                <a:ext uri="{FF2B5EF4-FFF2-40B4-BE49-F238E27FC236}">
                  <a16:creationId xmlns:a16="http://schemas.microsoft.com/office/drawing/2014/main" id="{D24A80D5-39AF-4401-BF43-DFBCBD8B39D7}"/>
                </a:ext>
              </a:extLst>
            </p:cNvPr>
            <p:cNvGrpSpPr/>
            <p:nvPr/>
          </p:nvGrpSpPr>
          <p:grpSpPr>
            <a:xfrm>
              <a:off x="5441235" y="2273299"/>
              <a:ext cx="6335699" cy="2950495"/>
              <a:chOff x="4524189" y="2055585"/>
              <a:chExt cx="7151146" cy="3422210"/>
            </a:xfrm>
          </p:grpSpPr>
          <p:pic>
            <p:nvPicPr>
              <p:cNvPr id="3" name="图片 2">
                <a:extLst>
                  <a:ext uri="{FF2B5EF4-FFF2-40B4-BE49-F238E27FC236}">
                    <a16:creationId xmlns:a16="http://schemas.microsoft.com/office/drawing/2014/main" id="{69B4B608-8863-4028-82AA-864F49776833}"/>
                  </a:ext>
                </a:extLst>
              </p:cNvPr>
              <p:cNvPicPr>
                <a:picLocks noChangeAspect="1"/>
              </p:cNvPicPr>
              <p:nvPr/>
            </p:nvPicPr>
            <p:blipFill>
              <a:blip r:embed="rId5"/>
              <a:stretch>
                <a:fillRect/>
              </a:stretch>
            </p:blipFill>
            <p:spPr>
              <a:xfrm>
                <a:off x="4524189" y="2055585"/>
                <a:ext cx="2860895" cy="3422210"/>
              </a:xfrm>
              <a:prstGeom prst="rect">
                <a:avLst/>
              </a:prstGeom>
            </p:spPr>
          </p:pic>
          <p:pic>
            <p:nvPicPr>
              <p:cNvPr id="19" name="图片 18">
                <a:extLst>
                  <a:ext uri="{FF2B5EF4-FFF2-40B4-BE49-F238E27FC236}">
                    <a16:creationId xmlns:a16="http://schemas.microsoft.com/office/drawing/2014/main" id="{E890C750-16B0-4935-8573-2ACB0E9EAF74}"/>
                  </a:ext>
                </a:extLst>
              </p:cNvPr>
              <p:cNvPicPr>
                <a:picLocks noChangeAspect="1"/>
              </p:cNvPicPr>
              <p:nvPr/>
            </p:nvPicPr>
            <p:blipFill>
              <a:blip r:embed="rId6"/>
              <a:stretch>
                <a:fillRect/>
              </a:stretch>
            </p:blipFill>
            <p:spPr>
              <a:xfrm>
                <a:off x="8937710" y="2055585"/>
                <a:ext cx="2737625" cy="3358930"/>
              </a:xfrm>
              <a:prstGeom prst="rect">
                <a:avLst/>
              </a:prstGeom>
            </p:spPr>
          </p:pic>
          <p:sp>
            <p:nvSpPr>
              <p:cNvPr id="20" name="箭头: 右 19">
                <a:extLst>
                  <a:ext uri="{FF2B5EF4-FFF2-40B4-BE49-F238E27FC236}">
                    <a16:creationId xmlns:a16="http://schemas.microsoft.com/office/drawing/2014/main" id="{B8D7DE16-96A9-484F-8A44-2643E5C340FB}"/>
                  </a:ext>
                </a:extLst>
              </p:cNvPr>
              <p:cNvSpPr/>
              <p:nvPr/>
            </p:nvSpPr>
            <p:spPr>
              <a:xfrm>
                <a:off x="7699109" y="3582765"/>
                <a:ext cx="977456" cy="49026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文本框 26">
              <a:extLst>
                <a:ext uri="{FF2B5EF4-FFF2-40B4-BE49-F238E27FC236}">
                  <a16:creationId xmlns:a16="http://schemas.microsoft.com/office/drawing/2014/main" id="{EDA4DAAD-91AC-4E55-B9AF-C20BA28CE32F}"/>
                </a:ext>
              </a:extLst>
            </p:cNvPr>
            <p:cNvSpPr txBox="1"/>
            <p:nvPr/>
          </p:nvSpPr>
          <p:spPr>
            <a:xfrm>
              <a:off x="5780206" y="1729669"/>
              <a:ext cx="2022396" cy="400110"/>
            </a:xfrm>
            <a:prstGeom prst="rect">
              <a:avLst/>
            </a:prstGeom>
            <a:noFill/>
          </p:spPr>
          <p:txBody>
            <a:bodyPr wrap="square" rtlCol="0">
              <a:spAutoFit/>
            </a:bodyPr>
            <a:lstStyle/>
            <a:p>
              <a:r>
                <a:rPr lang="en-US" altLang="zh-CN" sz="2000" b="1" dirty="0"/>
                <a:t>Training Dataset</a:t>
              </a:r>
              <a:endParaRPr lang="zh-CN" altLang="en-US" sz="2000" b="1" dirty="0"/>
            </a:p>
          </p:txBody>
        </p:sp>
        <p:sp>
          <p:nvSpPr>
            <p:cNvPr id="43" name="文本框 42">
              <a:extLst>
                <a:ext uri="{FF2B5EF4-FFF2-40B4-BE49-F238E27FC236}">
                  <a16:creationId xmlns:a16="http://schemas.microsoft.com/office/drawing/2014/main" id="{08AB1F9F-9FCA-41E7-8181-B5DDBAFAD046}"/>
                </a:ext>
              </a:extLst>
            </p:cNvPr>
            <p:cNvSpPr txBox="1"/>
            <p:nvPr/>
          </p:nvSpPr>
          <p:spPr>
            <a:xfrm>
              <a:off x="9611707" y="1733597"/>
              <a:ext cx="1905000" cy="400110"/>
            </a:xfrm>
            <a:prstGeom prst="rect">
              <a:avLst/>
            </a:prstGeom>
            <a:noFill/>
          </p:spPr>
          <p:txBody>
            <a:bodyPr wrap="square" rtlCol="0">
              <a:spAutoFit/>
            </a:bodyPr>
            <a:lstStyle/>
            <a:p>
              <a:pPr algn="ctr"/>
              <a:r>
                <a:rPr lang="en-US" altLang="zh-CN" sz="2000" b="1" dirty="0"/>
                <a:t>New Samples</a:t>
              </a:r>
              <a:endParaRPr lang="zh-CN" altLang="en-US" sz="2000" b="1" dirty="0"/>
            </a:p>
          </p:txBody>
        </p:sp>
      </p:grpSp>
      <p:grpSp>
        <p:nvGrpSpPr>
          <p:cNvPr id="31" name="组合 30">
            <a:extLst>
              <a:ext uri="{FF2B5EF4-FFF2-40B4-BE49-F238E27FC236}">
                <a16:creationId xmlns:a16="http://schemas.microsoft.com/office/drawing/2014/main" id="{2385A47C-2460-4D0C-ABE9-99C75DB53C89}"/>
              </a:ext>
            </a:extLst>
          </p:cNvPr>
          <p:cNvGrpSpPr/>
          <p:nvPr/>
        </p:nvGrpSpPr>
        <p:grpSpPr>
          <a:xfrm>
            <a:off x="596501" y="3168650"/>
            <a:ext cx="4832818" cy="2631834"/>
            <a:chOff x="329801" y="3168650"/>
            <a:chExt cx="4832818" cy="2631834"/>
          </a:xfrm>
        </p:grpSpPr>
        <p:sp>
          <p:nvSpPr>
            <p:cNvPr id="46" name="矩形 45">
              <a:extLst>
                <a:ext uri="{FF2B5EF4-FFF2-40B4-BE49-F238E27FC236}">
                  <a16:creationId xmlns:a16="http://schemas.microsoft.com/office/drawing/2014/main" id="{4CA7A5CA-F3E0-46FC-A952-88818F5F93D1}"/>
                </a:ext>
              </a:extLst>
            </p:cNvPr>
            <p:cNvSpPr/>
            <p:nvPr/>
          </p:nvSpPr>
          <p:spPr>
            <a:xfrm>
              <a:off x="360999" y="3168650"/>
              <a:ext cx="2082800" cy="520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mj-ea"/>
                  <a:ea typeface="+mj-ea"/>
                </a:rPr>
                <a:t>生成模型作用</a:t>
              </a:r>
            </a:p>
          </p:txBody>
        </p:sp>
        <p:sp>
          <p:nvSpPr>
            <p:cNvPr id="47" name="文本框 46">
              <a:extLst>
                <a:ext uri="{FF2B5EF4-FFF2-40B4-BE49-F238E27FC236}">
                  <a16:creationId xmlns:a16="http://schemas.microsoft.com/office/drawing/2014/main" id="{B42F6000-EB81-4209-ABAA-9A1A62B8435F}"/>
                </a:ext>
              </a:extLst>
            </p:cNvPr>
            <p:cNvSpPr txBox="1"/>
            <p:nvPr/>
          </p:nvSpPr>
          <p:spPr>
            <a:xfrm>
              <a:off x="329801" y="3913877"/>
              <a:ext cx="4832818" cy="1886607"/>
            </a:xfrm>
            <a:prstGeom prst="rect">
              <a:avLst/>
            </a:prstGeom>
            <a:noFill/>
          </p:spPr>
          <p:txBody>
            <a:bodyPr wrap="square" rtlCol="0">
              <a:spAutoFit/>
            </a:bodyPr>
            <a:lstStyle/>
            <a:p>
              <a:pPr marL="342900" indent="-342900">
                <a:lnSpc>
                  <a:spcPct val="150000"/>
                </a:lnSpc>
                <a:buFont typeface="Wingdings" panose="05000000000000000000" pitchFamily="2" charset="2"/>
                <a:buChar char="l"/>
              </a:pPr>
              <a:r>
                <a:rPr lang="zh-CN" altLang="en-US" sz="2000" dirty="0"/>
                <a:t>生成数据</a:t>
              </a:r>
              <a:endParaRPr lang="en-US" altLang="zh-CN" sz="2000" dirty="0"/>
            </a:p>
            <a:p>
              <a:pPr marL="342900" indent="-342900">
                <a:lnSpc>
                  <a:spcPct val="150000"/>
                </a:lnSpc>
                <a:buFont typeface="Wingdings" panose="05000000000000000000" pitchFamily="2" charset="2"/>
                <a:buChar char="l"/>
              </a:pPr>
              <a:r>
                <a:rPr lang="zh-CN" altLang="en-US" sz="2000" dirty="0"/>
                <a:t>特征工程</a:t>
              </a:r>
              <a:endParaRPr lang="en-US" altLang="zh-CN" sz="2000" dirty="0"/>
            </a:p>
            <a:p>
              <a:pPr marL="342900" indent="-342900">
                <a:lnSpc>
                  <a:spcPct val="150000"/>
                </a:lnSpc>
                <a:buFont typeface="Wingdings" panose="05000000000000000000" pitchFamily="2" charset="2"/>
                <a:buChar char="l"/>
              </a:pPr>
              <a:r>
                <a:rPr lang="zh-CN" altLang="en-US" sz="2000" dirty="0"/>
                <a:t>半监督学习</a:t>
              </a:r>
              <a:endParaRPr lang="en-US" altLang="zh-CN" sz="2000" dirty="0"/>
            </a:p>
            <a:p>
              <a:pPr marL="342900" indent="-342900">
                <a:lnSpc>
                  <a:spcPct val="150000"/>
                </a:lnSpc>
                <a:buFont typeface="Wingdings" panose="05000000000000000000" pitchFamily="2" charset="2"/>
                <a:buChar char="l"/>
              </a:pPr>
              <a:r>
                <a:rPr lang="zh-CN" altLang="en-US" sz="2000" dirty="0"/>
                <a:t>数据增强</a:t>
              </a:r>
              <a:endParaRPr lang="en-US" altLang="zh-CN" sz="2000" dirty="0"/>
            </a:p>
          </p:txBody>
        </p:sp>
      </p:grpSp>
    </p:spTree>
    <p:extLst>
      <p:ext uri="{BB962C8B-B14F-4D97-AF65-F5344CB8AC3E}">
        <p14:creationId xmlns:p14="http://schemas.microsoft.com/office/powerpoint/2010/main" val="4190913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5D9D6A9-337F-42A2-BCCA-8F338829F0A3}"/>
              </a:ext>
            </a:extLst>
          </p:cNvPr>
          <p:cNvSpPr/>
          <p:nvPr/>
        </p:nvSpPr>
        <p:spPr>
          <a:xfrm>
            <a:off x="1" y="481263"/>
            <a:ext cx="12192000" cy="72000"/>
          </a:xfrm>
          <a:prstGeom prst="rect">
            <a:avLst/>
          </a:prstGeom>
          <a:solidFill>
            <a:srgbClr val="003F87">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82090"/>
              </a:solidFill>
              <a:effectLst/>
              <a:uLnTx/>
              <a:uFillTx/>
              <a:latin typeface="微软雅黑 Light"/>
              <a:ea typeface="微软雅黑 Light"/>
              <a:cs typeface="+mn-cs"/>
            </a:endParaRPr>
          </a:p>
        </p:txBody>
      </p:sp>
      <p:grpSp>
        <p:nvGrpSpPr>
          <p:cNvPr id="13" name="组合 12">
            <a:extLst>
              <a:ext uri="{FF2B5EF4-FFF2-40B4-BE49-F238E27FC236}">
                <a16:creationId xmlns:a16="http://schemas.microsoft.com/office/drawing/2014/main" id="{D1242031-CB56-41DD-AAE7-EC8A25A19202}"/>
              </a:ext>
            </a:extLst>
          </p:cNvPr>
          <p:cNvGrpSpPr/>
          <p:nvPr/>
        </p:nvGrpSpPr>
        <p:grpSpPr>
          <a:xfrm>
            <a:off x="5339636" y="76583"/>
            <a:ext cx="6378698" cy="369332"/>
            <a:chOff x="5339636" y="76583"/>
            <a:chExt cx="6378698" cy="369332"/>
          </a:xfrm>
        </p:grpSpPr>
        <p:sp>
          <p:nvSpPr>
            <p:cNvPr id="12" name="矩形 11">
              <a:extLst>
                <a:ext uri="{FF2B5EF4-FFF2-40B4-BE49-F238E27FC236}">
                  <a16:creationId xmlns:a16="http://schemas.microsoft.com/office/drawing/2014/main" id="{A60EDE69-3FC4-463D-B8FA-519ED3E54C8E}"/>
                </a:ext>
              </a:extLst>
            </p:cNvPr>
            <p:cNvSpPr/>
            <p:nvPr/>
          </p:nvSpPr>
          <p:spPr>
            <a:xfrm>
              <a:off x="5339636" y="104027"/>
              <a:ext cx="1311305" cy="308804"/>
            </a:xfrm>
            <a:prstGeom prst="rect">
              <a:avLst/>
            </a:prstGeom>
            <a:solidFill>
              <a:srgbClr val="003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sp>
          <p:nvSpPr>
            <p:cNvPr id="4" name="文本框 3">
              <a:extLst>
                <a:ext uri="{FF2B5EF4-FFF2-40B4-BE49-F238E27FC236}">
                  <a16:creationId xmlns:a16="http://schemas.microsoft.com/office/drawing/2014/main" id="{5292CB5F-A4AC-47BE-A81F-1C3B2B8C443B}"/>
                </a:ext>
              </a:extLst>
            </p:cNvPr>
            <p:cNvSpPr txBox="1"/>
            <p:nvPr/>
          </p:nvSpPr>
          <p:spPr>
            <a:xfrm>
              <a:off x="5416649" y="76583"/>
              <a:ext cx="11309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prstClr val="white"/>
                  </a:solidFill>
                  <a:latin typeface="微软雅黑 Light"/>
                  <a:ea typeface="微软雅黑 Light"/>
                </a:rPr>
                <a:t>发展过程</a:t>
              </a: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sp>
          <p:nvSpPr>
            <p:cNvPr id="5" name="文本框 4">
              <a:extLst>
                <a:ext uri="{FF2B5EF4-FFF2-40B4-BE49-F238E27FC236}">
                  <a16:creationId xmlns:a16="http://schemas.microsoft.com/office/drawing/2014/main" id="{1A7EBC06-2FA6-4594-A4DE-6F2E9D86D04C}"/>
                </a:ext>
              </a:extLst>
            </p:cNvPr>
            <p:cNvSpPr txBox="1"/>
            <p:nvPr/>
          </p:nvSpPr>
          <p:spPr>
            <a:xfrm>
              <a:off x="7046607" y="76583"/>
              <a:ext cx="11309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rgbClr val="003F87"/>
                  </a:solidFill>
                  <a:latin typeface="微软雅黑 Light"/>
                  <a:ea typeface="微软雅黑 Light"/>
                </a:rPr>
                <a:t>GAN</a:t>
              </a:r>
              <a:endParaRPr kumimoji="0" lang="zh-CN" altLang="en-US" sz="1800" b="0" i="0" u="none" strike="noStrike" kern="1200" cap="none" spc="0" normalizeH="0" baseline="0" noProof="0" dirty="0">
                <a:ln>
                  <a:noFill/>
                </a:ln>
                <a:solidFill>
                  <a:srgbClr val="003F87"/>
                </a:solidFill>
                <a:effectLst/>
                <a:uLnTx/>
                <a:uFillTx/>
                <a:latin typeface="微软雅黑 Light"/>
                <a:ea typeface="微软雅黑 Light"/>
                <a:cs typeface="+mn-cs"/>
              </a:endParaRPr>
            </a:p>
          </p:txBody>
        </p:sp>
        <p:sp>
          <p:nvSpPr>
            <p:cNvPr id="6" name="文本框 5">
              <a:extLst>
                <a:ext uri="{FF2B5EF4-FFF2-40B4-BE49-F238E27FC236}">
                  <a16:creationId xmlns:a16="http://schemas.microsoft.com/office/drawing/2014/main" id="{E2F59C7A-835A-4B02-B426-030D8A682C65}"/>
                </a:ext>
              </a:extLst>
            </p:cNvPr>
            <p:cNvSpPr txBox="1"/>
            <p:nvPr/>
          </p:nvSpPr>
          <p:spPr>
            <a:xfrm>
              <a:off x="8676565" y="76583"/>
              <a:ext cx="11309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3F87"/>
                  </a:solidFill>
                  <a:effectLst/>
                  <a:uLnTx/>
                  <a:uFillTx/>
                  <a:latin typeface="微软雅黑 Light"/>
                  <a:ea typeface="微软雅黑 Light"/>
                  <a:cs typeface="+mn-cs"/>
                </a:rPr>
                <a:t>CTGAN</a:t>
              </a:r>
              <a:endParaRPr kumimoji="0" lang="zh-CN" altLang="en-US" sz="1800" b="0" i="0" u="none" strike="noStrike" kern="1200" cap="none" spc="0" normalizeH="0" baseline="0" noProof="0" dirty="0">
                <a:ln>
                  <a:noFill/>
                </a:ln>
                <a:solidFill>
                  <a:srgbClr val="003F87"/>
                </a:solidFill>
                <a:effectLst/>
                <a:uLnTx/>
                <a:uFillTx/>
                <a:latin typeface="微软雅黑 Light"/>
                <a:ea typeface="微软雅黑 Light"/>
                <a:cs typeface="+mn-cs"/>
              </a:endParaRPr>
            </a:p>
          </p:txBody>
        </p:sp>
        <p:sp>
          <p:nvSpPr>
            <p:cNvPr id="7" name="文本框 6">
              <a:extLst>
                <a:ext uri="{FF2B5EF4-FFF2-40B4-BE49-F238E27FC236}">
                  <a16:creationId xmlns:a16="http://schemas.microsoft.com/office/drawing/2014/main" id="{CB8930FC-3020-4855-9D38-CAB435C012DE}"/>
                </a:ext>
              </a:extLst>
            </p:cNvPr>
            <p:cNvSpPr txBox="1"/>
            <p:nvPr/>
          </p:nvSpPr>
          <p:spPr>
            <a:xfrm>
              <a:off x="10306523" y="76583"/>
              <a:ext cx="1411811"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3F87"/>
                  </a:solidFill>
                  <a:effectLst/>
                  <a:uLnTx/>
                  <a:uFillTx/>
                  <a:latin typeface="微软雅黑 Light"/>
                  <a:ea typeface="微软雅黑 Light"/>
                  <a:cs typeface="+mn-cs"/>
                </a:rPr>
                <a:t>总结与思考</a:t>
              </a:r>
            </a:p>
          </p:txBody>
        </p:sp>
        <p:grpSp>
          <p:nvGrpSpPr>
            <p:cNvPr id="8" name="组合 7">
              <a:extLst>
                <a:ext uri="{FF2B5EF4-FFF2-40B4-BE49-F238E27FC236}">
                  <a16:creationId xmlns:a16="http://schemas.microsoft.com/office/drawing/2014/main" id="{31C43EC3-F619-4D86-967C-43CACE30D1FB}"/>
                </a:ext>
              </a:extLst>
            </p:cNvPr>
            <p:cNvGrpSpPr/>
            <p:nvPr/>
          </p:nvGrpSpPr>
          <p:grpSpPr>
            <a:xfrm>
              <a:off x="6791404" y="159486"/>
              <a:ext cx="3296092" cy="209852"/>
              <a:chOff x="6358270" y="115009"/>
              <a:chExt cx="3296092" cy="307494"/>
            </a:xfrm>
          </p:grpSpPr>
          <p:cxnSp>
            <p:nvCxnSpPr>
              <p:cNvPr id="9" name="直接连接符 8">
                <a:extLst>
                  <a:ext uri="{FF2B5EF4-FFF2-40B4-BE49-F238E27FC236}">
                    <a16:creationId xmlns:a16="http://schemas.microsoft.com/office/drawing/2014/main" id="{2D86E86F-7BA5-4521-AB60-58BA96EA6A5B}"/>
                  </a:ext>
                </a:extLst>
              </p:cNvPr>
              <p:cNvCxnSpPr>
                <a:cxnSpLocks/>
              </p:cNvCxnSpPr>
              <p:nvPr/>
            </p:nvCxnSpPr>
            <p:spPr>
              <a:xfrm>
                <a:off x="6358270" y="115009"/>
                <a:ext cx="0" cy="30749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48787DB2-D46F-4A23-8391-FD6D91652166}"/>
                  </a:ext>
                </a:extLst>
              </p:cNvPr>
              <p:cNvCxnSpPr>
                <a:cxnSpLocks/>
              </p:cNvCxnSpPr>
              <p:nvPr/>
            </p:nvCxnSpPr>
            <p:spPr>
              <a:xfrm>
                <a:off x="8006316" y="115009"/>
                <a:ext cx="0" cy="30749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6035BB35-CC45-4A60-944C-0CB81EABC46A}"/>
                  </a:ext>
                </a:extLst>
              </p:cNvPr>
              <p:cNvCxnSpPr>
                <a:cxnSpLocks/>
              </p:cNvCxnSpPr>
              <p:nvPr/>
            </p:nvCxnSpPr>
            <p:spPr>
              <a:xfrm>
                <a:off x="9654362" y="115009"/>
                <a:ext cx="0" cy="30749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pic>
        <p:nvPicPr>
          <p:cNvPr id="41" name="图形 40">
            <a:extLst>
              <a:ext uri="{FF2B5EF4-FFF2-40B4-BE49-F238E27FC236}">
                <a16:creationId xmlns:a16="http://schemas.microsoft.com/office/drawing/2014/main" id="{7397B797-408E-4ED0-BE39-413E49E1A3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3661" y="98896"/>
            <a:ext cx="1251222" cy="347019"/>
          </a:xfrm>
          <a:prstGeom prst="rect">
            <a:avLst/>
          </a:prstGeom>
        </p:spPr>
      </p:pic>
      <p:pic>
        <p:nvPicPr>
          <p:cNvPr id="35" name="图片 34">
            <a:extLst>
              <a:ext uri="{FF2B5EF4-FFF2-40B4-BE49-F238E27FC236}">
                <a16:creationId xmlns:a16="http://schemas.microsoft.com/office/drawing/2014/main" id="{F1DB9CC4-827D-4EBE-987B-A10CC024AE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16629" y="1064155"/>
            <a:ext cx="2880000" cy="2733673"/>
          </a:xfrm>
          <a:prstGeom prst="rect">
            <a:avLst/>
          </a:prstGeom>
        </p:spPr>
      </p:pic>
      <p:pic>
        <p:nvPicPr>
          <p:cNvPr id="38" name="图片 37">
            <a:extLst>
              <a:ext uri="{FF2B5EF4-FFF2-40B4-BE49-F238E27FC236}">
                <a16:creationId xmlns:a16="http://schemas.microsoft.com/office/drawing/2014/main" id="{5E3ABFC7-B632-40EF-B913-36FBE41A68E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2996" y="1064156"/>
            <a:ext cx="2880000" cy="2733673"/>
          </a:xfrm>
          <a:prstGeom prst="rect">
            <a:avLst/>
          </a:prstGeom>
        </p:spPr>
      </p:pic>
      <p:pic>
        <p:nvPicPr>
          <p:cNvPr id="39" name="图片 38">
            <a:extLst>
              <a:ext uri="{FF2B5EF4-FFF2-40B4-BE49-F238E27FC236}">
                <a16:creationId xmlns:a16="http://schemas.microsoft.com/office/drawing/2014/main" id="{DA97C57C-695F-4B74-950C-80FEF1B8826A}"/>
              </a:ext>
            </a:extLst>
          </p:cNvPr>
          <p:cNvPicPr>
            <a:picLocks noChangeAspect="1"/>
          </p:cNvPicPr>
          <p:nvPr/>
        </p:nvPicPr>
        <p:blipFill>
          <a:blip r:embed="rId7"/>
          <a:stretch>
            <a:fillRect/>
          </a:stretch>
        </p:blipFill>
        <p:spPr>
          <a:xfrm>
            <a:off x="8338054" y="1064155"/>
            <a:ext cx="2880000" cy="2766716"/>
          </a:xfrm>
          <a:prstGeom prst="rect">
            <a:avLst/>
          </a:prstGeom>
        </p:spPr>
      </p:pic>
      <p:pic>
        <p:nvPicPr>
          <p:cNvPr id="52" name="图片 51">
            <a:extLst>
              <a:ext uri="{FF2B5EF4-FFF2-40B4-BE49-F238E27FC236}">
                <a16:creationId xmlns:a16="http://schemas.microsoft.com/office/drawing/2014/main" id="{345AFE3E-446A-4506-8E9A-FA6737FB766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73661" y="4380218"/>
            <a:ext cx="4680000" cy="2167912"/>
          </a:xfrm>
          <a:prstGeom prst="rect">
            <a:avLst/>
          </a:prstGeom>
        </p:spPr>
      </p:pic>
      <p:grpSp>
        <p:nvGrpSpPr>
          <p:cNvPr id="58" name="组合 57">
            <a:extLst>
              <a:ext uri="{FF2B5EF4-FFF2-40B4-BE49-F238E27FC236}">
                <a16:creationId xmlns:a16="http://schemas.microsoft.com/office/drawing/2014/main" id="{E4737351-7F12-4293-9C8D-22884C9759CB}"/>
              </a:ext>
            </a:extLst>
          </p:cNvPr>
          <p:cNvGrpSpPr/>
          <p:nvPr/>
        </p:nvGrpSpPr>
        <p:grpSpPr>
          <a:xfrm>
            <a:off x="6336565" y="4380218"/>
            <a:ext cx="4680000" cy="2134089"/>
            <a:chOff x="6273800" y="4197240"/>
            <a:chExt cx="5664200" cy="2501274"/>
          </a:xfrm>
        </p:grpSpPr>
        <p:sp>
          <p:nvSpPr>
            <p:cNvPr id="57" name="矩形 56">
              <a:extLst>
                <a:ext uri="{FF2B5EF4-FFF2-40B4-BE49-F238E27FC236}">
                  <a16:creationId xmlns:a16="http://schemas.microsoft.com/office/drawing/2014/main" id="{FA71FEA9-D415-4128-AC14-223AFB4CC542}"/>
                </a:ext>
              </a:extLst>
            </p:cNvPr>
            <p:cNvSpPr/>
            <p:nvPr/>
          </p:nvSpPr>
          <p:spPr>
            <a:xfrm>
              <a:off x="6273800" y="4197240"/>
              <a:ext cx="5664200" cy="2501274"/>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5" name="图片 54">
              <a:extLst>
                <a:ext uri="{FF2B5EF4-FFF2-40B4-BE49-F238E27FC236}">
                  <a16:creationId xmlns:a16="http://schemas.microsoft.com/office/drawing/2014/main" id="{ACA77323-91A7-4977-9557-B917615BD05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328611" y="4224725"/>
              <a:ext cx="5609389" cy="2446304"/>
            </a:xfrm>
            <a:prstGeom prst="rect">
              <a:avLst/>
            </a:prstGeom>
          </p:spPr>
        </p:pic>
      </p:grpSp>
      <p:sp>
        <p:nvSpPr>
          <p:cNvPr id="65" name="矩形 64">
            <a:extLst>
              <a:ext uri="{FF2B5EF4-FFF2-40B4-BE49-F238E27FC236}">
                <a16:creationId xmlns:a16="http://schemas.microsoft.com/office/drawing/2014/main" id="{DAC269EB-3E3B-4DE5-81DB-A57FD95ACCE7}"/>
              </a:ext>
            </a:extLst>
          </p:cNvPr>
          <p:cNvSpPr/>
          <p:nvPr/>
        </p:nvSpPr>
        <p:spPr>
          <a:xfrm>
            <a:off x="602996" y="685800"/>
            <a:ext cx="2880000" cy="342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玻尔兹曼机</a:t>
            </a:r>
            <a:r>
              <a:rPr lang="en-US" altLang="zh-CN" dirty="0"/>
              <a:t>BM</a:t>
            </a:r>
            <a:endParaRPr lang="zh-CN" altLang="en-US" dirty="0"/>
          </a:p>
        </p:txBody>
      </p:sp>
      <p:sp>
        <p:nvSpPr>
          <p:cNvPr id="71" name="矩形 70">
            <a:extLst>
              <a:ext uri="{FF2B5EF4-FFF2-40B4-BE49-F238E27FC236}">
                <a16:creationId xmlns:a16="http://schemas.microsoft.com/office/drawing/2014/main" id="{3ED4C81F-BA9D-4CC2-9BDA-E000FAB04B43}"/>
              </a:ext>
            </a:extLst>
          </p:cNvPr>
          <p:cNvSpPr/>
          <p:nvPr/>
        </p:nvSpPr>
        <p:spPr>
          <a:xfrm>
            <a:off x="4416629" y="685800"/>
            <a:ext cx="2880000" cy="342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受限玻尔兹曼机</a:t>
            </a:r>
            <a:r>
              <a:rPr lang="en-US" altLang="zh-CN" dirty="0"/>
              <a:t>RBM</a:t>
            </a:r>
            <a:endParaRPr lang="zh-CN" altLang="en-US" dirty="0"/>
          </a:p>
        </p:txBody>
      </p:sp>
      <p:sp>
        <p:nvSpPr>
          <p:cNvPr id="72" name="矩形 71">
            <a:extLst>
              <a:ext uri="{FF2B5EF4-FFF2-40B4-BE49-F238E27FC236}">
                <a16:creationId xmlns:a16="http://schemas.microsoft.com/office/drawing/2014/main" id="{0C83CC86-0418-4A36-B7C7-23B9ED02FEF7}"/>
              </a:ext>
            </a:extLst>
          </p:cNvPr>
          <p:cNvSpPr/>
          <p:nvPr/>
        </p:nvSpPr>
        <p:spPr>
          <a:xfrm>
            <a:off x="8338054" y="685800"/>
            <a:ext cx="2880000" cy="342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深度信念网络</a:t>
            </a:r>
            <a:r>
              <a:rPr lang="en-US" altLang="zh-CN" dirty="0"/>
              <a:t>DBN</a:t>
            </a:r>
            <a:endParaRPr lang="zh-CN" altLang="en-US" dirty="0"/>
          </a:p>
        </p:txBody>
      </p:sp>
      <p:sp>
        <p:nvSpPr>
          <p:cNvPr id="73" name="矩形 72">
            <a:extLst>
              <a:ext uri="{FF2B5EF4-FFF2-40B4-BE49-F238E27FC236}">
                <a16:creationId xmlns:a16="http://schemas.microsoft.com/office/drawing/2014/main" id="{65752938-77BB-4A95-AC85-EF4AB2D71AE2}"/>
              </a:ext>
            </a:extLst>
          </p:cNvPr>
          <p:cNvSpPr/>
          <p:nvPr/>
        </p:nvSpPr>
        <p:spPr>
          <a:xfrm>
            <a:off x="473660" y="4037714"/>
            <a:ext cx="4679999" cy="342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变分自编码器</a:t>
            </a:r>
            <a:r>
              <a:rPr lang="en-US" altLang="zh-CN" dirty="0"/>
              <a:t>VAE</a:t>
            </a:r>
            <a:endParaRPr lang="zh-CN" altLang="en-US" dirty="0"/>
          </a:p>
        </p:txBody>
      </p:sp>
      <p:sp>
        <p:nvSpPr>
          <p:cNvPr id="74" name="矩形 73">
            <a:extLst>
              <a:ext uri="{FF2B5EF4-FFF2-40B4-BE49-F238E27FC236}">
                <a16:creationId xmlns:a16="http://schemas.microsoft.com/office/drawing/2014/main" id="{5B6305A4-4B8F-4CF1-9948-ECF7704C62FD}"/>
              </a:ext>
            </a:extLst>
          </p:cNvPr>
          <p:cNvSpPr/>
          <p:nvPr/>
        </p:nvSpPr>
        <p:spPr>
          <a:xfrm>
            <a:off x="6332429" y="4061164"/>
            <a:ext cx="4679999" cy="342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对抗生成网络</a:t>
            </a:r>
            <a:r>
              <a:rPr lang="en-US" altLang="zh-CN" dirty="0"/>
              <a:t>GAN</a:t>
            </a:r>
            <a:endParaRPr lang="zh-CN" altLang="en-US" dirty="0"/>
          </a:p>
        </p:txBody>
      </p:sp>
    </p:spTree>
    <p:extLst>
      <p:ext uri="{BB962C8B-B14F-4D97-AF65-F5344CB8AC3E}">
        <p14:creationId xmlns:p14="http://schemas.microsoft.com/office/powerpoint/2010/main" val="24917916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椭圆 36">
            <a:extLst>
              <a:ext uri="{FF2B5EF4-FFF2-40B4-BE49-F238E27FC236}">
                <a16:creationId xmlns:a16="http://schemas.microsoft.com/office/drawing/2014/main" id="{991DEE90-AC86-48BF-A20A-547D360E5EFB}"/>
              </a:ext>
            </a:extLst>
          </p:cNvPr>
          <p:cNvSpPr/>
          <p:nvPr/>
        </p:nvSpPr>
        <p:spPr>
          <a:xfrm>
            <a:off x="3688500" y="2160861"/>
            <a:ext cx="1913392" cy="1913392"/>
          </a:xfrm>
          <a:prstGeom prst="ellipse">
            <a:avLst/>
          </a:prstGeom>
          <a:gradFill flip="none" rotWithShape="1">
            <a:gsLst>
              <a:gs pos="0">
                <a:schemeClr val="accent1">
                  <a:lumMod val="60000"/>
                  <a:lumOff val="40000"/>
                </a:schemeClr>
              </a:gs>
              <a:gs pos="100000">
                <a:schemeClr val="accent1">
                  <a:lumMod val="75000"/>
                  <a:alpha val="67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grpSp>
        <p:nvGrpSpPr>
          <p:cNvPr id="3" name="组合 2"/>
          <p:cNvGrpSpPr/>
          <p:nvPr/>
        </p:nvGrpSpPr>
        <p:grpSpPr>
          <a:xfrm>
            <a:off x="-4632" y="-1"/>
            <a:ext cx="12196631" cy="2127749"/>
            <a:chOff x="-4632" y="-1"/>
            <a:chExt cx="12196631" cy="2127749"/>
          </a:xfrm>
        </p:grpSpPr>
        <p:sp>
          <p:nvSpPr>
            <p:cNvPr id="11" name="任意多边形: 形状 10">
              <a:extLst>
                <a:ext uri="{FF2B5EF4-FFF2-40B4-BE49-F238E27FC236}">
                  <a16:creationId xmlns:a16="http://schemas.microsoft.com/office/drawing/2014/main" id="{4BF7FE7A-4E23-4577-B4D3-19330F26E572}"/>
                </a:ext>
              </a:extLst>
            </p:cNvPr>
            <p:cNvSpPr/>
            <p:nvPr/>
          </p:nvSpPr>
          <p:spPr>
            <a:xfrm flipV="1">
              <a:off x="0" y="1684"/>
              <a:ext cx="12191999" cy="2126064"/>
            </a:xfrm>
            <a:custGeom>
              <a:avLst/>
              <a:gdLst>
                <a:gd name="connsiteX0" fmla="*/ 0 w 12191999"/>
                <a:gd name="connsiteY0" fmla="*/ 2126064 h 2126064"/>
                <a:gd name="connsiteX1" fmla="*/ 12191999 w 12191999"/>
                <a:gd name="connsiteY1" fmla="*/ 2126064 h 2126064"/>
                <a:gd name="connsiteX2" fmla="*/ 0 w 12191999"/>
                <a:gd name="connsiteY2" fmla="*/ 0 h 2126064"/>
              </a:gdLst>
              <a:ahLst/>
              <a:cxnLst>
                <a:cxn ang="0">
                  <a:pos x="connsiteX0" y="connsiteY0"/>
                </a:cxn>
                <a:cxn ang="0">
                  <a:pos x="connsiteX1" y="connsiteY1"/>
                </a:cxn>
                <a:cxn ang="0">
                  <a:pos x="connsiteX2" y="connsiteY2"/>
                </a:cxn>
              </a:cxnLst>
              <a:rect l="l" t="t" r="r" b="b"/>
              <a:pathLst>
                <a:path w="12191999" h="2126064">
                  <a:moveTo>
                    <a:pt x="0" y="2126064"/>
                  </a:moveTo>
                  <a:lnTo>
                    <a:pt x="12191999" y="2126064"/>
                  </a:lnTo>
                  <a:lnTo>
                    <a:pt x="0" y="0"/>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Light"/>
                <a:ea typeface="微软雅黑 Light"/>
                <a:cs typeface="+mn-cs"/>
              </a:endParaRPr>
            </a:p>
          </p:txBody>
        </p:sp>
        <p:sp>
          <p:nvSpPr>
            <p:cNvPr id="20" name="任意多边形: 形状 19">
              <a:extLst>
                <a:ext uri="{FF2B5EF4-FFF2-40B4-BE49-F238E27FC236}">
                  <a16:creationId xmlns:a16="http://schemas.microsoft.com/office/drawing/2014/main" id="{469A4E30-8FC8-4074-B7DA-5077F2AFF989}"/>
                </a:ext>
              </a:extLst>
            </p:cNvPr>
            <p:cNvSpPr/>
            <p:nvPr/>
          </p:nvSpPr>
          <p:spPr>
            <a:xfrm flipV="1">
              <a:off x="-4632" y="-1"/>
              <a:ext cx="845081" cy="695700"/>
            </a:xfrm>
            <a:custGeom>
              <a:avLst/>
              <a:gdLst>
                <a:gd name="connsiteX0" fmla="*/ 0 w 845081"/>
                <a:gd name="connsiteY0" fmla="*/ 695700 h 695700"/>
                <a:gd name="connsiteX1" fmla="*/ 845081 w 845081"/>
                <a:gd name="connsiteY1" fmla="*/ 695700 h 695700"/>
                <a:gd name="connsiteX2" fmla="*/ 0 w 845081"/>
                <a:gd name="connsiteY2" fmla="*/ 0 h 695700"/>
                <a:gd name="connsiteX3" fmla="*/ 0 w 845081"/>
                <a:gd name="connsiteY3" fmla="*/ 695700 h 695700"/>
              </a:gdLst>
              <a:ahLst/>
              <a:cxnLst>
                <a:cxn ang="0">
                  <a:pos x="connsiteX0" y="connsiteY0"/>
                </a:cxn>
                <a:cxn ang="0">
                  <a:pos x="connsiteX1" y="connsiteY1"/>
                </a:cxn>
                <a:cxn ang="0">
                  <a:pos x="connsiteX2" y="connsiteY2"/>
                </a:cxn>
                <a:cxn ang="0">
                  <a:pos x="connsiteX3" y="connsiteY3"/>
                </a:cxn>
              </a:cxnLst>
              <a:rect l="l" t="t" r="r" b="b"/>
              <a:pathLst>
                <a:path w="845081" h="695700">
                  <a:moveTo>
                    <a:pt x="0" y="695700"/>
                  </a:moveTo>
                  <a:lnTo>
                    <a:pt x="845081" y="695700"/>
                  </a:lnTo>
                  <a:lnTo>
                    <a:pt x="0" y="0"/>
                  </a:lnTo>
                  <a:lnTo>
                    <a:pt x="0" y="695700"/>
                  </a:lnTo>
                  <a:close/>
                </a:path>
              </a:pathLst>
            </a:custGeom>
            <a:solidFill>
              <a:srgbClr val="003F8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Light"/>
                <a:ea typeface="微软雅黑 Light"/>
                <a:cs typeface="+mn-cs"/>
              </a:endParaRPr>
            </a:p>
          </p:txBody>
        </p:sp>
        <p:sp>
          <p:nvSpPr>
            <p:cNvPr id="19" name="任意多边形: 形状 18">
              <a:extLst>
                <a:ext uri="{FF2B5EF4-FFF2-40B4-BE49-F238E27FC236}">
                  <a16:creationId xmlns:a16="http://schemas.microsoft.com/office/drawing/2014/main" id="{DED759B5-476E-48A8-882B-A40A31639608}"/>
                </a:ext>
              </a:extLst>
            </p:cNvPr>
            <p:cNvSpPr/>
            <p:nvPr/>
          </p:nvSpPr>
          <p:spPr>
            <a:xfrm flipV="1">
              <a:off x="2569944" y="9621"/>
              <a:ext cx="7642459" cy="1665174"/>
            </a:xfrm>
            <a:custGeom>
              <a:avLst/>
              <a:gdLst>
                <a:gd name="connsiteX0" fmla="*/ 2049597 w 7784426"/>
                <a:gd name="connsiteY0" fmla="*/ 1687299 h 1687299"/>
                <a:gd name="connsiteX1" fmla="*/ 7784426 w 7784426"/>
                <a:gd name="connsiteY1" fmla="*/ 1687299 h 1687299"/>
                <a:gd name="connsiteX2" fmla="*/ 7276089 w 7784426"/>
                <a:gd name="connsiteY2" fmla="*/ 1268818 h 1687299"/>
                <a:gd name="connsiteX3" fmla="*/ 0 w 7784426"/>
                <a:gd name="connsiteY3" fmla="*/ 0 h 1687299"/>
                <a:gd name="connsiteX4" fmla="*/ 2049597 w 7784426"/>
                <a:gd name="connsiteY4" fmla="*/ 1687299 h 1687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84426" h="1687299">
                  <a:moveTo>
                    <a:pt x="2049597" y="1687299"/>
                  </a:moveTo>
                  <a:lnTo>
                    <a:pt x="7784426" y="1687299"/>
                  </a:lnTo>
                  <a:lnTo>
                    <a:pt x="7276089" y="1268818"/>
                  </a:lnTo>
                  <a:lnTo>
                    <a:pt x="0" y="0"/>
                  </a:lnTo>
                  <a:lnTo>
                    <a:pt x="2049597" y="1687299"/>
                  </a:lnTo>
                  <a:close/>
                </a:path>
              </a:pathLst>
            </a:custGeom>
            <a:solidFill>
              <a:srgbClr val="003F8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Light"/>
                <a:ea typeface="微软雅黑 Light"/>
                <a:cs typeface="+mn-cs"/>
              </a:endParaRPr>
            </a:p>
          </p:txBody>
        </p:sp>
      </p:grpSp>
      <p:grpSp>
        <p:nvGrpSpPr>
          <p:cNvPr id="32" name="组合 31">
            <a:extLst>
              <a:ext uri="{FF2B5EF4-FFF2-40B4-BE49-F238E27FC236}">
                <a16:creationId xmlns:a16="http://schemas.microsoft.com/office/drawing/2014/main" id="{33F5A969-260B-422F-B4E3-DA6395C64BC8}"/>
              </a:ext>
            </a:extLst>
          </p:cNvPr>
          <p:cNvGrpSpPr/>
          <p:nvPr/>
        </p:nvGrpSpPr>
        <p:grpSpPr>
          <a:xfrm>
            <a:off x="3154566" y="4130877"/>
            <a:ext cx="5762554" cy="1730828"/>
            <a:chOff x="3102428" y="3755572"/>
            <a:chExt cx="5762554" cy="1730828"/>
          </a:xfrm>
        </p:grpSpPr>
        <p:cxnSp>
          <p:nvCxnSpPr>
            <p:cNvPr id="29" name="直接连接符 28">
              <a:extLst>
                <a:ext uri="{FF2B5EF4-FFF2-40B4-BE49-F238E27FC236}">
                  <a16:creationId xmlns:a16="http://schemas.microsoft.com/office/drawing/2014/main" id="{1C4BCF85-EA4C-493A-8D5E-F0143B36AB23}"/>
                </a:ext>
              </a:extLst>
            </p:cNvPr>
            <p:cNvCxnSpPr/>
            <p:nvPr/>
          </p:nvCxnSpPr>
          <p:spPr>
            <a:xfrm>
              <a:off x="3102428" y="3755572"/>
              <a:ext cx="0" cy="173082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DE808EE5-120D-468C-A69F-51673B365677}"/>
                </a:ext>
              </a:extLst>
            </p:cNvPr>
            <p:cNvCxnSpPr/>
            <p:nvPr/>
          </p:nvCxnSpPr>
          <p:spPr>
            <a:xfrm>
              <a:off x="6019799" y="3755572"/>
              <a:ext cx="0" cy="173082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B4991D69-27EB-405C-B1D3-36EF14D376BD}"/>
                </a:ext>
              </a:extLst>
            </p:cNvPr>
            <p:cNvCxnSpPr/>
            <p:nvPr/>
          </p:nvCxnSpPr>
          <p:spPr>
            <a:xfrm>
              <a:off x="8864982" y="3755572"/>
              <a:ext cx="0" cy="173082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2" name="文本框 41">
            <a:extLst>
              <a:ext uri="{FF2B5EF4-FFF2-40B4-BE49-F238E27FC236}">
                <a16:creationId xmlns:a16="http://schemas.microsoft.com/office/drawing/2014/main" id="{0AE1EE13-9C37-48CE-BDB5-4C39D3287054}"/>
              </a:ext>
            </a:extLst>
          </p:cNvPr>
          <p:cNvSpPr txBox="1"/>
          <p:nvPr/>
        </p:nvSpPr>
        <p:spPr>
          <a:xfrm>
            <a:off x="3452213" y="4724552"/>
            <a:ext cx="238597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微软雅黑"/>
                <a:ea typeface="微软雅黑"/>
                <a:cs typeface="+mn-cs"/>
              </a:rPr>
              <a:t>GAN</a:t>
            </a:r>
            <a:r>
              <a:rPr kumimoji="0" lang="zh-CN" altLang="en-US" sz="2400" b="0" i="0" u="none" strike="noStrike" kern="1200" cap="none" spc="0" normalizeH="0" baseline="0" noProof="0" dirty="0">
                <a:ln>
                  <a:noFill/>
                </a:ln>
                <a:solidFill>
                  <a:prstClr val="black"/>
                </a:solidFill>
                <a:effectLst/>
                <a:uLnTx/>
                <a:uFillTx/>
                <a:latin typeface="微软雅黑"/>
                <a:ea typeface="微软雅黑"/>
                <a:cs typeface="+mn-cs"/>
              </a:rPr>
              <a:t>类型</a:t>
            </a:r>
          </a:p>
        </p:txBody>
      </p:sp>
      <p:sp>
        <p:nvSpPr>
          <p:cNvPr id="48" name="文本框 47">
            <a:extLst>
              <a:ext uri="{FF2B5EF4-FFF2-40B4-BE49-F238E27FC236}">
                <a16:creationId xmlns:a16="http://schemas.microsoft.com/office/drawing/2014/main" id="{2AAA4CA5-B98F-4084-9D8B-791B4F288906}"/>
              </a:ext>
            </a:extLst>
          </p:cNvPr>
          <p:cNvSpPr txBox="1"/>
          <p:nvPr/>
        </p:nvSpPr>
        <p:spPr>
          <a:xfrm>
            <a:off x="9168158" y="4724550"/>
            <a:ext cx="238597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dirty="0">
                <a:solidFill>
                  <a:prstClr val="black"/>
                </a:solidFill>
                <a:latin typeface="微软雅黑"/>
                <a:ea typeface="微软雅黑"/>
              </a:rPr>
              <a:t>总结与思考</a:t>
            </a:r>
            <a:endParaRPr kumimoji="0" lang="zh-CN" altLang="en-US" sz="2400" b="0" i="0" u="none" strike="noStrike" kern="1200" cap="none" spc="0" normalizeH="0" baseline="0" noProof="0" dirty="0">
              <a:ln>
                <a:noFill/>
              </a:ln>
              <a:solidFill>
                <a:prstClr val="black"/>
              </a:solidFill>
              <a:effectLst/>
              <a:uLnTx/>
              <a:uFillTx/>
              <a:latin typeface="微软雅黑"/>
              <a:ea typeface="微软雅黑"/>
              <a:cs typeface="+mn-cs"/>
            </a:endParaRPr>
          </a:p>
        </p:txBody>
      </p:sp>
      <p:grpSp>
        <p:nvGrpSpPr>
          <p:cNvPr id="6" name="组合 5">
            <a:extLst>
              <a:ext uri="{FF2B5EF4-FFF2-40B4-BE49-F238E27FC236}">
                <a16:creationId xmlns:a16="http://schemas.microsoft.com/office/drawing/2014/main" id="{1D8E30C5-F3E2-490B-BA55-8584F5B46F7C}"/>
              </a:ext>
            </a:extLst>
          </p:cNvPr>
          <p:cNvGrpSpPr/>
          <p:nvPr/>
        </p:nvGrpSpPr>
        <p:grpSpPr>
          <a:xfrm>
            <a:off x="6868837" y="2467476"/>
            <a:ext cx="1300163" cy="1300163"/>
            <a:chOff x="6868837" y="2467476"/>
            <a:chExt cx="1300163" cy="1300163"/>
          </a:xfrm>
        </p:grpSpPr>
        <p:sp>
          <p:nvSpPr>
            <p:cNvPr id="24" name="椭圆 23">
              <a:extLst>
                <a:ext uri="{FF2B5EF4-FFF2-40B4-BE49-F238E27FC236}">
                  <a16:creationId xmlns:a16="http://schemas.microsoft.com/office/drawing/2014/main" id="{AA2B2B69-B1A9-43D3-8805-96C7DC83E749}"/>
                </a:ext>
              </a:extLst>
            </p:cNvPr>
            <p:cNvSpPr/>
            <p:nvPr/>
          </p:nvSpPr>
          <p:spPr>
            <a:xfrm>
              <a:off x="6868837" y="2467476"/>
              <a:ext cx="1300163" cy="1300163"/>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pic>
          <p:nvPicPr>
            <p:cNvPr id="50" name="图形 49">
              <a:extLst>
                <a:ext uri="{FF2B5EF4-FFF2-40B4-BE49-F238E27FC236}">
                  <a16:creationId xmlns:a16="http://schemas.microsoft.com/office/drawing/2014/main" id="{9EAAE6D9-A0F7-4A31-8973-72D41173CF7F}"/>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214643" y="2805011"/>
              <a:ext cx="550429" cy="634015"/>
            </a:xfrm>
            <a:prstGeom prst="rect">
              <a:avLst/>
            </a:prstGeom>
          </p:spPr>
        </p:pic>
      </p:grpSp>
      <p:grpSp>
        <p:nvGrpSpPr>
          <p:cNvPr id="5" name="组合 4">
            <a:extLst>
              <a:ext uri="{FF2B5EF4-FFF2-40B4-BE49-F238E27FC236}">
                <a16:creationId xmlns:a16="http://schemas.microsoft.com/office/drawing/2014/main" id="{719C66ED-F764-400B-9AA0-0C65B6AF1012}"/>
              </a:ext>
            </a:extLst>
          </p:cNvPr>
          <p:cNvGrpSpPr/>
          <p:nvPr/>
        </p:nvGrpSpPr>
        <p:grpSpPr>
          <a:xfrm>
            <a:off x="4023002" y="2467476"/>
            <a:ext cx="1300163" cy="1300163"/>
            <a:chOff x="4023002" y="2467476"/>
            <a:chExt cx="1300163" cy="1300163"/>
          </a:xfrm>
        </p:grpSpPr>
        <p:sp>
          <p:nvSpPr>
            <p:cNvPr id="23" name="椭圆 22">
              <a:extLst>
                <a:ext uri="{FF2B5EF4-FFF2-40B4-BE49-F238E27FC236}">
                  <a16:creationId xmlns:a16="http://schemas.microsoft.com/office/drawing/2014/main" id="{FBB762AA-0FA7-4AE0-9706-E0F0F67F6B71}"/>
                </a:ext>
              </a:extLst>
            </p:cNvPr>
            <p:cNvSpPr/>
            <p:nvPr/>
          </p:nvSpPr>
          <p:spPr>
            <a:xfrm>
              <a:off x="4023002" y="2467476"/>
              <a:ext cx="1300163" cy="130016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pic>
          <p:nvPicPr>
            <p:cNvPr id="51" name="图形 50">
              <a:extLst>
                <a:ext uri="{FF2B5EF4-FFF2-40B4-BE49-F238E27FC236}">
                  <a16:creationId xmlns:a16="http://schemas.microsoft.com/office/drawing/2014/main" id="{2EB309AA-217D-47D1-AA4F-092E330BA8D6}"/>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326109" y="2824061"/>
              <a:ext cx="638175" cy="638175"/>
            </a:xfrm>
            <a:prstGeom prst="rect">
              <a:avLst/>
            </a:prstGeom>
          </p:spPr>
        </p:pic>
      </p:grpSp>
      <p:grpSp>
        <p:nvGrpSpPr>
          <p:cNvPr id="2" name="组合 1">
            <a:extLst>
              <a:ext uri="{FF2B5EF4-FFF2-40B4-BE49-F238E27FC236}">
                <a16:creationId xmlns:a16="http://schemas.microsoft.com/office/drawing/2014/main" id="{23751CDC-445C-446B-B799-DBBAD7025BE3}"/>
              </a:ext>
            </a:extLst>
          </p:cNvPr>
          <p:cNvGrpSpPr/>
          <p:nvPr/>
        </p:nvGrpSpPr>
        <p:grpSpPr>
          <a:xfrm>
            <a:off x="1177167" y="2481733"/>
            <a:ext cx="1300163" cy="1300163"/>
            <a:chOff x="1177167" y="2337355"/>
            <a:chExt cx="1300163" cy="1300163"/>
          </a:xfrm>
        </p:grpSpPr>
        <p:sp>
          <p:nvSpPr>
            <p:cNvPr id="22" name="椭圆 21">
              <a:extLst>
                <a:ext uri="{FF2B5EF4-FFF2-40B4-BE49-F238E27FC236}">
                  <a16:creationId xmlns:a16="http://schemas.microsoft.com/office/drawing/2014/main" id="{0773D16B-B26D-4ACE-B82D-19CC3160B13E}"/>
                </a:ext>
              </a:extLst>
            </p:cNvPr>
            <p:cNvSpPr/>
            <p:nvPr/>
          </p:nvSpPr>
          <p:spPr>
            <a:xfrm>
              <a:off x="1177167" y="2337355"/>
              <a:ext cx="1300163" cy="1300163"/>
            </a:xfrm>
            <a:prstGeom prst="ellipse">
              <a:avLst/>
            </a:prstGeom>
            <a:solidFill>
              <a:srgbClr val="003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pic>
          <p:nvPicPr>
            <p:cNvPr id="52" name="图形 51">
              <a:extLst>
                <a:ext uri="{FF2B5EF4-FFF2-40B4-BE49-F238E27FC236}">
                  <a16:creationId xmlns:a16="http://schemas.microsoft.com/office/drawing/2014/main" id="{A3425BBB-6727-4250-85F3-365EA0CB06CD}"/>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482804" y="2708834"/>
              <a:ext cx="633116" cy="634015"/>
            </a:xfrm>
            <a:prstGeom prst="rect">
              <a:avLst/>
            </a:prstGeom>
          </p:spPr>
        </p:pic>
      </p:grpSp>
      <p:grpSp>
        <p:nvGrpSpPr>
          <p:cNvPr id="7" name="组合 6">
            <a:extLst>
              <a:ext uri="{FF2B5EF4-FFF2-40B4-BE49-F238E27FC236}">
                <a16:creationId xmlns:a16="http://schemas.microsoft.com/office/drawing/2014/main" id="{2312F191-3487-48B2-8693-727C14881658}"/>
              </a:ext>
            </a:extLst>
          </p:cNvPr>
          <p:cNvGrpSpPr/>
          <p:nvPr/>
        </p:nvGrpSpPr>
        <p:grpSpPr>
          <a:xfrm>
            <a:off x="9714671" y="2467476"/>
            <a:ext cx="1300163" cy="1300163"/>
            <a:chOff x="9714671" y="2467476"/>
            <a:chExt cx="1300163" cy="1300163"/>
          </a:xfrm>
        </p:grpSpPr>
        <p:sp>
          <p:nvSpPr>
            <p:cNvPr id="25" name="椭圆 24">
              <a:extLst>
                <a:ext uri="{FF2B5EF4-FFF2-40B4-BE49-F238E27FC236}">
                  <a16:creationId xmlns:a16="http://schemas.microsoft.com/office/drawing/2014/main" id="{A282D3A1-3DD5-42E5-BC06-B87C450047C1}"/>
                </a:ext>
              </a:extLst>
            </p:cNvPr>
            <p:cNvSpPr/>
            <p:nvPr/>
          </p:nvSpPr>
          <p:spPr>
            <a:xfrm>
              <a:off x="9714671" y="2467476"/>
              <a:ext cx="1300163" cy="130016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pic>
          <p:nvPicPr>
            <p:cNvPr id="53" name="图形 52">
              <a:extLst>
                <a:ext uri="{FF2B5EF4-FFF2-40B4-BE49-F238E27FC236}">
                  <a16:creationId xmlns:a16="http://schemas.microsoft.com/office/drawing/2014/main" id="{4AD0FFA1-B1D6-4A7A-8CFA-8B13327B51BB}"/>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042056" y="2824061"/>
              <a:ext cx="638175" cy="638175"/>
            </a:xfrm>
            <a:prstGeom prst="rect">
              <a:avLst/>
            </a:prstGeom>
          </p:spPr>
        </p:pic>
      </p:grpSp>
      <p:grpSp>
        <p:nvGrpSpPr>
          <p:cNvPr id="4" name="组合 3">
            <a:extLst>
              <a:ext uri="{FF2B5EF4-FFF2-40B4-BE49-F238E27FC236}">
                <a16:creationId xmlns:a16="http://schemas.microsoft.com/office/drawing/2014/main" id="{01DC4DF9-EDB5-4893-B60E-C4238C656D54}"/>
              </a:ext>
            </a:extLst>
          </p:cNvPr>
          <p:cNvGrpSpPr/>
          <p:nvPr/>
        </p:nvGrpSpPr>
        <p:grpSpPr>
          <a:xfrm>
            <a:off x="7796463" y="964934"/>
            <a:ext cx="4049551" cy="873366"/>
            <a:chOff x="7796463" y="964934"/>
            <a:chExt cx="4049551" cy="873366"/>
          </a:xfrm>
        </p:grpSpPr>
        <p:sp>
          <p:nvSpPr>
            <p:cNvPr id="33" name="文本框 32">
              <a:extLst>
                <a:ext uri="{FF2B5EF4-FFF2-40B4-BE49-F238E27FC236}">
                  <a16:creationId xmlns:a16="http://schemas.microsoft.com/office/drawing/2014/main" id="{C0C6EF5C-9CFE-4CE5-8D09-222CD3D47BEE}"/>
                </a:ext>
              </a:extLst>
            </p:cNvPr>
            <p:cNvSpPr txBox="1"/>
            <p:nvPr/>
          </p:nvSpPr>
          <p:spPr>
            <a:xfrm>
              <a:off x="8212132" y="964934"/>
              <a:ext cx="3633882"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800" b="0" i="0" u="none" strike="noStrike" kern="1200" cap="none" spc="0" normalizeH="0" baseline="0" noProof="0" dirty="0">
                  <a:ln>
                    <a:noFill/>
                  </a:ln>
                  <a:solidFill>
                    <a:srgbClr val="003F87"/>
                  </a:solidFill>
                  <a:effectLst/>
                  <a:uLnTx/>
                  <a:uFillTx/>
                  <a:latin typeface="微软雅黑"/>
                  <a:ea typeface="微软雅黑"/>
                  <a:cs typeface="+mn-cs"/>
                </a:rPr>
                <a:t>CONTENTS</a:t>
              </a:r>
              <a:endParaRPr kumimoji="0" lang="zh-CN" altLang="en-US" sz="4800" b="0" i="0" u="none" strike="noStrike" kern="1200" cap="none" spc="0" normalizeH="0" baseline="0" noProof="0" dirty="0">
                <a:ln>
                  <a:noFill/>
                </a:ln>
                <a:solidFill>
                  <a:srgbClr val="003F87"/>
                </a:solidFill>
                <a:effectLst/>
                <a:uLnTx/>
                <a:uFillTx/>
                <a:latin typeface="微软雅黑"/>
                <a:ea typeface="微软雅黑"/>
                <a:cs typeface="+mn-cs"/>
              </a:endParaRPr>
            </a:p>
          </p:txBody>
        </p:sp>
        <p:cxnSp>
          <p:nvCxnSpPr>
            <p:cNvPr id="35" name="直接连接符 34">
              <a:extLst>
                <a:ext uri="{FF2B5EF4-FFF2-40B4-BE49-F238E27FC236}">
                  <a16:creationId xmlns:a16="http://schemas.microsoft.com/office/drawing/2014/main" id="{729C69BF-F084-41CE-B5C1-0F9FAF53BB2A}"/>
                </a:ext>
              </a:extLst>
            </p:cNvPr>
            <p:cNvCxnSpPr>
              <a:cxnSpLocks/>
            </p:cNvCxnSpPr>
            <p:nvPr/>
          </p:nvCxnSpPr>
          <p:spPr>
            <a:xfrm flipH="1">
              <a:off x="7796463" y="1838300"/>
              <a:ext cx="360786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9625B235-73FE-4F5D-B741-E83D11F671F4}"/>
                </a:ext>
              </a:extLst>
            </p:cNvPr>
            <p:cNvCxnSpPr>
              <a:cxnSpLocks/>
            </p:cNvCxnSpPr>
            <p:nvPr/>
          </p:nvCxnSpPr>
          <p:spPr>
            <a:xfrm flipH="1">
              <a:off x="10544175" y="1762998"/>
              <a:ext cx="86015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4" name="文本框 53">
            <a:extLst>
              <a:ext uri="{FF2B5EF4-FFF2-40B4-BE49-F238E27FC236}">
                <a16:creationId xmlns:a16="http://schemas.microsoft.com/office/drawing/2014/main" id="{B48B34B3-953B-43F7-9936-47B1D78ECC55}"/>
              </a:ext>
            </a:extLst>
          </p:cNvPr>
          <p:cNvSpPr txBox="1"/>
          <p:nvPr/>
        </p:nvSpPr>
        <p:spPr>
          <a:xfrm>
            <a:off x="570102" y="4428336"/>
            <a:ext cx="2385970"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微软雅黑"/>
              <a:ea typeface="微软雅黑"/>
              <a:cs typeface="+mn-cs"/>
            </a:endParaRPr>
          </a:p>
        </p:txBody>
      </p:sp>
      <p:pic>
        <p:nvPicPr>
          <p:cNvPr id="38" name="图形 37">
            <a:extLst>
              <a:ext uri="{FF2B5EF4-FFF2-40B4-BE49-F238E27FC236}">
                <a16:creationId xmlns:a16="http://schemas.microsoft.com/office/drawing/2014/main" id="{6B9C6FAA-6780-431A-910C-738D95B3514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02150" y="365509"/>
            <a:ext cx="2161308" cy="599425"/>
          </a:xfrm>
          <a:prstGeom prst="rect">
            <a:avLst/>
          </a:prstGeom>
        </p:spPr>
      </p:pic>
      <p:sp>
        <p:nvSpPr>
          <p:cNvPr id="40" name="文本框 39">
            <a:extLst>
              <a:ext uri="{FF2B5EF4-FFF2-40B4-BE49-F238E27FC236}">
                <a16:creationId xmlns:a16="http://schemas.microsoft.com/office/drawing/2014/main" id="{04E6415A-080A-412B-A374-19496E675F49}"/>
              </a:ext>
            </a:extLst>
          </p:cNvPr>
          <p:cNvSpPr txBox="1"/>
          <p:nvPr/>
        </p:nvSpPr>
        <p:spPr>
          <a:xfrm>
            <a:off x="631954" y="4724552"/>
            <a:ext cx="238597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微软雅黑"/>
                <a:ea typeface="微软雅黑"/>
                <a:cs typeface="+mn-cs"/>
              </a:rPr>
              <a:t>发展过程</a:t>
            </a:r>
          </a:p>
        </p:txBody>
      </p:sp>
      <p:sp>
        <p:nvSpPr>
          <p:cNvPr id="56" name="文本框 55">
            <a:extLst>
              <a:ext uri="{FF2B5EF4-FFF2-40B4-BE49-F238E27FC236}">
                <a16:creationId xmlns:a16="http://schemas.microsoft.com/office/drawing/2014/main" id="{63535199-513C-49B0-8A6A-926E3D04FA24}"/>
              </a:ext>
            </a:extLst>
          </p:cNvPr>
          <p:cNvSpPr txBox="1"/>
          <p:nvPr/>
        </p:nvSpPr>
        <p:spPr>
          <a:xfrm>
            <a:off x="6340470" y="4724551"/>
            <a:ext cx="238597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微软雅黑"/>
                <a:ea typeface="微软雅黑"/>
                <a:cs typeface="+mn-cs"/>
              </a:rPr>
              <a:t>CTGAN</a:t>
            </a:r>
            <a:endParaRPr kumimoji="0" lang="zh-CN" altLang="en-US" sz="2400" b="0" i="0" u="none" strike="noStrike" kern="1200" cap="none" spc="0" normalizeH="0" baseline="0" noProof="0" dirty="0">
              <a:ln>
                <a:noFill/>
              </a:ln>
              <a:solidFill>
                <a:prstClr val="black"/>
              </a:solidFill>
              <a:effectLst/>
              <a:uLnTx/>
              <a:uFillTx/>
              <a:latin typeface="微软雅黑"/>
              <a:ea typeface="微软雅黑"/>
              <a:cs typeface="+mn-cs"/>
            </a:endParaRPr>
          </a:p>
        </p:txBody>
      </p:sp>
    </p:spTree>
    <p:extLst>
      <p:ext uri="{BB962C8B-B14F-4D97-AF65-F5344CB8AC3E}">
        <p14:creationId xmlns:p14="http://schemas.microsoft.com/office/powerpoint/2010/main" val="3588815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5D9D6A9-337F-42A2-BCCA-8F338829F0A3}"/>
              </a:ext>
            </a:extLst>
          </p:cNvPr>
          <p:cNvSpPr/>
          <p:nvPr/>
        </p:nvSpPr>
        <p:spPr>
          <a:xfrm>
            <a:off x="1" y="481263"/>
            <a:ext cx="12192000" cy="72000"/>
          </a:xfrm>
          <a:prstGeom prst="rect">
            <a:avLst/>
          </a:prstGeom>
          <a:solidFill>
            <a:srgbClr val="003F87">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82090"/>
              </a:solidFill>
              <a:effectLst/>
              <a:uLnTx/>
              <a:uFillTx/>
              <a:latin typeface="微软雅黑 Light"/>
              <a:ea typeface="微软雅黑 Light"/>
              <a:cs typeface="+mn-cs"/>
            </a:endParaRPr>
          </a:p>
        </p:txBody>
      </p:sp>
      <p:grpSp>
        <p:nvGrpSpPr>
          <p:cNvPr id="13" name="组合 12">
            <a:extLst>
              <a:ext uri="{FF2B5EF4-FFF2-40B4-BE49-F238E27FC236}">
                <a16:creationId xmlns:a16="http://schemas.microsoft.com/office/drawing/2014/main" id="{D1242031-CB56-41DD-AAE7-EC8A25A19202}"/>
              </a:ext>
            </a:extLst>
          </p:cNvPr>
          <p:cNvGrpSpPr/>
          <p:nvPr/>
        </p:nvGrpSpPr>
        <p:grpSpPr>
          <a:xfrm>
            <a:off x="5416649" y="75910"/>
            <a:ext cx="6301683" cy="370005"/>
            <a:chOff x="5416649" y="75910"/>
            <a:chExt cx="6301683" cy="370005"/>
          </a:xfrm>
        </p:grpSpPr>
        <p:sp>
          <p:nvSpPr>
            <p:cNvPr id="12" name="矩形 11">
              <a:extLst>
                <a:ext uri="{FF2B5EF4-FFF2-40B4-BE49-F238E27FC236}">
                  <a16:creationId xmlns:a16="http://schemas.microsoft.com/office/drawing/2014/main" id="{A60EDE69-3FC4-463D-B8FA-519ED3E54C8E}"/>
                </a:ext>
              </a:extLst>
            </p:cNvPr>
            <p:cNvSpPr/>
            <p:nvPr/>
          </p:nvSpPr>
          <p:spPr>
            <a:xfrm>
              <a:off x="6956438" y="75910"/>
              <a:ext cx="1311305" cy="308804"/>
            </a:xfrm>
            <a:prstGeom prst="rect">
              <a:avLst/>
            </a:prstGeom>
            <a:solidFill>
              <a:srgbClr val="003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sp>
          <p:nvSpPr>
            <p:cNvPr id="5" name="文本框 4">
              <a:extLst>
                <a:ext uri="{FF2B5EF4-FFF2-40B4-BE49-F238E27FC236}">
                  <a16:creationId xmlns:a16="http://schemas.microsoft.com/office/drawing/2014/main" id="{1A7EBC06-2FA6-4594-A4DE-6F2E9D86D04C}"/>
                </a:ext>
              </a:extLst>
            </p:cNvPr>
            <p:cNvSpPr txBox="1"/>
            <p:nvPr/>
          </p:nvSpPr>
          <p:spPr>
            <a:xfrm>
              <a:off x="7046607" y="76583"/>
              <a:ext cx="11309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bg1"/>
                  </a:solidFill>
                  <a:latin typeface="微软雅黑 Light"/>
                  <a:ea typeface="微软雅黑 Light"/>
                </a:rPr>
                <a:t>GAN</a:t>
              </a:r>
              <a:endParaRPr kumimoji="0" lang="zh-CN" altLang="en-US" sz="1800" b="0" i="0" u="none" strike="noStrike" kern="1200" cap="none" spc="0" normalizeH="0" baseline="0" noProof="0" dirty="0">
                <a:ln>
                  <a:noFill/>
                </a:ln>
                <a:solidFill>
                  <a:schemeClr val="bg1"/>
                </a:solidFill>
                <a:effectLst/>
                <a:uLnTx/>
                <a:uFillTx/>
                <a:latin typeface="微软雅黑 Light"/>
                <a:ea typeface="微软雅黑 Light"/>
              </a:endParaRPr>
            </a:p>
          </p:txBody>
        </p:sp>
        <p:sp>
          <p:nvSpPr>
            <p:cNvPr id="4" name="文本框 3">
              <a:extLst>
                <a:ext uri="{FF2B5EF4-FFF2-40B4-BE49-F238E27FC236}">
                  <a16:creationId xmlns:a16="http://schemas.microsoft.com/office/drawing/2014/main" id="{5292CB5F-A4AC-47BE-A81F-1C3B2B8C443B}"/>
                </a:ext>
              </a:extLst>
            </p:cNvPr>
            <p:cNvSpPr txBox="1"/>
            <p:nvPr/>
          </p:nvSpPr>
          <p:spPr>
            <a:xfrm>
              <a:off x="5416649" y="76583"/>
              <a:ext cx="11309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003F87"/>
                  </a:solidFill>
                  <a:latin typeface="微软雅黑 Light"/>
                  <a:ea typeface="微软雅黑 Light"/>
                </a:rPr>
                <a:t>发展过程</a:t>
              </a:r>
              <a:endParaRPr kumimoji="0" lang="zh-CN" altLang="en-US" sz="1800" b="0" i="0" u="none" strike="noStrike" kern="1200" cap="none" spc="0" normalizeH="0" baseline="0" noProof="0" dirty="0">
                <a:ln>
                  <a:noFill/>
                </a:ln>
                <a:solidFill>
                  <a:srgbClr val="003F87"/>
                </a:solidFill>
                <a:effectLst/>
                <a:uLnTx/>
                <a:uFillTx/>
                <a:latin typeface="微软雅黑 Light"/>
                <a:ea typeface="微软雅黑 Light"/>
              </a:endParaRPr>
            </a:p>
          </p:txBody>
        </p:sp>
        <p:sp>
          <p:nvSpPr>
            <p:cNvPr id="6" name="文本框 5">
              <a:extLst>
                <a:ext uri="{FF2B5EF4-FFF2-40B4-BE49-F238E27FC236}">
                  <a16:creationId xmlns:a16="http://schemas.microsoft.com/office/drawing/2014/main" id="{E2F59C7A-835A-4B02-B426-030D8A682C65}"/>
                </a:ext>
              </a:extLst>
            </p:cNvPr>
            <p:cNvSpPr txBox="1"/>
            <p:nvPr/>
          </p:nvSpPr>
          <p:spPr>
            <a:xfrm>
              <a:off x="8676565" y="76583"/>
              <a:ext cx="11309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rgbClr val="003F87"/>
                  </a:solidFill>
                  <a:latin typeface="微软雅黑 Light"/>
                  <a:ea typeface="微软雅黑 Light"/>
                </a:rPr>
                <a:t>CTGAN</a:t>
              </a:r>
              <a:endParaRPr kumimoji="0" lang="zh-CN" altLang="en-US" sz="1800" b="0" i="0" u="none" strike="noStrike" kern="1200" cap="none" spc="0" normalizeH="0" baseline="0" noProof="0" dirty="0">
                <a:ln>
                  <a:noFill/>
                </a:ln>
                <a:solidFill>
                  <a:srgbClr val="003F87"/>
                </a:solidFill>
                <a:effectLst/>
                <a:uLnTx/>
                <a:uFillTx/>
                <a:latin typeface="微软雅黑 Light"/>
                <a:ea typeface="微软雅黑 Light"/>
                <a:cs typeface="+mn-cs"/>
              </a:endParaRPr>
            </a:p>
          </p:txBody>
        </p:sp>
        <p:sp>
          <p:nvSpPr>
            <p:cNvPr id="7" name="文本框 6">
              <a:extLst>
                <a:ext uri="{FF2B5EF4-FFF2-40B4-BE49-F238E27FC236}">
                  <a16:creationId xmlns:a16="http://schemas.microsoft.com/office/drawing/2014/main" id="{CB8930FC-3020-4855-9D38-CAB435C012DE}"/>
                </a:ext>
              </a:extLst>
            </p:cNvPr>
            <p:cNvSpPr txBox="1"/>
            <p:nvPr/>
          </p:nvSpPr>
          <p:spPr>
            <a:xfrm>
              <a:off x="10306523" y="76583"/>
              <a:ext cx="141180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3F87"/>
                  </a:solidFill>
                  <a:effectLst/>
                  <a:uLnTx/>
                  <a:uFillTx/>
                  <a:latin typeface="微软雅黑 Light"/>
                  <a:ea typeface="微软雅黑 Light"/>
                  <a:cs typeface="+mn-cs"/>
                </a:rPr>
                <a:t>总结与思考</a:t>
              </a:r>
            </a:p>
          </p:txBody>
        </p:sp>
        <p:grpSp>
          <p:nvGrpSpPr>
            <p:cNvPr id="8" name="组合 7">
              <a:extLst>
                <a:ext uri="{FF2B5EF4-FFF2-40B4-BE49-F238E27FC236}">
                  <a16:creationId xmlns:a16="http://schemas.microsoft.com/office/drawing/2014/main" id="{31C43EC3-F619-4D86-967C-43CACE30D1FB}"/>
                </a:ext>
              </a:extLst>
            </p:cNvPr>
            <p:cNvGrpSpPr/>
            <p:nvPr/>
          </p:nvGrpSpPr>
          <p:grpSpPr>
            <a:xfrm>
              <a:off x="6791404" y="159486"/>
              <a:ext cx="3296092" cy="209852"/>
              <a:chOff x="6358270" y="115009"/>
              <a:chExt cx="3296092" cy="307494"/>
            </a:xfrm>
          </p:grpSpPr>
          <p:cxnSp>
            <p:nvCxnSpPr>
              <p:cNvPr id="9" name="直接连接符 8">
                <a:extLst>
                  <a:ext uri="{FF2B5EF4-FFF2-40B4-BE49-F238E27FC236}">
                    <a16:creationId xmlns:a16="http://schemas.microsoft.com/office/drawing/2014/main" id="{2D86E86F-7BA5-4521-AB60-58BA96EA6A5B}"/>
                  </a:ext>
                </a:extLst>
              </p:cNvPr>
              <p:cNvCxnSpPr>
                <a:cxnSpLocks/>
              </p:cNvCxnSpPr>
              <p:nvPr/>
            </p:nvCxnSpPr>
            <p:spPr>
              <a:xfrm>
                <a:off x="6358270" y="115009"/>
                <a:ext cx="0" cy="30749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48787DB2-D46F-4A23-8391-FD6D91652166}"/>
                  </a:ext>
                </a:extLst>
              </p:cNvPr>
              <p:cNvCxnSpPr>
                <a:cxnSpLocks/>
              </p:cNvCxnSpPr>
              <p:nvPr/>
            </p:nvCxnSpPr>
            <p:spPr>
              <a:xfrm>
                <a:off x="8006316" y="115009"/>
                <a:ext cx="0" cy="30749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6035BB35-CC45-4A60-944C-0CB81EABC46A}"/>
                  </a:ext>
                </a:extLst>
              </p:cNvPr>
              <p:cNvCxnSpPr>
                <a:cxnSpLocks/>
              </p:cNvCxnSpPr>
              <p:nvPr/>
            </p:nvCxnSpPr>
            <p:spPr>
              <a:xfrm>
                <a:off x="9654362" y="115009"/>
                <a:ext cx="0" cy="30749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pic>
        <p:nvPicPr>
          <p:cNvPr id="41" name="图形 40">
            <a:extLst>
              <a:ext uri="{FF2B5EF4-FFF2-40B4-BE49-F238E27FC236}">
                <a16:creationId xmlns:a16="http://schemas.microsoft.com/office/drawing/2014/main" id="{7397B797-408E-4ED0-BE39-413E49E1A3A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73661" y="98896"/>
            <a:ext cx="1251222" cy="347019"/>
          </a:xfrm>
          <a:prstGeom prst="rect">
            <a:avLst/>
          </a:prstGeom>
        </p:spPr>
      </p:pic>
      <p:pic>
        <p:nvPicPr>
          <p:cNvPr id="3" name="图片 2">
            <a:extLst>
              <a:ext uri="{FF2B5EF4-FFF2-40B4-BE49-F238E27FC236}">
                <a16:creationId xmlns:a16="http://schemas.microsoft.com/office/drawing/2014/main" id="{AE4E2C5A-6C1D-4106-BACB-66F2D8C9119B}"/>
              </a:ext>
            </a:extLst>
          </p:cNvPr>
          <p:cNvPicPr>
            <a:picLocks noChangeAspect="1"/>
          </p:cNvPicPr>
          <p:nvPr/>
        </p:nvPicPr>
        <p:blipFill>
          <a:blip r:embed="rId6"/>
          <a:stretch>
            <a:fillRect/>
          </a:stretch>
        </p:blipFill>
        <p:spPr>
          <a:xfrm>
            <a:off x="6956438" y="1589428"/>
            <a:ext cx="4686300" cy="2400300"/>
          </a:xfrm>
          <a:prstGeom prst="rect">
            <a:avLst/>
          </a:prstGeom>
        </p:spPr>
      </p:pic>
      <p:pic>
        <p:nvPicPr>
          <p:cNvPr id="14" name="图片 13">
            <a:extLst>
              <a:ext uri="{FF2B5EF4-FFF2-40B4-BE49-F238E27FC236}">
                <a16:creationId xmlns:a16="http://schemas.microsoft.com/office/drawing/2014/main" id="{D8BBD934-8D70-4056-969A-8E64342BC7FB}"/>
              </a:ext>
            </a:extLst>
          </p:cNvPr>
          <p:cNvPicPr>
            <a:picLocks noChangeAspect="1"/>
          </p:cNvPicPr>
          <p:nvPr/>
        </p:nvPicPr>
        <p:blipFill>
          <a:blip r:embed="rId7"/>
          <a:stretch>
            <a:fillRect/>
          </a:stretch>
        </p:blipFill>
        <p:spPr>
          <a:xfrm>
            <a:off x="120989" y="1589428"/>
            <a:ext cx="6454775" cy="4052402"/>
          </a:xfrm>
          <a:prstGeom prst="rect">
            <a:avLst/>
          </a:prstGeom>
        </p:spPr>
      </p:pic>
      <p:grpSp>
        <p:nvGrpSpPr>
          <p:cNvPr id="18" name="组合 17">
            <a:extLst>
              <a:ext uri="{FF2B5EF4-FFF2-40B4-BE49-F238E27FC236}">
                <a16:creationId xmlns:a16="http://schemas.microsoft.com/office/drawing/2014/main" id="{4EE3C995-FAEE-4AC8-9F4C-76FC9AD352D5}"/>
              </a:ext>
            </a:extLst>
          </p:cNvPr>
          <p:cNvGrpSpPr/>
          <p:nvPr/>
        </p:nvGrpSpPr>
        <p:grpSpPr>
          <a:xfrm>
            <a:off x="6956438" y="4227330"/>
            <a:ext cx="5114573" cy="1422583"/>
            <a:chOff x="6956438" y="4227330"/>
            <a:chExt cx="5114573" cy="1422583"/>
          </a:xfrm>
        </p:grpSpPr>
        <p:graphicFrame>
          <p:nvGraphicFramePr>
            <p:cNvPr id="15" name="对象 14">
              <a:extLst>
                <a:ext uri="{FF2B5EF4-FFF2-40B4-BE49-F238E27FC236}">
                  <a16:creationId xmlns:a16="http://schemas.microsoft.com/office/drawing/2014/main" id="{F43C085A-1DCC-41A2-A186-8A8739DC00B5}"/>
                </a:ext>
              </a:extLst>
            </p:cNvPr>
            <p:cNvGraphicFramePr>
              <a:graphicFrameLocks noChangeAspect="1"/>
            </p:cNvGraphicFramePr>
            <p:nvPr>
              <p:extLst>
                <p:ext uri="{D42A27DB-BD31-4B8C-83A1-F6EECF244321}">
                  <p14:modId xmlns:p14="http://schemas.microsoft.com/office/powerpoint/2010/main" val="3034208834"/>
                </p:ext>
              </p:extLst>
            </p:nvPr>
          </p:nvGraphicFramePr>
          <p:xfrm>
            <a:off x="6956438" y="4227330"/>
            <a:ext cx="5114573" cy="430701"/>
          </p:xfrm>
          <a:graphic>
            <a:graphicData uri="http://schemas.openxmlformats.org/presentationml/2006/ole">
              <mc:AlternateContent xmlns:mc="http://schemas.openxmlformats.org/markup-compatibility/2006">
                <mc:Choice xmlns:v="urn:schemas-microsoft-com:vml" Requires="v">
                  <p:oleObj spid="_x0000_s2078" name="Equation" r:id="rId8" imgW="3619440" imgH="304560" progId="Equation.DSMT4">
                    <p:embed/>
                  </p:oleObj>
                </mc:Choice>
                <mc:Fallback>
                  <p:oleObj name="Equation" r:id="rId8" imgW="3619440" imgH="304560" progId="Equation.DSMT4">
                    <p:embed/>
                    <p:pic>
                      <p:nvPicPr>
                        <p:cNvPr id="0" name=""/>
                        <p:cNvPicPr/>
                        <p:nvPr/>
                      </p:nvPicPr>
                      <p:blipFill>
                        <a:blip r:embed="rId9"/>
                        <a:stretch>
                          <a:fillRect/>
                        </a:stretch>
                      </p:blipFill>
                      <p:spPr>
                        <a:xfrm>
                          <a:off x="6956438" y="4227330"/>
                          <a:ext cx="5114573" cy="430701"/>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D78CDC59-B059-42F3-8151-C3E320318169}"/>
                </a:ext>
              </a:extLst>
            </p:cNvPr>
            <p:cNvGraphicFramePr>
              <a:graphicFrameLocks noChangeAspect="1"/>
            </p:cNvGraphicFramePr>
            <p:nvPr>
              <p:extLst>
                <p:ext uri="{D42A27DB-BD31-4B8C-83A1-F6EECF244321}">
                  <p14:modId xmlns:p14="http://schemas.microsoft.com/office/powerpoint/2010/main" val="3806027620"/>
                </p:ext>
              </p:extLst>
            </p:nvPr>
          </p:nvGraphicFramePr>
          <p:xfrm>
            <a:off x="6981825" y="4876800"/>
            <a:ext cx="3938588" cy="773113"/>
          </p:xfrm>
          <a:graphic>
            <a:graphicData uri="http://schemas.openxmlformats.org/presentationml/2006/ole">
              <mc:AlternateContent xmlns:mc="http://schemas.openxmlformats.org/markup-compatibility/2006">
                <mc:Choice xmlns:v="urn:schemas-microsoft-com:vml" Requires="v">
                  <p:oleObj spid="_x0000_s2079" name="Equation" r:id="rId10" imgW="2590560" imgH="507960" progId="Equation.DSMT4">
                    <p:embed/>
                  </p:oleObj>
                </mc:Choice>
                <mc:Fallback>
                  <p:oleObj name="Equation" r:id="rId10" imgW="2590560" imgH="507960" progId="Equation.DSMT4">
                    <p:embed/>
                    <p:pic>
                      <p:nvPicPr>
                        <p:cNvPr id="0" name=""/>
                        <p:cNvPicPr/>
                        <p:nvPr/>
                      </p:nvPicPr>
                      <p:blipFill>
                        <a:blip r:embed="rId11"/>
                        <a:stretch>
                          <a:fillRect/>
                        </a:stretch>
                      </p:blipFill>
                      <p:spPr>
                        <a:xfrm>
                          <a:off x="6981825" y="4876800"/>
                          <a:ext cx="3938588" cy="773113"/>
                        </a:xfrm>
                        <a:prstGeom prst="rect">
                          <a:avLst/>
                        </a:prstGeom>
                      </p:spPr>
                    </p:pic>
                  </p:oleObj>
                </mc:Fallback>
              </mc:AlternateContent>
            </a:graphicData>
          </a:graphic>
        </p:graphicFrame>
      </p:grpSp>
    </p:spTree>
    <p:extLst>
      <p:ext uri="{BB962C8B-B14F-4D97-AF65-F5344CB8AC3E}">
        <p14:creationId xmlns:p14="http://schemas.microsoft.com/office/powerpoint/2010/main" val="4029026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5D9D6A9-337F-42A2-BCCA-8F338829F0A3}"/>
              </a:ext>
            </a:extLst>
          </p:cNvPr>
          <p:cNvSpPr/>
          <p:nvPr/>
        </p:nvSpPr>
        <p:spPr>
          <a:xfrm>
            <a:off x="1" y="481263"/>
            <a:ext cx="12192000" cy="72000"/>
          </a:xfrm>
          <a:prstGeom prst="rect">
            <a:avLst/>
          </a:prstGeom>
          <a:solidFill>
            <a:srgbClr val="003F87">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82090"/>
              </a:solidFill>
              <a:effectLst/>
              <a:uLnTx/>
              <a:uFillTx/>
              <a:latin typeface="微软雅黑 Light"/>
              <a:ea typeface="微软雅黑 Light"/>
              <a:cs typeface="+mn-cs"/>
            </a:endParaRPr>
          </a:p>
        </p:txBody>
      </p:sp>
      <p:grpSp>
        <p:nvGrpSpPr>
          <p:cNvPr id="13" name="组合 12">
            <a:extLst>
              <a:ext uri="{FF2B5EF4-FFF2-40B4-BE49-F238E27FC236}">
                <a16:creationId xmlns:a16="http://schemas.microsoft.com/office/drawing/2014/main" id="{D1242031-CB56-41DD-AAE7-EC8A25A19202}"/>
              </a:ext>
            </a:extLst>
          </p:cNvPr>
          <p:cNvGrpSpPr/>
          <p:nvPr/>
        </p:nvGrpSpPr>
        <p:grpSpPr>
          <a:xfrm>
            <a:off x="5416649" y="75910"/>
            <a:ext cx="6301683" cy="370005"/>
            <a:chOff x="5416649" y="75910"/>
            <a:chExt cx="6301683" cy="370005"/>
          </a:xfrm>
        </p:grpSpPr>
        <p:sp>
          <p:nvSpPr>
            <p:cNvPr id="12" name="矩形 11">
              <a:extLst>
                <a:ext uri="{FF2B5EF4-FFF2-40B4-BE49-F238E27FC236}">
                  <a16:creationId xmlns:a16="http://schemas.microsoft.com/office/drawing/2014/main" id="{A60EDE69-3FC4-463D-B8FA-519ED3E54C8E}"/>
                </a:ext>
              </a:extLst>
            </p:cNvPr>
            <p:cNvSpPr/>
            <p:nvPr/>
          </p:nvSpPr>
          <p:spPr>
            <a:xfrm>
              <a:off x="6956438" y="75910"/>
              <a:ext cx="1311305" cy="308804"/>
            </a:xfrm>
            <a:prstGeom prst="rect">
              <a:avLst/>
            </a:prstGeom>
            <a:solidFill>
              <a:srgbClr val="003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sp>
          <p:nvSpPr>
            <p:cNvPr id="5" name="文本框 4">
              <a:extLst>
                <a:ext uri="{FF2B5EF4-FFF2-40B4-BE49-F238E27FC236}">
                  <a16:creationId xmlns:a16="http://schemas.microsoft.com/office/drawing/2014/main" id="{1A7EBC06-2FA6-4594-A4DE-6F2E9D86D04C}"/>
                </a:ext>
              </a:extLst>
            </p:cNvPr>
            <p:cNvSpPr txBox="1"/>
            <p:nvPr/>
          </p:nvSpPr>
          <p:spPr>
            <a:xfrm>
              <a:off x="7046607" y="76583"/>
              <a:ext cx="11309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bg1"/>
                  </a:solidFill>
                  <a:latin typeface="微软雅黑 Light"/>
                  <a:ea typeface="微软雅黑 Light"/>
                </a:rPr>
                <a:t>GAN</a:t>
              </a:r>
              <a:endParaRPr kumimoji="0" lang="zh-CN" altLang="en-US" sz="1800" b="0" i="0" u="none" strike="noStrike" kern="1200" cap="none" spc="0" normalizeH="0" baseline="0" noProof="0" dirty="0">
                <a:ln>
                  <a:noFill/>
                </a:ln>
                <a:solidFill>
                  <a:schemeClr val="bg1"/>
                </a:solidFill>
                <a:effectLst/>
                <a:uLnTx/>
                <a:uFillTx/>
                <a:latin typeface="微软雅黑 Light"/>
                <a:ea typeface="微软雅黑 Light"/>
              </a:endParaRPr>
            </a:p>
          </p:txBody>
        </p:sp>
        <p:sp>
          <p:nvSpPr>
            <p:cNvPr id="4" name="文本框 3">
              <a:extLst>
                <a:ext uri="{FF2B5EF4-FFF2-40B4-BE49-F238E27FC236}">
                  <a16:creationId xmlns:a16="http://schemas.microsoft.com/office/drawing/2014/main" id="{5292CB5F-A4AC-47BE-A81F-1C3B2B8C443B}"/>
                </a:ext>
              </a:extLst>
            </p:cNvPr>
            <p:cNvSpPr txBox="1"/>
            <p:nvPr/>
          </p:nvSpPr>
          <p:spPr>
            <a:xfrm>
              <a:off x="5416649" y="76583"/>
              <a:ext cx="11309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003F87"/>
                  </a:solidFill>
                  <a:latin typeface="微软雅黑 Light"/>
                  <a:ea typeface="微软雅黑 Light"/>
                </a:rPr>
                <a:t>发展过程</a:t>
              </a:r>
              <a:endParaRPr kumimoji="0" lang="zh-CN" altLang="en-US" sz="1800" b="0" i="0" u="none" strike="noStrike" kern="1200" cap="none" spc="0" normalizeH="0" baseline="0" noProof="0" dirty="0">
                <a:ln>
                  <a:noFill/>
                </a:ln>
                <a:solidFill>
                  <a:srgbClr val="003F87"/>
                </a:solidFill>
                <a:effectLst/>
                <a:uLnTx/>
                <a:uFillTx/>
                <a:latin typeface="微软雅黑 Light"/>
                <a:ea typeface="微软雅黑 Light"/>
              </a:endParaRPr>
            </a:p>
          </p:txBody>
        </p:sp>
        <p:sp>
          <p:nvSpPr>
            <p:cNvPr id="6" name="文本框 5">
              <a:extLst>
                <a:ext uri="{FF2B5EF4-FFF2-40B4-BE49-F238E27FC236}">
                  <a16:creationId xmlns:a16="http://schemas.microsoft.com/office/drawing/2014/main" id="{E2F59C7A-835A-4B02-B426-030D8A682C65}"/>
                </a:ext>
              </a:extLst>
            </p:cNvPr>
            <p:cNvSpPr txBox="1"/>
            <p:nvPr/>
          </p:nvSpPr>
          <p:spPr>
            <a:xfrm>
              <a:off x="8676565" y="76583"/>
              <a:ext cx="11309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rgbClr val="003F87"/>
                  </a:solidFill>
                  <a:latin typeface="微软雅黑 Light"/>
                  <a:ea typeface="微软雅黑 Light"/>
                </a:rPr>
                <a:t>CTGAN</a:t>
              </a:r>
              <a:endParaRPr kumimoji="0" lang="zh-CN" altLang="en-US" sz="1800" b="0" i="0" u="none" strike="noStrike" kern="1200" cap="none" spc="0" normalizeH="0" baseline="0" noProof="0" dirty="0">
                <a:ln>
                  <a:noFill/>
                </a:ln>
                <a:solidFill>
                  <a:srgbClr val="003F87"/>
                </a:solidFill>
                <a:effectLst/>
                <a:uLnTx/>
                <a:uFillTx/>
                <a:latin typeface="微软雅黑 Light"/>
                <a:ea typeface="微软雅黑 Light"/>
                <a:cs typeface="+mn-cs"/>
              </a:endParaRPr>
            </a:p>
          </p:txBody>
        </p:sp>
        <p:sp>
          <p:nvSpPr>
            <p:cNvPr id="7" name="文本框 6">
              <a:extLst>
                <a:ext uri="{FF2B5EF4-FFF2-40B4-BE49-F238E27FC236}">
                  <a16:creationId xmlns:a16="http://schemas.microsoft.com/office/drawing/2014/main" id="{CB8930FC-3020-4855-9D38-CAB435C012DE}"/>
                </a:ext>
              </a:extLst>
            </p:cNvPr>
            <p:cNvSpPr txBox="1"/>
            <p:nvPr/>
          </p:nvSpPr>
          <p:spPr>
            <a:xfrm>
              <a:off x="10306523" y="76583"/>
              <a:ext cx="141180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3F87"/>
                  </a:solidFill>
                  <a:effectLst/>
                  <a:uLnTx/>
                  <a:uFillTx/>
                  <a:latin typeface="微软雅黑 Light"/>
                  <a:ea typeface="微软雅黑 Light"/>
                  <a:cs typeface="+mn-cs"/>
                </a:rPr>
                <a:t>总结与思考</a:t>
              </a:r>
            </a:p>
          </p:txBody>
        </p:sp>
        <p:grpSp>
          <p:nvGrpSpPr>
            <p:cNvPr id="8" name="组合 7">
              <a:extLst>
                <a:ext uri="{FF2B5EF4-FFF2-40B4-BE49-F238E27FC236}">
                  <a16:creationId xmlns:a16="http://schemas.microsoft.com/office/drawing/2014/main" id="{31C43EC3-F619-4D86-967C-43CACE30D1FB}"/>
                </a:ext>
              </a:extLst>
            </p:cNvPr>
            <p:cNvGrpSpPr/>
            <p:nvPr/>
          </p:nvGrpSpPr>
          <p:grpSpPr>
            <a:xfrm>
              <a:off x="6791404" y="159486"/>
              <a:ext cx="3296092" cy="209852"/>
              <a:chOff x="6358270" y="115009"/>
              <a:chExt cx="3296092" cy="307494"/>
            </a:xfrm>
          </p:grpSpPr>
          <p:cxnSp>
            <p:nvCxnSpPr>
              <p:cNvPr id="9" name="直接连接符 8">
                <a:extLst>
                  <a:ext uri="{FF2B5EF4-FFF2-40B4-BE49-F238E27FC236}">
                    <a16:creationId xmlns:a16="http://schemas.microsoft.com/office/drawing/2014/main" id="{2D86E86F-7BA5-4521-AB60-58BA96EA6A5B}"/>
                  </a:ext>
                </a:extLst>
              </p:cNvPr>
              <p:cNvCxnSpPr>
                <a:cxnSpLocks/>
              </p:cNvCxnSpPr>
              <p:nvPr/>
            </p:nvCxnSpPr>
            <p:spPr>
              <a:xfrm>
                <a:off x="6358270" y="115009"/>
                <a:ext cx="0" cy="30749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48787DB2-D46F-4A23-8391-FD6D91652166}"/>
                  </a:ext>
                </a:extLst>
              </p:cNvPr>
              <p:cNvCxnSpPr>
                <a:cxnSpLocks/>
              </p:cNvCxnSpPr>
              <p:nvPr/>
            </p:nvCxnSpPr>
            <p:spPr>
              <a:xfrm>
                <a:off x="8006316" y="115009"/>
                <a:ext cx="0" cy="30749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6035BB35-CC45-4A60-944C-0CB81EABC46A}"/>
                  </a:ext>
                </a:extLst>
              </p:cNvPr>
              <p:cNvCxnSpPr>
                <a:cxnSpLocks/>
              </p:cNvCxnSpPr>
              <p:nvPr/>
            </p:nvCxnSpPr>
            <p:spPr>
              <a:xfrm>
                <a:off x="9654362" y="115009"/>
                <a:ext cx="0" cy="30749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pic>
        <p:nvPicPr>
          <p:cNvPr id="41" name="图形 40">
            <a:extLst>
              <a:ext uri="{FF2B5EF4-FFF2-40B4-BE49-F238E27FC236}">
                <a16:creationId xmlns:a16="http://schemas.microsoft.com/office/drawing/2014/main" id="{7397B797-408E-4ED0-BE39-413E49E1A3A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73661" y="98896"/>
            <a:ext cx="1251222" cy="347019"/>
          </a:xfrm>
          <a:prstGeom prst="rect">
            <a:avLst/>
          </a:prstGeom>
        </p:spPr>
      </p:pic>
      <p:grpSp>
        <p:nvGrpSpPr>
          <p:cNvPr id="51" name="组合 50">
            <a:extLst>
              <a:ext uri="{FF2B5EF4-FFF2-40B4-BE49-F238E27FC236}">
                <a16:creationId xmlns:a16="http://schemas.microsoft.com/office/drawing/2014/main" id="{20994D3C-805B-43EF-B970-B48077DF188A}"/>
              </a:ext>
            </a:extLst>
          </p:cNvPr>
          <p:cNvGrpSpPr/>
          <p:nvPr/>
        </p:nvGrpSpPr>
        <p:grpSpPr>
          <a:xfrm>
            <a:off x="6739262" y="823400"/>
            <a:ext cx="4331856" cy="5738960"/>
            <a:chOff x="5416649" y="823400"/>
            <a:chExt cx="4331856" cy="5738960"/>
          </a:xfrm>
        </p:grpSpPr>
        <p:grpSp>
          <p:nvGrpSpPr>
            <p:cNvPr id="37" name="组合 36">
              <a:extLst>
                <a:ext uri="{FF2B5EF4-FFF2-40B4-BE49-F238E27FC236}">
                  <a16:creationId xmlns:a16="http://schemas.microsoft.com/office/drawing/2014/main" id="{34637325-BC65-4BD2-88A3-480CDAB63824}"/>
                </a:ext>
              </a:extLst>
            </p:cNvPr>
            <p:cNvGrpSpPr/>
            <p:nvPr/>
          </p:nvGrpSpPr>
          <p:grpSpPr>
            <a:xfrm>
              <a:off x="5447898" y="2924684"/>
              <a:ext cx="4116218" cy="2213217"/>
              <a:chOff x="5336559" y="3127046"/>
              <a:chExt cx="4116218" cy="2213217"/>
            </a:xfrm>
          </p:grpSpPr>
          <p:sp>
            <p:nvSpPr>
              <p:cNvPr id="24" name="矩形 23">
                <a:extLst>
                  <a:ext uri="{FF2B5EF4-FFF2-40B4-BE49-F238E27FC236}">
                    <a16:creationId xmlns:a16="http://schemas.microsoft.com/office/drawing/2014/main" id="{777DAE3E-9206-4D5F-9232-53772432C8CA}"/>
                  </a:ext>
                </a:extLst>
              </p:cNvPr>
              <p:cNvSpPr/>
              <p:nvPr/>
            </p:nvSpPr>
            <p:spPr>
              <a:xfrm>
                <a:off x="5351403" y="3127046"/>
                <a:ext cx="4101374" cy="3188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Stacked GAN</a:t>
                </a:r>
                <a:endParaRPr lang="zh-CN" altLang="en-US" b="1" dirty="0"/>
              </a:p>
            </p:txBody>
          </p:sp>
          <p:pic>
            <p:nvPicPr>
              <p:cNvPr id="26" name="图片 25">
                <a:extLst>
                  <a:ext uri="{FF2B5EF4-FFF2-40B4-BE49-F238E27FC236}">
                    <a16:creationId xmlns:a16="http://schemas.microsoft.com/office/drawing/2014/main" id="{B20AE16C-87B1-46FF-8E0F-E49635B3A0D8}"/>
                  </a:ext>
                </a:extLst>
              </p:cNvPr>
              <p:cNvPicPr>
                <a:picLocks noChangeAspect="1"/>
              </p:cNvPicPr>
              <p:nvPr/>
            </p:nvPicPr>
            <p:blipFill rotWithShape="1">
              <a:blip r:embed="rId6">
                <a:extLst>
                  <a:ext uri="{28A0092B-C50C-407E-A947-70E740481C1C}">
                    <a14:useLocalDpi xmlns:a14="http://schemas.microsoft.com/office/drawing/2010/main" val="0"/>
                  </a:ext>
                </a:extLst>
              </a:blip>
              <a:srcRect t="24856"/>
              <a:stretch/>
            </p:blipFill>
            <p:spPr>
              <a:xfrm>
                <a:off x="5336559" y="3534262"/>
                <a:ext cx="4116218" cy="1806001"/>
              </a:xfrm>
              <a:prstGeom prst="rect">
                <a:avLst/>
              </a:prstGeom>
            </p:spPr>
          </p:pic>
        </p:grpSp>
        <p:grpSp>
          <p:nvGrpSpPr>
            <p:cNvPr id="38" name="组合 37">
              <a:extLst>
                <a:ext uri="{FF2B5EF4-FFF2-40B4-BE49-F238E27FC236}">
                  <a16:creationId xmlns:a16="http://schemas.microsoft.com/office/drawing/2014/main" id="{510B31C3-8629-46C1-86D2-78503CEBD0B3}"/>
                </a:ext>
              </a:extLst>
            </p:cNvPr>
            <p:cNvGrpSpPr/>
            <p:nvPr/>
          </p:nvGrpSpPr>
          <p:grpSpPr>
            <a:xfrm>
              <a:off x="5416649" y="5433531"/>
              <a:ext cx="4331856" cy="1128829"/>
              <a:chOff x="5337607" y="5560976"/>
              <a:chExt cx="4331856" cy="1128829"/>
            </a:xfrm>
          </p:grpSpPr>
          <p:sp>
            <p:nvSpPr>
              <p:cNvPr id="28" name="矩形 27">
                <a:extLst>
                  <a:ext uri="{FF2B5EF4-FFF2-40B4-BE49-F238E27FC236}">
                    <a16:creationId xmlns:a16="http://schemas.microsoft.com/office/drawing/2014/main" id="{3FD35BC2-5059-4A0D-9ACD-3DD27F1DA19E}"/>
                  </a:ext>
                </a:extLst>
              </p:cNvPr>
              <p:cNvSpPr/>
              <p:nvPr/>
            </p:nvSpPr>
            <p:spPr>
              <a:xfrm>
                <a:off x="5389476" y="5560976"/>
                <a:ext cx="4095598" cy="337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Least Square GAN</a:t>
                </a:r>
                <a:endParaRPr lang="zh-CN" altLang="en-US" b="1" dirty="0"/>
              </a:p>
            </p:txBody>
          </p:sp>
          <p:graphicFrame>
            <p:nvGraphicFramePr>
              <p:cNvPr id="29" name="对象 28">
                <a:extLst>
                  <a:ext uri="{FF2B5EF4-FFF2-40B4-BE49-F238E27FC236}">
                    <a16:creationId xmlns:a16="http://schemas.microsoft.com/office/drawing/2014/main" id="{F4ECC72E-9D26-444C-AC43-1656BD7AC318}"/>
                  </a:ext>
                </a:extLst>
              </p:cNvPr>
              <p:cNvGraphicFramePr>
                <a:graphicFrameLocks noChangeAspect="1"/>
              </p:cNvGraphicFramePr>
              <p:nvPr>
                <p:extLst>
                  <p:ext uri="{D42A27DB-BD31-4B8C-83A1-F6EECF244321}">
                    <p14:modId xmlns:p14="http://schemas.microsoft.com/office/powerpoint/2010/main" val="896470932"/>
                  </p:ext>
                </p:extLst>
              </p:nvPr>
            </p:nvGraphicFramePr>
            <p:xfrm>
              <a:off x="5337607" y="6005828"/>
              <a:ext cx="4331856" cy="683977"/>
            </p:xfrm>
            <a:graphic>
              <a:graphicData uri="http://schemas.openxmlformats.org/presentationml/2006/ole">
                <mc:AlternateContent xmlns:mc="http://schemas.openxmlformats.org/markup-compatibility/2006">
                  <mc:Choice xmlns:v="urn:schemas-microsoft-com:vml" Requires="v">
                    <p:oleObj spid="_x0000_s3156" name="Equation" r:id="rId7" imgW="2895480" imgH="457200" progId="Equation.DSMT4">
                      <p:embed/>
                    </p:oleObj>
                  </mc:Choice>
                  <mc:Fallback>
                    <p:oleObj name="Equation" r:id="rId7" imgW="2895480" imgH="457200" progId="Equation.DSMT4">
                      <p:embed/>
                      <p:pic>
                        <p:nvPicPr>
                          <p:cNvPr id="0" name=""/>
                          <p:cNvPicPr/>
                          <p:nvPr/>
                        </p:nvPicPr>
                        <p:blipFill>
                          <a:blip r:embed="rId8"/>
                          <a:stretch>
                            <a:fillRect/>
                          </a:stretch>
                        </p:blipFill>
                        <p:spPr>
                          <a:xfrm>
                            <a:off x="5337607" y="6005828"/>
                            <a:ext cx="4331856" cy="683977"/>
                          </a:xfrm>
                          <a:prstGeom prst="rect">
                            <a:avLst/>
                          </a:prstGeom>
                        </p:spPr>
                      </p:pic>
                    </p:oleObj>
                  </mc:Fallback>
                </mc:AlternateContent>
              </a:graphicData>
            </a:graphic>
          </p:graphicFrame>
        </p:grpSp>
        <p:grpSp>
          <p:nvGrpSpPr>
            <p:cNvPr id="32" name="组合 31">
              <a:extLst>
                <a:ext uri="{FF2B5EF4-FFF2-40B4-BE49-F238E27FC236}">
                  <a16:creationId xmlns:a16="http://schemas.microsoft.com/office/drawing/2014/main" id="{3AA884AE-129E-4955-AA8D-0C59F740BB08}"/>
                </a:ext>
              </a:extLst>
            </p:cNvPr>
            <p:cNvGrpSpPr/>
            <p:nvPr/>
          </p:nvGrpSpPr>
          <p:grpSpPr>
            <a:xfrm>
              <a:off x="5436178" y="823400"/>
              <a:ext cx="4107605" cy="1853486"/>
              <a:chOff x="5436178" y="823400"/>
              <a:chExt cx="4107605" cy="1853486"/>
            </a:xfrm>
          </p:grpSpPr>
          <p:pic>
            <p:nvPicPr>
              <p:cNvPr id="31" name="图片 30">
                <a:extLst>
                  <a:ext uri="{FF2B5EF4-FFF2-40B4-BE49-F238E27FC236}">
                    <a16:creationId xmlns:a16="http://schemas.microsoft.com/office/drawing/2014/main" id="{AC96AE5B-6789-4178-A82A-B4FFA1444DA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436178" y="1267642"/>
                <a:ext cx="4101374" cy="1409244"/>
              </a:xfrm>
              <a:prstGeom prst="rect">
                <a:avLst/>
              </a:prstGeom>
            </p:spPr>
          </p:pic>
          <p:sp>
            <p:nvSpPr>
              <p:cNvPr id="35" name="矩形 34">
                <a:extLst>
                  <a:ext uri="{FF2B5EF4-FFF2-40B4-BE49-F238E27FC236}">
                    <a16:creationId xmlns:a16="http://schemas.microsoft.com/office/drawing/2014/main" id="{CEC58200-4585-454B-9EBD-7C98C6F5FA87}"/>
                  </a:ext>
                </a:extLst>
              </p:cNvPr>
              <p:cNvSpPr/>
              <p:nvPr/>
            </p:nvSpPr>
            <p:spPr>
              <a:xfrm>
                <a:off x="5442409" y="823400"/>
                <a:ext cx="4101374" cy="3188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Deep Convolutional GAN</a:t>
                </a:r>
                <a:endParaRPr lang="zh-CN" altLang="en-US" b="1" dirty="0"/>
              </a:p>
            </p:txBody>
          </p:sp>
        </p:grpSp>
      </p:grpSp>
      <p:grpSp>
        <p:nvGrpSpPr>
          <p:cNvPr id="50" name="组合 49">
            <a:extLst>
              <a:ext uri="{FF2B5EF4-FFF2-40B4-BE49-F238E27FC236}">
                <a16:creationId xmlns:a16="http://schemas.microsoft.com/office/drawing/2014/main" id="{79DACF65-2158-4BC9-A872-CD4B99CB53FB}"/>
              </a:ext>
            </a:extLst>
          </p:cNvPr>
          <p:cNvGrpSpPr/>
          <p:nvPr/>
        </p:nvGrpSpPr>
        <p:grpSpPr>
          <a:xfrm>
            <a:off x="1446413" y="830924"/>
            <a:ext cx="4020044" cy="5761284"/>
            <a:chOff x="564668" y="830924"/>
            <a:chExt cx="4020044" cy="5761284"/>
          </a:xfrm>
        </p:grpSpPr>
        <p:grpSp>
          <p:nvGrpSpPr>
            <p:cNvPr id="40" name="组合 39">
              <a:extLst>
                <a:ext uri="{FF2B5EF4-FFF2-40B4-BE49-F238E27FC236}">
                  <a16:creationId xmlns:a16="http://schemas.microsoft.com/office/drawing/2014/main" id="{A232E198-52D7-491E-B861-C33A5B3E8585}"/>
                </a:ext>
              </a:extLst>
            </p:cNvPr>
            <p:cNvGrpSpPr/>
            <p:nvPr/>
          </p:nvGrpSpPr>
          <p:grpSpPr>
            <a:xfrm>
              <a:off x="564668" y="2612411"/>
              <a:ext cx="4018408" cy="1690497"/>
              <a:chOff x="564668" y="2491765"/>
              <a:chExt cx="4018408" cy="1690497"/>
            </a:xfrm>
          </p:grpSpPr>
          <p:graphicFrame>
            <p:nvGraphicFramePr>
              <p:cNvPr id="18" name="对象 17">
                <a:extLst>
                  <a:ext uri="{FF2B5EF4-FFF2-40B4-BE49-F238E27FC236}">
                    <a16:creationId xmlns:a16="http://schemas.microsoft.com/office/drawing/2014/main" id="{573BE19C-0932-4D91-BB3B-9D9212ADDD96}"/>
                  </a:ext>
                </a:extLst>
              </p:cNvPr>
              <p:cNvGraphicFramePr>
                <a:graphicFrameLocks noChangeAspect="1"/>
              </p:cNvGraphicFramePr>
              <p:nvPr>
                <p:extLst>
                  <p:ext uri="{D42A27DB-BD31-4B8C-83A1-F6EECF244321}">
                    <p14:modId xmlns:p14="http://schemas.microsoft.com/office/powerpoint/2010/main" val="2847057943"/>
                  </p:ext>
                </p:extLst>
              </p:nvPr>
            </p:nvGraphicFramePr>
            <p:xfrm>
              <a:off x="598961" y="2972216"/>
              <a:ext cx="3630139" cy="1210046"/>
            </p:xfrm>
            <a:graphic>
              <a:graphicData uri="http://schemas.openxmlformats.org/presentationml/2006/ole">
                <mc:AlternateContent xmlns:mc="http://schemas.openxmlformats.org/markup-compatibility/2006">
                  <mc:Choice xmlns:v="urn:schemas-microsoft-com:vml" Requires="v">
                    <p:oleObj spid="_x0000_s3157" name="Equation" r:id="rId10" imgW="2133360" imgH="711000" progId="Equation.DSMT4">
                      <p:embed/>
                    </p:oleObj>
                  </mc:Choice>
                  <mc:Fallback>
                    <p:oleObj name="Equation" r:id="rId10" imgW="2133360" imgH="711000" progId="Equation.DSMT4">
                      <p:embed/>
                      <p:pic>
                        <p:nvPicPr>
                          <p:cNvPr id="0" name=""/>
                          <p:cNvPicPr/>
                          <p:nvPr/>
                        </p:nvPicPr>
                        <p:blipFill>
                          <a:blip r:embed="rId11"/>
                          <a:stretch>
                            <a:fillRect/>
                          </a:stretch>
                        </p:blipFill>
                        <p:spPr>
                          <a:xfrm>
                            <a:off x="598961" y="2972216"/>
                            <a:ext cx="3630139" cy="1210046"/>
                          </a:xfrm>
                          <a:prstGeom prst="rect">
                            <a:avLst/>
                          </a:prstGeom>
                        </p:spPr>
                      </p:pic>
                    </p:oleObj>
                  </mc:Fallback>
                </mc:AlternateContent>
              </a:graphicData>
            </a:graphic>
          </p:graphicFrame>
          <p:sp>
            <p:nvSpPr>
              <p:cNvPr id="21" name="矩形 20">
                <a:extLst>
                  <a:ext uri="{FF2B5EF4-FFF2-40B4-BE49-F238E27FC236}">
                    <a16:creationId xmlns:a16="http://schemas.microsoft.com/office/drawing/2014/main" id="{C52A5967-8E73-49D8-833F-F719662F5F35}"/>
                  </a:ext>
                </a:extLst>
              </p:cNvPr>
              <p:cNvSpPr/>
              <p:nvPr/>
            </p:nvSpPr>
            <p:spPr>
              <a:xfrm>
                <a:off x="564668" y="2491765"/>
                <a:ext cx="4018408" cy="3425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t>Wesserstein</a:t>
                </a:r>
                <a:r>
                  <a:rPr lang="en-US" altLang="zh-CN" b="1" dirty="0"/>
                  <a:t> GAN</a:t>
                </a:r>
                <a:endParaRPr lang="zh-CN" altLang="en-US" b="1" dirty="0"/>
              </a:p>
            </p:txBody>
          </p:sp>
        </p:grpSp>
        <p:grpSp>
          <p:nvGrpSpPr>
            <p:cNvPr id="43" name="组合 42">
              <a:extLst>
                <a:ext uri="{FF2B5EF4-FFF2-40B4-BE49-F238E27FC236}">
                  <a16:creationId xmlns:a16="http://schemas.microsoft.com/office/drawing/2014/main" id="{14C854B3-0A96-4376-8014-D4A05D5B008B}"/>
                </a:ext>
              </a:extLst>
            </p:cNvPr>
            <p:cNvGrpSpPr/>
            <p:nvPr/>
          </p:nvGrpSpPr>
          <p:grpSpPr>
            <a:xfrm>
              <a:off x="566304" y="4720340"/>
              <a:ext cx="4018408" cy="1871868"/>
              <a:chOff x="598961" y="4543635"/>
              <a:chExt cx="4018408" cy="1871868"/>
            </a:xfrm>
          </p:grpSpPr>
          <p:sp>
            <p:nvSpPr>
              <p:cNvPr id="22" name="矩形 21">
                <a:extLst>
                  <a:ext uri="{FF2B5EF4-FFF2-40B4-BE49-F238E27FC236}">
                    <a16:creationId xmlns:a16="http://schemas.microsoft.com/office/drawing/2014/main" id="{06537118-471B-45B2-8B41-EF0049EC8705}"/>
                  </a:ext>
                </a:extLst>
              </p:cNvPr>
              <p:cNvSpPr/>
              <p:nvPr/>
            </p:nvSpPr>
            <p:spPr>
              <a:xfrm>
                <a:off x="598961" y="4543635"/>
                <a:ext cx="4018408" cy="3425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Boundary Seeking GAN</a:t>
                </a:r>
                <a:endParaRPr lang="zh-CN" altLang="en-US" b="1" dirty="0"/>
              </a:p>
            </p:txBody>
          </p:sp>
          <p:graphicFrame>
            <p:nvGraphicFramePr>
              <p:cNvPr id="20" name="对象 19">
                <a:extLst>
                  <a:ext uri="{FF2B5EF4-FFF2-40B4-BE49-F238E27FC236}">
                    <a16:creationId xmlns:a16="http://schemas.microsoft.com/office/drawing/2014/main" id="{94DD5D51-BA55-4FA2-A301-8AC3CD298349}"/>
                  </a:ext>
                </a:extLst>
              </p:cNvPr>
              <p:cNvGraphicFramePr>
                <a:graphicFrameLocks noChangeAspect="1"/>
              </p:cNvGraphicFramePr>
              <p:nvPr>
                <p:extLst>
                  <p:ext uri="{D42A27DB-BD31-4B8C-83A1-F6EECF244321}">
                    <p14:modId xmlns:p14="http://schemas.microsoft.com/office/powerpoint/2010/main" val="469866268"/>
                  </p:ext>
                </p:extLst>
              </p:nvPr>
            </p:nvGraphicFramePr>
            <p:xfrm>
              <a:off x="598961" y="5056764"/>
              <a:ext cx="3808924" cy="1358739"/>
            </p:xfrm>
            <a:graphic>
              <a:graphicData uri="http://schemas.openxmlformats.org/presentationml/2006/ole">
                <mc:AlternateContent xmlns:mc="http://schemas.openxmlformats.org/markup-compatibility/2006">
                  <mc:Choice xmlns:v="urn:schemas-microsoft-com:vml" Requires="v">
                    <p:oleObj spid="_x0000_s3158" name="Equation" r:id="rId12" imgW="2171520" imgH="774360" progId="Equation.DSMT4">
                      <p:embed/>
                    </p:oleObj>
                  </mc:Choice>
                  <mc:Fallback>
                    <p:oleObj name="Equation" r:id="rId12" imgW="2171520" imgH="774360" progId="Equation.DSMT4">
                      <p:embed/>
                      <p:pic>
                        <p:nvPicPr>
                          <p:cNvPr id="0" name=""/>
                          <p:cNvPicPr/>
                          <p:nvPr/>
                        </p:nvPicPr>
                        <p:blipFill>
                          <a:blip r:embed="rId13"/>
                          <a:stretch>
                            <a:fillRect/>
                          </a:stretch>
                        </p:blipFill>
                        <p:spPr>
                          <a:xfrm>
                            <a:off x="598961" y="5056764"/>
                            <a:ext cx="3808924" cy="1358739"/>
                          </a:xfrm>
                          <a:prstGeom prst="rect">
                            <a:avLst/>
                          </a:prstGeom>
                        </p:spPr>
                      </p:pic>
                    </p:oleObj>
                  </mc:Fallback>
                </mc:AlternateContent>
              </a:graphicData>
            </a:graphic>
          </p:graphicFrame>
        </p:grpSp>
        <p:grpSp>
          <p:nvGrpSpPr>
            <p:cNvPr id="39" name="组合 38">
              <a:extLst>
                <a:ext uri="{FF2B5EF4-FFF2-40B4-BE49-F238E27FC236}">
                  <a16:creationId xmlns:a16="http://schemas.microsoft.com/office/drawing/2014/main" id="{CAF40791-CB6B-4534-A603-8633F0E812C9}"/>
                </a:ext>
              </a:extLst>
            </p:cNvPr>
            <p:cNvGrpSpPr/>
            <p:nvPr/>
          </p:nvGrpSpPr>
          <p:grpSpPr>
            <a:xfrm>
              <a:off x="564668" y="830924"/>
              <a:ext cx="4018408" cy="1352959"/>
              <a:chOff x="564668" y="830924"/>
              <a:chExt cx="4018408" cy="1352959"/>
            </a:xfrm>
          </p:grpSpPr>
          <p:graphicFrame>
            <p:nvGraphicFramePr>
              <p:cNvPr id="16" name="对象 15">
                <a:extLst>
                  <a:ext uri="{FF2B5EF4-FFF2-40B4-BE49-F238E27FC236}">
                    <a16:creationId xmlns:a16="http://schemas.microsoft.com/office/drawing/2014/main" id="{1AFE7403-8FBF-435F-AF16-1AF6CFC78A9F}"/>
                  </a:ext>
                </a:extLst>
              </p:cNvPr>
              <p:cNvGraphicFramePr>
                <a:graphicFrameLocks noChangeAspect="1"/>
              </p:cNvGraphicFramePr>
              <p:nvPr>
                <p:extLst>
                  <p:ext uri="{D42A27DB-BD31-4B8C-83A1-F6EECF244321}">
                    <p14:modId xmlns:p14="http://schemas.microsoft.com/office/powerpoint/2010/main" val="1364756027"/>
                  </p:ext>
                </p:extLst>
              </p:nvPr>
            </p:nvGraphicFramePr>
            <p:xfrm>
              <a:off x="564668" y="1267642"/>
              <a:ext cx="3884063" cy="916241"/>
            </p:xfrm>
            <a:graphic>
              <a:graphicData uri="http://schemas.openxmlformats.org/presentationml/2006/ole">
                <mc:AlternateContent xmlns:mc="http://schemas.openxmlformats.org/markup-compatibility/2006">
                  <mc:Choice xmlns:v="urn:schemas-microsoft-com:vml" Requires="v">
                    <p:oleObj spid="_x0000_s3159" name="Equation" r:id="rId14" imgW="2476440" imgH="583920" progId="Equation.DSMT4">
                      <p:embed/>
                    </p:oleObj>
                  </mc:Choice>
                  <mc:Fallback>
                    <p:oleObj name="Equation" r:id="rId14" imgW="2476440" imgH="583920" progId="Equation.DSMT4">
                      <p:embed/>
                      <p:pic>
                        <p:nvPicPr>
                          <p:cNvPr id="0" name=""/>
                          <p:cNvPicPr/>
                          <p:nvPr/>
                        </p:nvPicPr>
                        <p:blipFill>
                          <a:blip r:embed="rId15"/>
                          <a:stretch>
                            <a:fillRect/>
                          </a:stretch>
                        </p:blipFill>
                        <p:spPr>
                          <a:xfrm>
                            <a:off x="564668" y="1267642"/>
                            <a:ext cx="3884063" cy="916241"/>
                          </a:xfrm>
                          <a:prstGeom prst="rect">
                            <a:avLst/>
                          </a:prstGeom>
                        </p:spPr>
                      </p:pic>
                    </p:oleObj>
                  </mc:Fallback>
                </mc:AlternateContent>
              </a:graphicData>
            </a:graphic>
          </p:graphicFrame>
          <p:sp>
            <p:nvSpPr>
              <p:cNvPr id="36" name="矩形 35">
                <a:extLst>
                  <a:ext uri="{FF2B5EF4-FFF2-40B4-BE49-F238E27FC236}">
                    <a16:creationId xmlns:a16="http://schemas.microsoft.com/office/drawing/2014/main" id="{3385369C-706F-40B7-8518-70EDAE93EA4F}"/>
                  </a:ext>
                </a:extLst>
              </p:cNvPr>
              <p:cNvSpPr/>
              <p:nvPr/>
            </p:nvSpPr>
            <p:spPr>
              <a:xfrm>
                <a:off x="564668" y="830924"/>
                <a:ext cx="4018408" cy="3293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Least Square GAN</a:t>
                </a:r>
                <a:endParaRPr lang="zh-CN" altLang="en-US" b="1" dirty="0"/>
              </a:p>
            </p:txBody>
          </p:sp>
        </p:grpSp>
      </p:grpSp>
    </p:spTree>
    <p:extLst>
      <p:ext uri="{BB962C8B-B14F-4D97-AF65-F5344CB8AC3E}">
        <p14:creationId xmlns:p14="http://schemas.microsoft.com/office/powerpoint/2010/main" val="1777106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椭圆 36">
            <a:extLst>
              <a:ext uri="{FF2B5EF4-FFF2-40B4-BE49-F238E27FC236}">
                <a16:creationId xmlns:a16="http://schemas.microsoft.com/office/drawing/2014/main" id="{991DEE90-AC86-48BF-A20A-547D360E5EFB}"/>
              </a:ext>
            </a:extLst>
          </p:cNvPr>
          <p:cNvSpPr/>
          <p:nvPr/>
        </p:nvSpPr>
        <p:spPr>
          <a:xfrm>
            <a:off x="6533161" y="2186452"/>
            <a:ext cx="1913392" cy="1913392"/>
          </a:xfrm>
          <a:prstGeom prst="ellipse">
            <a:avLst/>
          </a:prstGeom>
          <a:gradFill flip="none" rotWithShape="1">
            <a:gsLst>
              <a:gs pos="0">
                <a:schemeClr val="accent1">
                  <a:lumMod val="60000"/>
                  <a:lumOff val="40000"/>
                </a:schemeClr>
              </a:gs>
              <a:gs pos="100000">
                <a:schemeClr val="accent1">
                  <a:lumMod val="75000"/>
                  <a:alpha val="67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grpSp>
        <p:nvGrpSpPr>
          <p:cNvPr id="3" name="组合 2"/>
          <p:cNvGrpSpPr/>
          <p:nvPr/>
        </p:nvGrpSpPr>
        <p:grpSpPr>
          <a:xfrm>
            <a:off x="-4632" y="-1"/>
            <a:ext cx="12196631" cy="2127749"/>
            <a:chOff x="-4632" y="-1"/>
            <a:chExt cx="12196631" cy="2127749"/>
          </a:xfrm>
        </p:grpSpPr>
        <p:sp>
          <p:nvSpPr>
            <p:cNvPr id="11" name="任意多边形: 形状 10">
              <a:extLst>
                <a:ext uri="{FF2B5EF4-FFF2-40B4-BE49-F238E27FC236}">
                  <a16:creationId xmlns:a16="http://schemas.microsoft.com/office/drawing/2014/main" id="{4BF7FE7A-4E23-4577-B4D3-19330F26E572}"/>
                </a:ext>
              </a:extLst>
            </p:cNvPr>
            <p:cNvSpPr/>
            <p:nvPr/>
          </p:nvSpPr>
          <p:spPr>
            <a:xfrm flipV="1">
              <a:off x="0" y="1684"/>
              <a:ext cx="12191999" cy="2126064"/>
            </a:xfrm>
            <a:custGeom>
              <a:avLst/>
              <a:gdLst>
                <a:gd name="connsiteX0" fmla="*/ 0 w 12191999"/>
                <a:gd name="connsiteY0" fmla="*/ 2126064 h 2126064"/>
                <a:gd name="connsiteX1" fmla="*/ 12191999 w 12191999"/>
                <a:gd name="connsiteY1" fmla="*/ 2126064 h 2126064"/>
                <a:gd name="connsiteX2" fmla="*/ 0 w 12191999"/>
                <a:gd name="connsiteY2" fmla="*/ 0 h 2126064"/>
              </a:gdLst>
              <a:ahLst/>
              <a:cxnLst>
                <a:cxn ang="0">
                  <a:pos x="connsiteX0" y="connsiteY0"/>
                </a:cxn>
                <a:cxn ang="0">
                  <a:pos x="connsiteX1" y="connsiteY1"/>
                </a:cxn>
                <a:cxn ang="0">
                  <a:pos x="connsiteX2" y="connsiteY2"/>
                </a:cxn>
              </a:cxnLst>
              <a:rect l="l" t="t" r="r" b="b"/>
              <a:pathLst>
                <a:path w="12191999" h="2126064">
                  <a:moveTo>
                    <a:pt x="0" y="2126064"/>
                  </a:moveTo>
                  <a:lnTo>
                    <a:pt x="12191999" y="2126064"/>
                  </a:lnTo>
                  <a:lnTo>
                    <a:pt x="0" y="0"/>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Light"/>
                <a:ea typeface="微软雅黑 Light"/>
                <a:cs typeface="+mn-cs"/>
              </a:endParaRPr>
            </a:p>
          </p:txBody>
        </p:sp>
        <p:sp>
          <p:nvSpPr>
            <p:cNvPr id="20" name="任意多边形: 形状 19">
              <a:extLst>
                <a:ext uri="{FF2B5EF4-FFF2-40B4-BE49-F238E27FC236}">
                  <a16:creationId xmlns:a16="http://schemas.microsoft.com/office/drawing/2014/main" id="{469A4E30-8FC8-4074-B7DA-5077F2AFF989}"/>
                </a:ext>
              </a:extLst>
            </p:cNvPr>
            <p:cNvSpPr/>
            <p:nvPr/>
          </p:nvSpPr>
          <p:spPr>
            <a:xfrm flipV="1">
              <a:off x="-4632" y="-1"/>
              <a:ext cx="845081" cy="695700"/>
            </a:xfrm>
            <a:custGeom>
              <a:avLst/>
              <a:gdLst>
                <a:gd name="connsiteX0" fmla="*/ 0 w 845081"/>
                <a:gd name="connsiteY0" fmla="*/ 695700 h 695700"/>
                <a:gd name="connsiteX1" fmla="*/ 845081 w 845081"/>
                <a:gd name="connsiteY1" fmla="*/ 695700 h 695700"/>
                <a:gd name="connsiteX2" fmla="*/ 0 w 845081"/>
                <a:gd name="connsiteY2" fmla="*/ 0 h 695700"/>
                <a:gd name="connsiteX3" fmla="*/ 0 w 845081"/>
                <a:gd name="connsiteY3" fmla="*/ 695700 h 695700"/>
              </a:gdLst>
              <a:ahLst/>
              <a:cxnLst>
                <a:cxn ang="0">
                  <a:pos x="connsiteX0" y="connsiteY0"/>
                </a:cxn>
                <a:cxn ang="0">
                  <a:pos x="connsiteX1" y="connsiteY1"/>
                </a:cxn>
                <a:cxn ang="0">
                  <a:pos x="connsiteX2" y="connsiteY2"/>
                </a:cxn>
                <a:cxn ang="0">
                  <a:pos x="connsiteX3" y="connsiteY3"/>
                </a:cxn>
              </a:cxnLst>
              <a:rect l="l" t="t" r="r" b="b"/>
              <a:pathLst>
                <a:path w="845081" h="695700">
                  <a:moveTo>
                    <a:pt x="0" y="695700"/>
                  </a:moveTo>
                  <a:lnTo>
                    <a:pt x="845081" y="695700"/>
                  </a:lnTo>
                  <a:lnTo>
                    <a:pt x="0" y="0"/>
                  </a:lnTo>
                  <a:lnTo>
                    <a:pt x="0" y="695700"/>
                  </a:lnTo>
                  <a:close/>
                </a:path>
              </a:pathLst>
            </a:custGeom>
            <a:solidFill>
              <a:srgbClr val="003F8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Light"/>
                <a:ea typeface="微软雅黑 Light"/>
                <a:cs typeface="+mn-cs"/>
              </a:endParaRPr>
            </a:p>
          </p:txBody>
        </p:sp>
        <p:sp>
          <p:nvSpPr>
            <p:cNvPr id="19" name="任意多边形: 形状 18">
              <a:extLst>
                <a:ext uri="{FF2B5EF4-FFF2-40B4-BE49-F238E27FC236}">
                  <a16:creationId xmlns:a16="http://schemas.microsoft.com/office/drawing/2014/main" id="{DED759B5-476E-48A8-882B-A40A31639608}"/>
                </a:ext>
              </a:extLst>
            </p:cNvPr>
            <p:cNvSpPr/>
            <p:nvPr/>
          </p:nvSpPr>
          <p:spPr>
            <a:xfrm flipV="1">
              <a:off x="2569944" y="9621"/>
              <a:ext cx="7642459" cy="1665174"/>
            </a:xfrm>
            <a:custGeom>
              <a:avLst/>
              <a:gdLst>
                <a:gd name="connsiteX0" fmla="*/ 2049597 w 7784426"/>
                <a:gd name="connsiteY0" fmla="*/ 1687299 h 1687299"/>
                <a:gd name="connsiteX1" fmla="*/ 7784426 w 7784426"/>
                <a:gd name="connsiteY1" fmla="*/ 1687299 h 1687299"/>
                <a:gd name="connsiteX2" fmla="*/ 7276089 w 7784426"/>
                <a:gd name="connsiteY2" fmla="*/ 1268818 h 1687299"/>
                <a:gd name="connsiteX3" fmla="*/ 0 w 7784426"/>
                <a:gd name="connsiteY3" fmla="*/ 0 h 1687299"/>
                <a:gd name="connsiteX4" fmla="*/ 2049597 w 7784426"/>
                <a:gd name="connsiteY4" fmla="*/ 1687299 h 1687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84426" h="1687299">
                  <a:moveTo>
                    <a:pt x="2049597" y="1687299"/>
                  </a:moveTo>
                  <a:lnTo>
                    <a:pt x="7784426" y="1687299"/>
                  </a:lnTo>
                  <a:lnTo>
                    <a:pt x="7276089" y="1268818"/>
                  </a:lnTo>
                  <a:lnTo>
                    <a:pt x="0" y="0"/>
                  </a:lnTo>
                  <a:lnTo>
                    <a:pt x="2049597" y="1687299"/>
                  </a:lnTo>
                  <a:close/>
                </a:path>
              </a:pathLst>
            </a:custGeom>
            <a:solidFill>
              <a:srgbClr val="003F8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Light"/>
                <a:ea typeface="微软雅黑 Light"/>
                <a:cs typeface="+mn-cs"/>
              </a:endParaRPr>
            </a:p>
          </p:txBody>
        </p:sp>
      </p:grpSp>
      <p:grpSp>
        <p:nvGrpSpPr>
          <p:cNvPr id="32" name="组合 31">
            <a:extLst>
              <a:ext uri="{FF2B5EF4-FFF2-40B4-BE49-F238E27FC236}">
                <a16:creationId xmlns:a16="http://schemas.microsoft.com/office/drawing/2014/main" id="{33F5A969-260B-422F-B4E3-DA6395C64BC8}"/>
              </a:ext>
            </a:extLst>
          </p:cNvPr>
          <p:cNvGrpSpPr/>
          <p:nvPr/>
        </p:nvGrpSpPr>
        <p:grpSpPr>
          <a:xfrm>
            <a:off x="3154566" y="4130877"/>
            <a:ext cx="5762554" cy="1730828"/>
            <a:chOff x="3102428" y="3755572"/>
            <a:chExt cx="5762554" cy="1730828"/>
          </a:xfrm>
        </p:grpSpPr>
        <p:cxnSp>
          <p:nvCxnSpPr>
            <p:cNvPr id="29" name="直接连接符 28">
              <a:extLst>
                <a:ext uri="{FF2B5EF4-FFF2-40B4-BE49-F238E27FC236}">
                  <a16:creationId xmlns:a16="http://schemas.microsoft.com/office/drawing/2014/main" id="{1C4BCF85-EA4C-493A-8D5E-F0143B36AB23}"/>
                </a:ext>
              </a:extLst>
            </p:cNvPr>
            <p:cNvCxnSpPr/>
            <p:nvPr/>
          </p:nvCxnSpPr>
          <p:spPr>
            <a:xfrm>
              <a:off x="3102428" y="3755572"/>
              <a:ext cx="0" cy="173082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DE808EE5-120D-468C-A69F-51673B365677}"/>
                </a:ext>
              </a:extLst>
            </p:cNvPr>
            <p:cNvCxnSpPr/>
            <p:nvPr/>
          </p:nvCxnSpPr>
          <p:spPr>
            <a:xfrm>
              <a:off x="6019799" y="3755572"/>
              <a:ext cx="0" cy="173082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B4991D69-27EB-405C-B1D3-36EF14D376BD}"/>
                </a:ext>
              </a:extLst>
            </p:cNvPr>
            <p:cNvCxnSpPr/>
            <p:nvPr/>
          </p:nvCxnSpPr>
          <p:spPr>
            <a:xfrm>
              <a:off x="8864982" y="3755572"/>
              <a:ext cx="0" cy="173082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2" name="文本框 41">
            <a:extLst>
              <a:ext uri="{FF2B5EF4-FFF2-40B4-BE49-F238E27FC236}">
                <a16:creationId xmlns:a16="http://schemas.microsoft.com/office/drawing/2014/main" id="{0AE1EE13-9C37-48CE-BDB5-4C39D3287054}"/>
              </a:ext>
            </a:extLst>
          </p:cNvPr>
          <p:cNvSpPr txBox="1"/>
          <p:nvPr/>
        </p:nvSpPr>
        <p:spPr>
          <a:xfrm>
            <a:off x="3452213" y="4724552"/>
            <a:ext cx="238597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微软雅黑"/>
                <a:ea typeface="微软雅黑"/>
                <a:cs typeface="+mn-cs"/>
              </a:rPr>
              <a:t>GAN</a:t>
            </a:r>
            <a:r>
              <a:rPr kumimoji="0" lang="zh-CN" altLang="en-US" sz="2400" b="0" i="0" u="none" strike="noStrike" kern="1200" cap="none" spc="0" normalizeH="0" baseline="0" noProof="0" dirty="0">
                <a:ln>
                  <a:noFill/>
                </a:ln>
                <a:solidFill>
                  <a:prstClr val="black"/>
                </a:solidFill>
                <a:effectLst/>
                <a:uLnTx/>
                <a:uFillTx/>
                <a:latin typeface="微软雅黑"/>
                <a:ea typeface="微软雅黑"/>
                <a:cs typeface="+mn-cs"/>
              </a:rPr>
              <a:t>类型</a:t>
            </a:r>
          </a:p>
        </p:txBody>
      </p:sp>
      <p:sp>
        <p:nvSpPr>
          <p:cNvPr id="48" name="文本框 47">
            <a:extLst>
              <a:ext uri="{FF2B5EF4-FFF2-40B4-BE49-F238E27FC236}">
                <a16:creationId xmlns:a16="http://schemas.microsoft.com/office/drawing/2014/main" id="{2AAA4CA5-B98F-4084-9D8B-791B4F288906}"/>
              </a:ext>
            </a:extLst>
          </p:cNvPr>
          <p:cNvSpPr txBox="1"/>
          <p:nvPr/>
        </p:nvSpPr>
        <p:spPr>
          <a:xfrm>
            <a:off x="9168158" y="4724550"/>
            <a:ext cx="238597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dirty="0">
                <a:solidFill>
                  <a:prstClr val="black"/>
                </a:solidFill>
                <a:latin typeface="微软雅黑"/>
                <a:ea typeface="微软雅黑"/>
              </a:rPr>
              <a:t>总结与思考</a:t>
            </a:r>
            <a:endParaRPr kumimoji="0" lang="zh-CN" altLang="en-US" sz="2400" b="0" i="0" u="none" strike="noStrike" kern="1200" cap="none" spc="0" normalizeH="0" baseline="0" noProof="0" dirty="0">
              <a:ln>
                <a:noFill/>
              </a:ln>
              <a:solidFill>
                <a:prstClr val="black"/>
              </a:solidFill>
              <a:effectLst/>
              <a:uLnTx/>
              <a:uFillTx/>
              <a:latin typeface="微软雅黑"/>
              <a:ea typeface="微软雅黑"/>
              <a:cs typeface="+mn-cs"/>
            </a:endParaRPr>
          </a:p>
        </p:txBody>
      </p:sp>
      <p:grpSp>
        <p:nvGrpSpPr>
          <p:cNvPr id="6" name="组合 5">
            <a:extLst>
              <a:ext uri="{FF2B5EF4-FFF2-40B4-BE49-F238E27FC236}">
                <a16:creationId xmlns:a16="http://schemas.microsoft.com/office/drawing/2014/main" id="{1D8E30C5-F3E2-490B-BA55-8584F5B46F7C}"/>
              </a:ext>
            </a:extLst>
          </p:cNvPr>
          <p:cNvGrpSpPr/>
          <p:nvPr/>
        </p:nvGrpSpPr>
        <p:grpSpPr>
          <a:xfrm>
            <a:off x="6868837" y="2467476"/>
            <a:ext cx="1300163" cy="1300163"/>
            <a:chOff x="6868837" y="2467476"/>
            <a:chExt cx="1300163" cy="1300163"/>
          </a:xfrm>
        </p:grpSpPr>
        <p:sp>
          <p:nvSpPr>
            <p:cNvPr id="24" name="椭圆 23">
              <a:extLst>
                <a:ext uri="{FF2B5EF4-FFF2-40B4-BE49-F238E27FC236}">
                  <a16:creationId xmlns:a16="http://schemas.microsoft.com/office/drawing/2014/main" id="{AA2B2B69-B1A9-43D3-8805-96C7DC83E749}"/>
                </a:ext>
              </a:extLst>
            </p:cNvPr>
            <p:cNvSpPr/>
            <p:nvPr/>
          </p:nvSpPr>
          <p:spPr>
            <a:xfrm>
              <a:off x="6868837" y="2467476"/>
              <a:ext cx="1300163" cy="1300163"/>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pic>
          <p:nvPicPr>
            <p:cNvPr id="50" name="图形 49">
              <a:extLst>
                <a:ext uri="{FF2B5EF4-FFF2-40B4-BE49-F238E27FC236}">
                  <a16:creationId xmlns:a16="http://schemas.microsoft.com/office/drawing/2014/main" id="{9EAAE6D9-A0F7-4A31-8973-72D41173CF7F}"/>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214643" y="2805011"/>
              <a:ext cx="550429" cy="634015"/>
            </a:xfrm>
            <a:prstGeom prst="rect">
              <a:avLst/>
            </a:prstGeom>
          </p:spPr>
        </p:pic>
      </p:grpSp>
      <p:grpSp>
        <p:nvGrpSpPr>
          <p:cNvPr id="5" name="组合 4">
            <a:extLst>
              <a:ext uri="{FF2B5EF4-FFF2-40B4-BE49-F238E27FC236}">
                <a16:creationId xmlns:a16="http://schemas.microsoft.com/office/drawing/2014/main" id="{719C66ED-F764-400B-9AA0-0C65B6AF1012}"/>
              </a:ext>
            </a:extLst>
          </p:cNvPr>
          <p:cNvGrpSpPr/>
          <p:nvPr/>
        </p:nvGrpSpPr>
        <p:grpSpPr>
          <a:xfrm>
            <a:off x="4023002" y="2467476"/>
            <a:ext cx="1300163" cy="1300163"/>
            <a:chOff x="4023002" y="2467476"/>
            <a:chExt cx="1300163" cy="1300163"/>
          </a:xfrm>
        </p:grpSpPr>
        <p:sp>
          <p:nvSpPr>
            <p:cNvPr id="23" name="椭圆 22">
              <a:extLst>
                <a:ext uri="{FF2B5EF4-FFF2-40B4-BE49-F238E27FC236}">
                  <a16:creationId xmlns:a16="http://schemas.microsoft.com/office/drawing/2014/main" id="{FBB762AA-0FA7-4AE0-9706-E0F0F67F6B71}"/>
                </a:ext>
              </a:extLst>
            </p:cNvPr>
            <p:cNvSpPr/>
            <p:nvPr/>
          </p:nvSpPr>
          <p:spPr>
            <a:xfrm>
              <a:off x="4023002" y="2467476"/>
              <a:ext cx="1300163" cy="130016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pic>
          <p:nvPicPr>
            <p:cNvPr id="51" name="图形 50">
              <a:extLst>
                <a:ext uri="{FF2B5EF4-FFF2-40B4-BE49-F238E27FC236}">
                  <a16:creationId xmlns:a16="http://schemas.microsoft.com/office/drawing/2014/main" id="{2EB309AA-217D-47D1-AA4F-092E330BA8D6}"/>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326109" y="2824061"/>
              <a:ext cx="638175" cy="638175"/>
            </a:xfrm>
            <a:prstGeom prst="rect">
              <a:avLst/>
            </a:prstGeom>
          </p:spPr>
        </p:pic>
      </p:grpSp>
      <p:grpSp>
        <p:nvGrpSpPr>
          <p:cNvPr id="2" name="组合 1">
            <a:extLst>
              <a:ext uri="{FF2B5EF4-FFF2-40B4-BE49-F238E27FC236}">
                <a16:creationId xmlns:a16="http://schemas.microsoft.com/office/drawing/2014/main" id="{23751CDC-445C-446B-B799-DBBAD7025BE3}"/>
              </a:ext>
            </a:extLst>
          </p:cNvPr>
          <p:cNvGrpSpPr/>
          <p:nvPr/>
        </p:nvGrpSpPr>
        <p:grpSpPr>
          <a:xfrm>
            <a:off x="1177167" y="2481733"/>
            <a:ext cx="1300163" cy="1300163"/>
            <a:chOff x="1177167" y="2337355"/>
            <a:chExt cx="1300163" cy="1300163"/>
          </a:xfrm>
        </p:grpSpPr>
        <p:sp>
          <p:nvSpPr>
            <p:cNvPr id="22" name="椭圆 21">
              <a:extLst>
                <a:ext uri="{FF2B5EF4-FFF2-40B4-BE49-F238E27FC236}">
                  <a16:creationId xmlns:a16="http://schemas.microsoft.com/office/drawing/2014/main" id="{0773D16B-B26D-4ACE-B82D-19CC3160B13E}"/>
                </a:ext>
              </a:extLst>
            </p:cNvPr>
            <p:cNvSpPr/>
            <p:nvPr/>
          </p:nvSpPr>
          <p:spPr>
            <a:xfrm>
              <a:off x="1177167" y="2337355"/>
              <a:ext cx="1300163" cy="1300163"/>
            </a:xfrm>
            <a:prstGeom prst="ellipse">
              <a:avLst/>
            </a:prstGeom>
            <a:solidFill>
              <a:srgbClr val="003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pic>
          <p:nvPicPr>
            <p:cNvPr id="52" name="图形 51">
              <a:extLst>
                <a:ext uri="{FF2B5EF4-FFF2-40B4-BE49-F238E27FC236}">
                  <a16:creationId xmlns:a16="http://schemas.microsoft.com/office/drawing/2014/main" id="{A3425BBB-6727-4250-85F3-365EA0CB06CD}"/>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482804" y="2708834"/>
              <a:ext cx="633116" cy="634015"/>
            </a:xfrm>
            <a:prstGeom prst="rect">
              <a:avLst/>
            </a:prstGeom>
          </p:spPr>
        </p:pic>
      </p:grpSp>
      <p:grpSp>
        <p:nvGrpSpPr>
          <p:cNvPr id="7" name="组合 6">
            <a:extLst>
              <a:ext uri="{FF2B5EF4-FFF2-40B4-BE49-F238E27FC236}">
                <a16:creationId xmlns:a16="http://schemas.microsoft.com/office/drawing/2014/main" id="{2312F191-3487-48B2-8693-727C14881658}"/>
              </a:ext>
            </a:extLst>
          </p:cNvPr>
          <p:cNvGrpSpPr/>
          <p:nvPr/>
        </p:nvGrpSpPr>
        <p:grpSpPr>
          <a:xfrm>
            <a:off x="9714671" y="2467476"/>
            <a:ext cx="1300163" cy="1300163"/>
            <a:chOff x="9714671" y="2467476"/>
            <a:chExt cx="1300163" cy="1300163"/>
          </a:xfrm>
        </p:grpSpPr>
        <p:sp>
          <p:nvSpPr>
            <p:cNvPr id="25" name="椭圆 24">
              <a:extLst>
                <a:ext uri="{FF2B5EF4-FFF2-40B4-BE49-F238E27FC236}">
                  <a16:creationId xmlns:a16="http://schemas.microsoft.com/office/drawing/2014/main" id="{A282D3A1-3DD5-42E5-BC06-B87C450047C1}"/>
                </a:ext>
              </a:extLst>
            </p:cNvPr>
            <p:cNvSpPr/>
            <p:nvPr/>
          </p:nvSpPr>
          <p:spPr>
            <a:xfrm>
              <a:off x="9714671" y="2467476"/>
              <a:ext cx="1300163" cy="130016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pic>
          <p:nvPicPr>
            <p:cNvPr id="53" name="图形 52">
              <a:extLst>
                <a:ext uri="{FF2B5EF4-FFF2-40B4-BE49-F238E27FC236}">
                  <a16:creationId xmlns:a16="http://schemas.microsoft.com/office/drawing/2014/main" id="{4AD0FFA1-B1D6-4A7A-8CFA-8B13327B51BB}"/>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042056" y="2824061"/>
              <a:ext cx="638175" cy="638175"/>
            </a:xfrm>
            <a:prstGeom prst="rect">
              <a:avLst/>
            </a:prstGeom>
          </p:spPr>
        </p:pic>
      </p:grpSp>
      <p:grpSp>
        <p:nvGrpSpPr>
          <p:cNvPr id="4" name="组合 3">
            <a:extLst>
              <a:ext uri="{FF2B5EF4-FFF2-40B4-BE49-F238E27FC236}">
                <a16:creationId xmlns:a16="http://schemas.microsoft.com/office/drawing/2014/main" id="{01DC4DF9-EDB5-4893-B60E-C4238C656D54}"/>
              </a:ext>
            </a:extLst>
          </p:cNvPr>
          <p:cNvGrpSpPr/>
          <p:nvPr/>
        </p:nvGrpSpPr>
        <p:grpSpPr>
          <a:xfrm>
            <a:off x="7796463" y="964934"/>
            <a:ext cx="4049551" cy="873366"/>
            <a:chOff x="7796463" y="964934"/>
            <a:chExt cx="4049551" cy="873366"/>
          </a:xfrm>
        </p:grpSpPr>
        <p:sp>
          <p:nvSpPr>
            <p:cNvPr id="33" name="文本框 32">
              <a:extLst>
                <a:ext uri="{FF2B5EF4-FFF2-40B4-BE49-F238E27FC236}">
                  <a16:creationId xmlns:a16="http://schemas.microsoft.com/office/drawing/2014/main" id="{C0C6EF5C-9CFE-4CE5-8D09-222CD3D47BEE}"/>
                </a:ext>
              </a:extLst>
            </p:cNvPr>
            <p:cNvSpPr txBox="1"/>
            <p:nvPr/>
          </p:nvSpPr>
          <p:spPr>
            <a:xfrm>
              <a:off x="8212132" y="964934"/>
              <a:ext cx="3633882"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800" b="0" i="0" u="none" strike="noStrike" kern="1200" cap="none" spc="0" normalizeH="0" baseline="0" noProof="0" dirty="0">
                  <a:ln>
                    <a:noFill/>
                  </a:ln>
                  <a:solidFill>
                    <a:srgbClr val="003F87"/>
                  </a:solidFill>
                  <a:effectLst/>
                  <a:uLnTx/>
                  <a:uFillTx/>
                  <a:latin typeface="微软雅黑"/>
                  <a:ea typeface="微软雅黑"/>
                  <a:cs typeface="+mn-cs"/>
                </a:rPr>
                <a:t>CONTENTS</a:t>
              </a:r>
              <a:endParaRPr kumimoji="0" lang="zh-CN" altLang="en-US" sz="4800" b="0" i="0" u="none" strike="noStrike" kern="1200" cap="none" spc="0" normalizeH="0" baseline="0" noProof="0" dirty="0">
                <a:ln>
                  <a:noFill/>
                </a:ln>
                <a:solidFill>
                  <a:srgbClr val="003F87"/>
                </a:solidFill>
                <a:effectLst/>
                <a:uLnTx/>
                <a:uFillTx/>
                <a:latin typeface="微软雅黑"/>
                <a:ea typeface="微软雅黑"/>
                <a:cs typeface="+mn-cs"/>
              </a:endParaRPr>
            </a:p>
          </p:txBody>
        </p:sp>
        <p:cxnSp>
          <p:nvCxnSpPr>
            <p:cNvPr id="35" name="直接连接符 34">
              <a:extLst>
                <a:ext uri="{FF2B5EF4-FFF2-40B4-BE49-F238E27FC236}">
                  <a16:creationId xmlns:a16="http://schemas.microsoft.com/office/drawing/2014/main" id="{729C69BF-F084-41CE-B5C1-0F9FAF53BB2A}"/>
                </a:ext>
              </a:extLst>
            </p:cNvPr>
            <p:cNvCxnSpPr>
              <a:cxnSpLocks/>
            </p:cNvCxnSpPr>
            <p:nvPr/>
          </p:nvCxnSpPr>
          <p:spPr>
            <a:xfrm flipH="1">
              <a:off x="7796463" y="1838300"/>
              <a:ext cx="360786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9625B235-73FE-4F5D-B741-E83D11F671F4}"/>
                </a:ext>
              </a:extLst>
            </p:cNvPr>
            <p:cNvCxnSpPr>
              <a:cxnSpLocks/>
            </p:cNvCxnSpPr>
            <p:nvPr/>
          </p:nvCxnSpPr>
          <p:spPr>
            <a:xfrm flipH="1">
              <a:off x="10544175" y="1762998"/>
              <a:ext cx="86015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4" name="文本框 53">
            <a:extLst>
              <a:ext uri="{FF2B5EF4-FFF2-40B4-BE49-F238E27FC236}">
                <a16:creationId xmlns:a16="http://schemas.microsoft.com/office/drawing/2014/main" id="{B48B34B3-953B-43F7-9936-47B1D78ECC55}"/>
              </a:ext>
            </a:extLst>
          </p:cNvPr>
          <p:cNvSpPr txBox="1"/>
          <p:nvPr/>
        </p:nvSpPr>
        <p:spPr>
          <a:xfrm>
            <a:off x="570102" y="4428336"/>
            <a:ext cx="2385970"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微软雅黑"/>
              <a:ea typeface="微软雅黑"/>
              <a:cs typeface="+mn-cs"/>
            </a:endParaRPr>
          </a:p>
        </p:txBody>
      </p:sp>
      <p:pic>
        <p:nvPicPr>
          <p:cNvPr id="38" name="图形 37">
            <a:extLst>
              <a:ext uri="{FF2B5EF4-FFF2-40B4-BE49-F238E27FC236}">
                <a16:creationId xmlns:a16="http://schemas.microsoft.com/office/drawing/2014/main" id="{6B9C6FAA-6780-431A-910C-738D95B3514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02150" y="365509"/>
            <a:ext cx="2161308" cy="599425"/>
          </a:xfrm>
          <a:prstGeom prst="rect">
            <a:avLst/>
          </a:prstGeom>
        </p:spPr>
      </p:pic>
      <p:sp>
        <p:nvSpPr>
          <p:cNvPr id="40" name="文本框 39">
            <a:extLst>
              <a:ext uri="{FF2B5EF4-FFF2-40B4-BE49-F238E27FC236}">
                <a16:creationId xmlns:a16="http://schemas.microsoft.com/office/drawing/2014/main" id="{04E6415A-080A-412B-A374-19496E675F49}"/>
              </a:ext>
            </a:extLst>
          </p:cNvPr>
          <p:cNvSpPr txBox="1"/>
          <p:nvPr/>
        </p:nvSpPr>
        <p:spPr>
          <a:xfrm>
            <a:off x="631954" y="4724552"/>
            <a:ext cx="238597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微软雅黑"/>
                <a:ea typeface="微软雅黑"/>
                <a:cs typeface="+mn-cs"/>
              </a:rPr>
              <a:t>发展过程</a:t>
            </a:r>
          </a:p>
        </p:txBody>
      </p:sp>
      <p:sp>
        <p:nvSpPr>
          <p:cNvPr id="56" name="文本框 55">
            <a:extLst>
              <a:ext uri="{FF2B5EF4-FFF2-40B4-BE49-F238E27FC236}">
                <a16:creationId xmlns:a16="http://schemas.microsoft.com/office/drawing/2014/main" id="{63535199-513C-49B0-8A6A-926E3D04FA24}"/>
              </a:ext>
            </a:extLst>
          </p:cNvPr>
          <p:cNvSpPr txBox="1"/>
          <p:nvPr/>
        </p:nvSpPr>
        <p:spPr>
          <a:xfrm>
            <a:off x="6340470" y="4724551"/>
            <a:ext cx="238597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微软雅黑"/>
                <a:ea typeface="微软雅黑"/>
                <a:cs typeface="+mn-cs"/>
              </a:rPr>
              <a:t>CTGAN</a:t>
            </a:r>
            <a:endParaRPr kumimoji="0" lang="zh-CN" altLang="en-US" sz="2400" b="0" i="0" u="none" strike="noStrike" kern="1200" cap="none" spc="0" normalizeH="0" baseline="0" noProof="0" dirty="0">
              <a:ln>
                <a:noFill/>
              </a:ln>
              <a:solidFill>
                <a:prstClr val="black"/>
              </a:solidFill>
              <a:effectLst/>
              <a:uLnTx/>
              <a:uFillTx/>
              <a:latin typeface="微软雅黑"/>
              <a:ea typeface="微软雅黑"/>
              <a:cs typeface="+mn-cs"/>
            </a:endParaRPr>
          </a:p>
        </p:txBody>
      </p:sp>
    </p:spTree>
    <p:extLst>
      <p:ext uri="{BB962C8B-B14F-4D97-AF65-F5344CB8AC3E}">
        <p14:creationId xmlns:p14="http://schemas.microsoft.com/office/powerpoint/2010/main" val="3184071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5D9D6A9-337F-42A2-BCCA-8F338829F0A3}"/>
              </a:ext>
            </a:extLst>
          </p:cNvPr>
          <p:cNvSpPr/>
          <p:nvPr/>
        </p:nvSpPr>
        <p:spPr>
          <a:xfrm>
            <a:off x="1" y="481263"/>
            <a:ext cx="12192000" cy="72000"/>
          </a:xfrm>
          <a:prstGeom prst="rect">
            <a:avLst/>
          </a:prstGeom>
          <a:solidFill>
            <a:srgbClr val="003F87">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82090"/>
              </a:solidFill>
              <a:effectLst/>
              <a:uLnTx/>
              <a:uFillTx/>
              <a:latin typeface="微软雅黑 Light"/>
              <a:ea typeface="微软雅黑 Light"/>
              <a:cs typeface="+mn-cs"/>
            </a:endParaRPr>
          </a:p>
        </p:txBody>
      </p:sp>
      <p:grpSp>
        <p:nvGrpSpPr>
          <p:cNvPr id="13" name="组合 12">
            <a:extLst>
              <a:ext uri="{FF2B5EF4-FFF2-40B4-BE49-F238E27FC236}">
                <a16:creationId xmlns:a16="http://schemas.microsoft.com/office/drawing/2014/main" id="{D1242031-CB56-41DD-AAE7-EC8A25A19202}"/>
              </a:ext>
            </a:extLst>
          </p:cNvPr>
          <p:cNvGrpSpPr/>
          <p:nvPr/>
        </p:nvGrpSpPr>
        <p:grpSpPr>
          <a:xfrm>
            <a:off x="5416649" y="76583"/>
            <a:ext cx="6301683" cy="369332"/>
            <a:chOff x="5416649" y="76583"/>
            <a:chExt cx="6301683" cy="369332"/>
          </a:xfrm>
        </p:grpSpPr>
        <p:sp>
          <p:nvSpPr>
            <p:cNvPr id="12" name="矩形 11">
              <a:extLst>
                <a:ext uri="{FF2B5EF4-FFF2-40B4-BE49-F238E27FC236}">
                  <a16:creationId xmlns:a16="http://schemas.microsoft.com/office/drawing/2014/main" id="{A60EDE69-3FC4-463D-B8FA-519ED3E54C8E}"/>
                </a:ext>
              </a:extLst>
            </p:cNvPr>
            <p:cNvSpPr/>
            <p:nvPr/>
          </p:nvSpPr>
          <p:spPr>
            <a:xfrm>
              <a:off x="8586396" y="76583"/>
              <a:ext cx="1311305" cy="308804"/>
            </a:xfrm>
            <a:prstGeom prst="rect">
              <a:avLst/>
            </a:prstGeom>
            <a:solidFill>
              <a:srgbClr val="003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sp>
          <p:nvSpPr>
            <p:cNvPr id="5" name="文本框 4">
              <a:extLst>
                <a:ext uri="{FF2B5EF4-FFF2-40B4-BE49-F238E27FC236}">
                  <a16:creationId xmlns:a16="http://schemas.microsoft.com/office/drawing/2014/main" id="{1A7EBC06-2FA6-4594-A4DE-6F2E9D86D04C}"/>
                </a:ext>
              </a:extLst>
            </p:cNvPr>
            <p:cNvSpPr txBox="1"/>
            <p:nvPr/>
          </p:nvSpPr>
          <p:spPr>
            <a:xfrm>
              <a:off x="7046607" y="76583"/>
              <a:ext cx="11309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rgbClr val="003F87"/>
                  </a:solidFill>
                  <a:latin typeface="微软雅黑 Light"/>
                  <a:ea typeface="微软雅黑 Light"/>
                </a:rPr>
                <a:t>GAN</a:t>
              </a:r>
              <a:endParaRPr kumimoji="0" lang="zh-CN" altLang="en-US" sz="1800" b="0" i="0" u="none" strike="noStrike" kern="1200" cap="none" spc="0" normalizeH="0" baseline="0" noProof="0" dirty="0">
                <a:ln>
                  <a:noFill/>
                </a:ln>
                <a:solidFill>
                  <a:srgbClr val="003F87"/>
                </a:solidFill>
                <a:effectLst/>
                <a:uLnTx/>
                <a:uFillTx/>
                <a:latin typeface="微软雅黑 Light"/>
                <a:ea typeface="微软雅黑 Light"/>
              </a:endParaRPr>
            </a:p>
          </p:txBody>
        </p:sp>
        <p:sp>
          <p:nvSpPr>
            <p:cNvPr id="4" name="文本框 3">
              <a:extLst>
                <a:ext uri="{FF2B5EF4-FFF2-40B4-BE49-F238E27FC236}">
                  <a16:creationId xmlns:a16="http://schemas.microsoft.com/office/drawing/2014/main" id="{5292CB5F-A4AC-47BE-A81F-1C3B2B8C443B}"/>
                </a:ext>
              </a:extLst>
            </p:cNvPr>
            <p:cNvSpPr txBox="1"/>
            <p:nvPr/>
          </p:nvSpPr>
          <p:spPr>
            <a:xfrm>
              <a:off x="5416649" y="76583"/>
              <a:ext cx="11309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003F87"/>
                  </a:solidFill>
                  <a:latin typeface="微软雅黑 Light"/>
                  <a:ea typeface="微软雅黑 Light"/>
                </a:rPr>
                <a:t>发展过程</a:t>
              </a:r>
              <a:endParaRPr kumimoji="0" lang="zh-CN" altLang="en-US" sz="1800" b="0" i="0" u="none" strike="noStrike" kern="1200" cap="none" spc="0" normalizeH="0" baseline="0" noProof="0" dirty="0">
                <a:ln>
                  <a:noFill/>
                </a:ln>
                <a:solidFill>
                  <a:srgbClr val="003F87"/>
                </a:solidFill>
                <a:effectLst/>
                <a:uLnTx/>
                <a:uFillTx/>
                <a:latin typeface="微软雅黑 Light"/>
                <a:ea typeface="微软雅黑 Light"/>
              </a:endParaRPr>
            </a:p>
          </p:txBody>
        </p:sp>
        <p:sp>
          <p:nvSpPr>
            <p:cNvPr id="6" name="文本框 5">
              <a:extLst>
                <a:ext uri="{FF2B5EF4-FFF2-40B4-BE49-F238E27FC236}">
                  <a16:creationId xmlns:a16="http://schemas.microsoft.com/office/drawing/2014/main" id="{E2F59C7A-835A-4B02-B426-030D8A682C65}"/>
                </a:ext>
              </a:extLst>
            </p:cNvPr>
            <p:cNvSpPr txBox="1"/>
            <p:nvPr/>
          </p:nvSpPr>
          <p:spPr>
            <a:xfrm>
              <a:off x="8676565" y="76583"/>
              <a:ext cx="11309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bg1"/>
                  </a:solidFill>
                  <a:latin typeface="微软雅黑 Light"/>
                  <a:ea typeface="微软雅黑 Light"/>
                </a:rPr>
                <a:t>CTGAN</a:t>
              </a:r>
              <a:endParaRPr kumimoji="0" lang="zh-CN" altLang="en-US" sz="1800" b="0" i="0" u="none" strike="noStrike" kern="1200" cap="none" spc="0" normalizeH="0" baseline="0" noProof="0" dirty="0">
                <a:ln>
                  <a:noFill/>
                </a:ln>
                <a:solidFill>
                  <a:schemeClr val="bg1"/>
                </a:solidFill>
                <a:effectLst/>
                <a:uLnTx/>
                <a:uFillTx/>
                <a:latin typeface="微软雅黑 Light"/>
                <a:ea typeface="微软雅黑 Light"/>
              </a:endParaRPr>
            </a:p>
          </p:txBody>
        </p:sp>
        <p:sp>
          <p:nvSpPr>
            <p:cNvPr id="7" name="文本框 6">
              <a:extLst>
                <a:ext uri="{FF2B5EF4-FFF2-40B4-BE49-F238E27FC236}">
                  <a16:creationId xmlns:a16="http://schemas.microsoft.com/office/drawing/2014/main" id="{CB8930FC-3020-4855-9D38-CAB435C012DE}"/>
                </a:ext>
              </a:extLst>
            </p:cNvPr>
            <p:cNvSpPr txBox="1"/>
            <p:nvPr/>
          </p:nvSpPr>
          <p:spPr>
            <a:xfrm>
              <a:off x="10306523" y="76583"/>
              <a:ext cx="141180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3F87"/>
                  </a:solidFill>
                  <a:effectLst/>
                  <a:uLnTx/>
                  <a:uFillTx/>
                  <a:latin typeface="微软雅黑 Light"/>
                  <a:ea typeface="微软雅黑 Light"/>
                  <a:cs typeface="+mn-cs"/>
                </a:rPr>
                <a:t>总结与思考</a:t>
              </a:r>
            </a:p>
          </p:txBody>
        </p:sp>
        <p:grpSp>
          <p:nvGrpSpPr>
            <p:cNvPr id="8" name="组合 7">
              <a:extLst>
                <a:ext uri="{FF2B5EF4-FFF2-40B4-BE49-F238E27FC236}">
                  <a16:creationId xmlns:a16="http://schemas.microsoft.com/office/drawing/2014/main" id="{31C43EC3-F619-4D86-967C-43CACE30D1FB}"/>
                </a:ext>
              </a:extLst>
            </p:cNvPr>
            <p:cNvGrpSpPr/>
            <p:nvPr/>
          </p:nvGrpSpPr>
          <p:grpSpPr>
            <a:xfrm>
              <a:off x="6791404" y="159486"/>
              <a:ext cx="3296092" cy="209852"/>
              <a:chOff x="6358270" y="115009"/>
              <a:chExt cx="3296092" cy="307494"/>
            </a:xfrm>
          </p:grpSpPr>
          <p:cxnSp>
            <p:nvCxnSpPr>
              <p:cNvPr id="9" name="直接连接符 8">
                <a:extLst>
                  <a:ext uri="{FF2B5EF4-FFF2-40B4-BE49-F238E27FC236}">
                    <a16:creationId xmlns:a16="http://schemas.microsoft.com/office/drawing/2014/main" id="{2D86E86F-7BA5-4521-AB60-58BA96EA6A5B}"/>
                  </a:ext>
                </a:extLst>
              </p:cNvPr>
              <p:cNvCxnSpPr>
                <a:cxnSpLocks/>
              </p:cNvCxnSpPr>
              <p:nvPr/>
            </p:nvCxnSpPr>
            <p:spPr>
              <a:xfrm>
                <a:off x="6358270" y="115009"/>
                <a:ext cx="0" cy="30749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48787DB2-D46F-4A23-8391-FD6D91652166}"/>
                  </a:ext>
                </a:extLst>
              </p:cNvPr>
              <p:cNvCxnSpPr>
                <a:cxnSpLocks/>
              </p:cNvCxnSpPr>
              <p:nvPr/>
            </p:nvCxnSpPr>
            <p:spPr>
              <a:xfrm>
                <a:off x="8006316" y="115009"/>
                <a:ext cx="0" cy="30749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6035BB35-CC45-4A60-944C-0CB81EABC46A}"/>
                  </a:ext>
                </a:extLst>
              </p:cNvPr>
              <p:cNvCxnSpPr>
                <a:cxnSpLocks/>
              </p:cNvCxnSpPr>
              <p:nvPr/>
            </p:nvCxnSpPr>
            <p:spPr>
              <a:xfrm>
                <a:off x="9654362" y="115009"/>
                <a:ext cx="0" cy="30749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pic>
        <p:nvPicPr>
          <p:cNvPr id="41" name="图形 40">
            <a:extLst>
              <a:ext uri="{FF2B5EF4-FFF2-40B4-BE49-F238E27FC236}">
                <a16:creationId xmlns:a16="http://schemas.microsoft.com/office/drawing/2014/main" id="{7397B797-408E-4ED0-BE39-413E49E1A3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3661" y="98896"/>
            <a:ext cx="1251222" cy="347019"/>
          </a:xfrm>
          <a:prstGeom prst="rect">
            <a:avLst/>
          </a:prstGeom>
        </p:spPr>
      </p:pic>
      <p:grpSp>
        <p:nvGrpSpPr>
          <p:cNvPr id="18" name="组合 17">
            <a:extLst>
              <a:ext uri="{FF2B5EF4-FFF2-40B4-BE49-F238E27FC236}">
                <a16:creationId xmlns:a16="http://schemas.microsoft.com/office/drawing/2014/main" id="{0A387E8C-BAF6-4A5A-A446-674049519FD8}"/>
              </a:ext>
            </a:extLst>
          </p:cNvPr>
          <p:cNvGrpSpPr/>
          <p:nvPr/>
        </p:nvGrpSpPr>
        <p:grpSpPr>
          <a:xfrm>
            <a:off x="2921455" y="760944"/>
            <a:ext cx="6225124" cy="2785781"/>
            <a:chOff x="3672577" y="760944"/>
            <a:chExt cx="6225124" cy="2785781"/>
          </a:xfrm>
        </p:grpSpPr>
        <p:sp>
          <p:nvSpPr>
            <p:cNvPr id="14" name="矩形 13">
              <a:extLst>
                <a:ext uri="{FF2B5EF4-FFF2-40B4-BE49-F238E27FC236}">
                  <a16:creationId xmlns:a16="http://schemas.microsoft.com/office/drawing/2014/main" id="{89E46199-E04D-4804-A07C-303ED940BA93}"/>
                </a:ext>
              </a:extLst>
            </p:cNvPr>
            <p:cNvSpPr/>
            <p:nvPr/>
          </p:nvSpPr>
          <p:spPr>
            <a:xfrm>
              <a:off x="3672577" y="760944"/>
              <a:ext cx="6209865" cy="520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mj-ea"/>
                  <a:ea typeface="+mj-ea"/>
                </a:rPr>
                <a:t>GAN</a:t>
              </a:r>
              <a:r>
                <a:rPr lang="zh-CN" altLang="en-US" sz="2400" dirty="0">
                  <a:latin typeface="+mj-ea"/>
                  <a:ea typeface="+mj-ea"/>
                </a:rPr>
                <a:t>生成表数据面临的问题</a:t>
              </a:r>
            </a:p>
          </p:txBody>
        </p:sp>
        <p:sp>
          <p:nvSpPr>
            <p:cNvPr id="3" name="矩形 2">
              <a:extLst>
                <a:ext uri="{FF2B5EF4-FFF2-40B4-BE49-F238E27FC236}">
                  <a16:creationId xmlns:a16="http://schemas.microsoft.com/office/drawing/2014/main" id="{52480AFD-2FB1-4EB1-B25E-144DA7693952}"/>
                </a:ext>
              </a:extLst>
            </p:cNvPr>
            <p:cNvSpPr/>
            <p:nvPr/>
          </p:nvSpPr>
          <p:spPr>
            <a:xfrm>
              <a:off x="3687835" y="1489325"/>
              <a:ext cx="6209866" cy="2057400"/>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Font typeface="Wingdings" panose="05000000000000000000" pitchFamily="2" charset="2"/>
                <a:buChar char="l"/>
              </a:pPr>
              <a:r>
                <a:rPr lang="zh-CN" altLang="en-US" sz="2000" dirty="0">
                  <a:solidFill>
                    <a:schemeClr val="tx1"/>
                  </a:solidFill>
                  <a:latin typeface="+mn-ea"/>
                </a:rPr>
                <a:t>混合数据类型，包含连续数据和离散数据</a:t>
              </a:r>
              <a:endParaRPr lang="en-US" altLang="zh-CN" sz="2000" dirty="0">
                <a:solidFill>
                  <a:schemeClr val="tx1"/>
                </a:solidFill>
                <a:latin typeface="+mn-ea"/>
              </a:endParaRPr>
            </a:p>
            <a:p>
              <a:pPr marL="342900" indent="-342900">
                <a:lnSpc>
                  <a:spcPct val="150000"/>
                </a:lnSpc>
                <a:buFont typeface="Wingdings" panose="05000000000000000000" pitchFamily="2" charset="2"/>
                <a:buChar char="l"/>
              </a:pPr>
              <a:r>
                <a:rPr lang="zh-CN" altLang="en-US" sz="2000" dirty="0">
                  <a:solidFill>
                    <a:schemeClr val="tx1"/>
                  </a:solidFill>
                  <a:latin typeface="+mn-ea"/>
                </a:rPr>
                <a:t>非高斯分布</a:t>
              </a:r>
              <a:endParaRPr lang="en-US" altLang="zh-CN" sz="2000" dirty="0">
                <a:solidFill>
                  <a:schemeClr val="tx1"/>
                </a:solidFill>
                <a:latin typeface="+mn-ea"/>
              </a:endParaRPr>
            </a:p>
            <a:p>
              <a:pPr marL="342900" indent="-342900">
                <a:lnSpc>
                  <a:spcPct val="150000"/>
                </a:lnSpc>
                <a:buFont typeface="Wingdings" panose="05000000000000000000" pitchFamily="2" charset="2"/>
                <a:buChar char="l"/>
              </a:pPr>
              <a:r>
                <a:rPr lang="zh-CN" altLang="en-US" sz="2000" dirty="0">
                  <a:solidFill>
                    <a:schemeClr val="tx1"/>
                  </a:solidFill>
                  <a:latin typeface="+mn-ea"/>
                </a:rPr>
                <a:t>多模态分布</a:t>
              </a:r>
              <a:endParaRPr lang="en-US" altLang="zh-CN" sz="2000" dirty="0">
                <a:solidFill>
                  <a:schemeClr val="tx1"/>
                </a:solidFill>
                <a:latin typeface="+mn-ea"/>
              </a:endParaRPr>
            </a:p>
            <a:p>
              <a:pPr marL="342900" indent="-342900">
                <a:lnSpc>
                  <a:spcPct val="150000"/>
                </a:lnSpc>
                <a:buFont typeface="Wingdings" panose="05000000000000000000" pitchFamily="2" charset="2"/>
                <a:buChar char="l"/>
              </a:pPr>
              <a:r>
                <a:rPr lang="zh-CN" altLang="en-US" sz="2000" dirty="0">
                  <a:solidFill>
                    <a:schemeClr val="tx1"/>
                  </a:solidFill>
                  <a:latin typeface="+mn-ea"/>
                </a:rPr>
                <a:t>列取值的不平衡性</a:t>
              </a:r>
              <a:endParaRPr lang="en-US" altLang="zh-CN" sz="2000" dirty="0">
                <a:solidFill>
                  <a:schemeClr val="tx1"/>
                </a:solidFill>
                <a:latin typeface="+mn-ea"/>
              </a:endParaRPr>
            </a:p>
          </p:txBody>
        </p:sp>
      </p:grpSp>
      <p:grpSp>
        <p:nvGrpSpPr>
          <p:cNvPr id="20" name="组合 19">
            <a:extLst>
              <a:ext uri="{FF2B5EF4-FFF2-40B4-BE49-F238E27FC236}">
                <a16:creationId xmlns:a16="http://schemas.microsoft.com/office/drawing/2014/main" id="{FF16F64B-824A-404E-922A-10640770E624}"/>
              </a:ext>
            </a:extLst>
          </p:cNvPr>
          <p:cNvGrpSpPr/>
          <p:nvPr/>
        </p:nvGrpSpPr>
        <p:grpSpPr>
          <a:xfrm>
            <a:off x="2970445" y="3995400"/>
            <a:ext cx="6237654" cy="2786017"/>
            <a:chOff x="3672577" y="3995400"/>
            <a:chExt cx="6237654" cy="2786017"/>
          </a:xfrm>
        </p:grpSpPr>
        <p:sp>
          <p:nvSpPr>
            <p:cNvPr id="16" name="矩形 15">
              <a:extLst>
                <a:ext uri="{FF2B5EF4-FFF2-40B4-BE49-F238E27FC236}">
                  <a16:creationId xmlns:a16="http://schemas.microsoft.com/office/drawing/2014/main" id="{5595D6B6-F5DB-428F-B287-6DD25C2A46A4}"/>
                </a:ext>
              </a:extLst>
            </p:cNvPr>
            <p:cNvSpPr/>
            <p:nvPr/>
          </p:nvSpPr>
          <p:spPr>
            <a:xfrm>
              <a:off x="3672577" y="3995400"/>
              <a:ext cx="6209867" cy="520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mj-ea"/>
                  <a:ea typeface="+mj-ea"/>
                </a:rPr>
                <a:t>CTGAN</a:t>
              </a:r>
              <a:r>
                <a:rPr lang="zh-CN" altLang="en-US" sz="2400" dirty="0">
                  <a:latin typeface="+mj-ea"/>
                  <a:ea typeface="+mj-ea"/>
                </a:rPr>
                <a:t>的解决方式</a:t>
              </a:r>
            </a:p>
          </p:txBody>
        </p:sp>
        <p:sp>
          <p:nvSpPr>
            <p:cNvPr id="19" name="矩形 18">
              <a:extLst>
                <a:ext uri="{FF2B5EF4-FFF2-40B4-BE49-F238E27FC236}">
                  <a16:creationId xmlns:a16="http://schemas.microsoft.com/office/drawing/2014/main" id="{0D2FE367-5D99-4C61-B210-54576BCDC88B}"/>
                </a:ext>
              </a:extLst>
            </p:cNvPr>
            <p:cNvSpPr/>
            <p:nvPr/>
          </p:nvSpPr>
          <p:spPr>
            <a:xfrm>
              <a:off x="3672577" y="4724017"/>
              <a:ext cx="6237654" cy="2057400"/>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200000"/>
                </a:lnSpc>
                <a:buFont typeface="Wingdings" panose="05000000000000000000" pitchFamily="2" charset="2"/>
                <a:buChar char="l"/>
              </a:pPr>
              <a:r>
                <a:rPr lang="en-US" altLang="zh-CN" sz="2000" dirty="0">
                  <a:solidFill>
                    <a:schemeClr val="tx1"/>
                  </a:solidFill>
                  <a:latin typeface="+mn-ea"/>
                </a:rPr>
                <a:t>Mode-Specific</a:t>
              </a:r>
              <a:r>
                <a:rPr lang="zh-CN" altLang="en-US" sz="2000" dirty="0">
                  <a:solidFill>
                    <a:schemeClr val="tx1"/>
                  </a:solidFill>
                  <a:latin typeface="+mn-ea"/>
                </a:rPr>
                <a:t> </a:t>
              </a:r>
              <a:r>
                <a:rPr lang="en-US" altLang="zh-CN" sz="2000" dirty="0">
                  <a:solidFill>
                    <a:schemeClr val="tx1"/>
                  </a:solidFill>
                  <a:latin typeface="+mn-ea"/>
                </a:rPr>
                <a:t>Normalization</a:t>
              </a:r>
            </a:p>
            <a:p>
              <a:pPr marL="342900" indent="-342900">
                <a:lnSpc>
                  <a:spcPct val="200000"/>
                </a:lnSpc>
                <a:buFont typeface="Wingdings" panose="05000000000000000000" pitchFamily="2" charset="2"/>
                <a:buChar char="l"/>
              </a:pPr>
              <a:r>
                <a:rPr lang="en-US" altLang="zh-CN" sz="2000" dirty="0">
                  <a:solidFill>
                    <a:schemeClr val="tx1"/>
                  </a:solidFill>
                  <a:latin typeface="+mn-ea"/>
                </a:rPr>
                <a:t>Conditional Generator and Training-by-Sampling</a:t>
              </a:r>
            </a:p>
          </p:txBody>
        </p:sp>
      </p:grpSp>
    </p:spTree>
    <p:extLst>
      <p:ext uri="{BB962C8B-B14F-4D97-AF65-F5344CB8AC3E}">
        <p14:creationId xmlns:p14="http://schemas.microsoft.com/office/powerpoint/2010/main" val="528962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5D9D6A9-337F-42A2-BCCA-8F338829F0A3}"/>
              </a:ext>
            </a:extLst>
          </p:cNvPr>
          <p:cNvSpPr/>
          <p:nvPr/>
        </p:nvSpPr>
        <p:spPr>
          <a:xfrm>
            <a:off x="1" y="481263"/>
            <a:ext cx="12192000" cy="72000"/>
          </a:xfrm>
          <a:prstGeom prst="rect">
            <a:avLst/>
          </a:prstGeom>
          <a:solidFill>
            <a:srgbClr val="003F87">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82090"/>
              </a:solidFill>
              <a:effectLst/>
              <a:uLnTx/>
              <a:uFillTx/>
              <a:latin typeface="微软雅黑 Light"/>
              <a:ea typeface="微软雅黑 Light"/>
              <a:cs typeface="+mn-cs"/>
            </a:endParaRPr>
          </a:p>
        </p:txBody>
      </p:sp>
      <p:grpSp>
        <p:nvGrpSpPr>
          <p:cNvPr id="13" name="组合 12">
            <a:extLst>
              <a:ext uri="{FF2B5EF4-FFF2-40B4-BE49-F238E27FC236}">
                <a16:creationId xmlns:a16="http://schemas.microsoft.com/office/drawing/2014/main" id="{D1242031-CB56-41DD-AAE7-EC8A25A19202}"/>
              </a:ext>
            </a:extLst>
          </p:cNvPr>
          <p:cNvGrpSpPr/>
          <p:nvPr/>
        </p:nvGrpSpPr>
        <p:grpSpPr>
          <a:xfrm>
            <a:off x="5416649" y="76583"/>
            <a:ext cx="6301683" cy="369332"/>
            <a:chOff x="5416649" y="76583"/>
            <a:chExt cx="6301683" cy="369332"/>
          </a:xfrm>
        </p:grpSpPr>
        <p:sp>
          <p:nvSpPr>
            <p:cNvPr id="12" name="矩形 11">
              <a:extLst>
                <a:ext uri="{FF2B5EF4-FFF2-40B4-BE49-F238E27FC236}">
                  <a16:creationId xmlns:a16="http://schemas.microsoft.com/office/drawing/2014/main" id="{A60EDE69-3FC4-463D-B8FA-519ED3E54C8E}"/>
                </a:ext>
              </a:extLst>
            </p:cNvPr>
            <p:cNvSpPr/>
            <p:nvPr/>
          </p:nvSpPr>
          <p:spPr>
            <a:xfrm>
              <a:off x="8586396" y="76583"/>
              <a:ext cx="1311305" cy="308804"/>
            </a:xfrm>
            <a:prstGeom prst="rect">
              <a:avLst/>
            </a:prstGeom>
            <a:solidFill>
              <a:srgbClr val="003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sp>
          <p:nvSpPr>
            <p:cNvPr id="5" name="文本框 4">
              <a:extLst>
                <a:ext uri="{FF2B5EF4-FFF2-40B4-BE49-F238E27FC236}">
                  <a16:creationId xmlns:a16="http://schemas.microsoft.com/office/drawing/2014/main" id="{1A7EBC06-2FA6-4594-A4DE-6F2E9D86D04C}"/>
                </a:ext>
              </a:extLst>
            </p:cNvPr>
            <p:cNvSpPr txBox="1"/>
            <p:nvPr/>
          </p:nvSpPr>
          <p:spPr>
            <a:xfrm>
              <a:off x="7046607" y="76583"/>
              <a:ext cx="11309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rgbClr val="003F87"/>
                  </a:solidFill>
                  <a:latin typeface="微软雅黑 Light"/>
                  <a:ea typeface="微软雅黑 Light"/>
                </a:rPr>
                <a:t>GAN</a:t>
              </a:r>
              <a:endParaRPr kumimoji="0" lang="zh-CN" altLang="en-US" sz="1800" b="0" i="0" u="none" strike="noStrike" kern="1200" cap="none" spc="0" normalizeH="0" baseline="0" noProof="0" dirty="0">
                <a:ln>
                  <a:noFill/>
                </a:ln>
                <a:solidFill>
                  <a:srgbClr val="003F87"/>
                </a:solidFill>
                <a:effectLst/>
                <a:uLnTx/>
                <a:uFillTx/>
                <a:latin typeface="微软雅黑 Light"/>
                <a:ea typeface="微软雅黑 Light"/>
              </a:endParaRPr>
            </a:p>
          </p:txBody>
        </p:sp>
        <p:sp>
          <p:nvSpPr>
            <p:cNvPr id="4" name="文本框 3">
              <a:extLst>
                <a:ext uri="{FF2B5EF4-FFF2-40B4-BE49-F238E27FC236}">
                  <a16:creationId xmlns:a16="http://schemas.microsoft.com/office/drawing/2014/main" id="{5292CB5F-A4AC-47BE-A81F-1C3B2B8C443B}"/>
                </a:ext>
              </a:extLst>
            </p:cNvPr>
            <p:cNvSpPr txBox="1"/>
            <p:nvPr/>
          </p:nvSpPr>
          <p:spPr>
            <a:xfrm>
              <a:off x="5416649" y="76583"/>
              <a:ext cx="11309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003F87"/>
                  </a:solidFill>
                  <a:latin typeface="微软雅黑 Light"/>
                  <a:ea typeface="微软雅黑 Light"/>
                </a:rPr>
                <a:t>发展过程</a:t>
              </a:r>
              <a:endParaRPr kumimoji="0" lang="zh-CN" altLang="en-US" sz="1800" b="0" i="0" u="none" strike="noStrike" kern="1200" cap="none" spc="0" normalizeH="0" baseline="0" noProof="0" dirty="0">
                <a:ln>
                  <a:noFill/>
                </a:ln>
                <a:solidFill>
                  <a:srgbClr val="003F87"/>
                </a:solidFill>
                <a:effectLst/>
                <a:uLnTx/>
                <a:uFillTx/>
                <a:latin typeface="微软雅黑 Light"/>
                <a:ea typeface="微软雅黑 Light"/>
              </a:endParaRPr>
            </a:p>
          </p:txBody>
        </p:sp>
        <p:sp>
          <p:nvSpPr>
            <p:cNvPr id="6" name="文本框 5">
              <a:extLst>
                <a:ext uri="{FF2B5EF4-FFF2-40B4-BE49-F238E27FC236}">
                  <a16:creationId xmlns:a16="http://schemas.microsoft.com/office/drawing/2014/main" id="{E2F59C7A-835A-4B02-B426-030D8A682C65}"/>
                </a:ext>
              </a:extLst>
            </p:cNvPr>
            <p:cNvSpPr txBox="1"/>
            <p:nvPr/>
          </p:nvSpPr>
          <p:spPr>
            <a:xfrm>
              <a:off x="8676565" y="76583"/>
              <a:ext cx="11309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bg1"/>
                  </a:solidFill>
                  <a:latin typeface="微软雅黑 Light"/>
                  <a:ea typeface="微软雅黑 Light"/>
                </a:rPr>
                <a:t>CTGAN</a:t>
              </a:r>
              <a:endParaRPr kumimoji="0" lang="zh-CN" altLang="en-US" sz="1800" b="0" i="0" u="none" strike="noStrike" kern="1200" cap="none" spc="0" normalizeH="0" baseline="0" noProof="0" dirty="0">
                <a:ln>
                  <a:noFill/>
                </a:ln>
                <a:solidFill>
                  <a:schemeClr val="bg1"/>
                </a:solidFill>
                <a:effectLst/>
                <a:uLnTx/>
                <a:uFillTx/>
                <a:latin typeface="微软雅黑 Light"/>
                <a:ea typeface="微软雅黑 Light"/>
              </a:endParaRPr>
            </a:p>
          </p:txBody>
        </p:sp>
        <p:sp>
          <p:nvSpPr>
            <p:cNvPr id="7" name="文本框 6">
              <a:extLst>
                <a:ext uri="{FF2B5EF4-FFF2-40B4-BE49-F238E27FC236}">
                  <a16:creationId xmlns:a16="http://schemas.microsoft.com/office/drawing/2014/main" id="{CB8930FC-3020-4855-9D38-CAB435C012DE}"/>
                </a:ext>
              </a:extLst>
            </p:cNvPr>
            <p:cNvSpPr txBox="1"/>
            <p:nvPr/>
          </p:nvSpPr>
          <p:spPr>
            <a:xfrm>
              <a:off x="10306523" y="76583"/>
              <a:ext cx="141180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3F87"/>
                  </a:solidFill>
                  <a:effectLst/>
                  <a:uLnTx/>
                  <a:uFillTx/>
                  <a:latin typeface="微软雅黑 Light"/>
                  <a:ea typeface="微软雅黑 Light"/>
                  <a:cs typeface="+mn-cs"/>
                </a:rPr>
                <a:t>总结与思考</a:t>
              </a:r>
            </a:p>
          </p:txBody>
        </p:sp>
        <p:grpSp>
          <p:nvGrpSpPr>
            <p:cNvPr id="8" name="组合 7">
              <a:extLst>
                <a:ext uri="{FF2B5EF4-FFF2-40B4-BE49-F238E27FC236}">
                  <a16:creationId xmlns:a16="http://schemas.microsoft.com/office/drawing/2014/main" id="{31C43EC3-F619-4D86-967C-43CACE30D1FB}"/>
                </a:ext>
              </a:extLst>
            </p:cNvPr>
            <p:cNvGrpSpPr/>
            <p:nvPr/>
          </p:nvGrpSpPr>
          <p:grpSpPr>
            <a:xfrm>
              <a:off x="6791404" y="159486"/>
              <a:ext cx="3296092" cy="209852"/>
              <a:chOff x="6358270" y="115009"/>
              <a:chExt cx="3296092" cy="307494"/>
            </a:xfrm>
          </p:grpSpPr>
          <p:cxnSp>
            <p:nvCxnSpPr>
              <p:cNvPr id="9" name="直接连接符 8">
                <a:extLst>
                  <a:ext uri="{FF2B5EF4-FFF2-40B4-BE49-F238E27FC236}">
                    <a16:creationId xmlns:a16="http://schemas.microsoft.com/office/drawing/2014/main" id="{2D86E86F-7BA5-4521-AB60-58BA96EA6A5B}"/>
                  </a:ext>
                </a:extLst>
              </p:cNvPr>
              <p:cNvCxnSpPr>
                <a:cxnSpLocks/>
              </p:cNvCxnSpPr>
              <p:nvPr/>
            </p:nvCxnSpPr>
            <p:spPr>
              <a:xfrm>
                <a:off x="6358270" y="115009"/>
                <a:ext cx="0" cy="30749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48787DB2-D46F-4A23-8391-FD6D91652166}"/>
                  </a:ext>
                </a:extLst>
              </p:cNvPr>
              <p:cNvCxnSpPr>
                <a:cxnSpLocks/>
              </p:cNvCxnSpPr>
              <p:nvPr/>
            </p:nvCxnSpPr>
            <p:spPr>
              <a:xfrm>
                <a:off x="8006316" y="115009"/>
                <a:ext cx="0" cy="30749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6035BB35-CC45-4A60-944C-0CB81EABC46A}"/>
                  </a:ext>
                </a:extLst>
              </p:cNvPr>
              <p:cNvCxnSpPr>
                <a:cxnSpLocks/>
              </p:cNvCxnSpPr>
              <p:nvPr/>
            </p:nvCxnSpPr>
            <p:spPr>
              <a:xfrm>
                <a:off x="9654362" y="115009"/>
                <a:ext cx="0" cy="30749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pic>
        <p:nvPicPr>
          <p:cNvPr id="41" name="图形 40">
            <a:extLst>
              <a:ext uri="{FF2B5EF4-FFF2-40B4-BE49-F238E27FC236}">
                <a16:creationId xmlns:a16="http://schemas.microsoft.com/office/drawing/2014/main" id="{7397B797-408E-4ED0-BE39-413E49E1A3A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73661" y="98896"/>
            <a:ext cx="1251222" cy="347019"/>
          </a:xfrm>
          <a:prstGeom prst="rect">
            <a:avLst/>
          </a:prstGeom>
        </p:spPr>
      </p:pic>
      <p:sp>
        <p:nvSpPr>
          <p:cNvPr id="21" name="矩形 20">
            <a:extLst>
              <a:ext uri="{FF2B5EF4-FFF2-40B4-BE49-F238E27FC236}">
                <a16:creationId xmlns:a16="http://schemas.microsoft.com/office/drawing/2014/main" id="{47BA6B27-EBF3-4554-8D95-2F792EC73369}"/>
              </a:ext>
            </a:extLst>
          </p:cNvPr>
          <p:cNvSpPr/>
          <p:nvPr/>
        </p:nvSpPr>
        <p:spPr>
          <a:xfrm>
            <a:off x="375549" y="747018"/>
            <a:ext cx="4572008" cy="520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bg1"/>
                </a:solidFill>
                <a:latin typeface="+mj-ea"/>
                <a:ea typeface="+mj-ea"/>
              </a:rPr>
              <a:t>Mode-Specific</a:t>
            </a:r>
            <a:r>
              <a:rPr lang="zh-CN" altLang="en-US" sz="2400" dirty="0">
                <a:solidFill>
                  <a:schemeClr val="bg1"/>
                </a:solidFill>
                <a:latin typeface="+mj-ea"/>
                <a:ea typeface="+mj-ea"/>
              </a:rPr>
              <a:t> </a:t>
            </a:r>
            <a:r>
              <a:rPr lang="en-US" altLang="zh-CN" sz="2400" dirty="0">
                <a:solidFill>
                  <a:schemeClr val="bg1"/>
                </a:solidFill>
                <a:latin typeface="+mj-ea"/>
                <a:ea typeface="+mj-ea"/>
              </a:rPr>
              <a:t>Normalization</a:t>
            </a:r>
          </a:p>
        </p:txBody>
      </p:sp>
      <p:grpSp>
        <p:nvGrpSpPr>
          <p:cNvPr id="26" name="组合 25">
            <a:extLst>
              <a:ext uri="{FF2B5EF4-FFF2-40B4-BE49-F238E27FC236}">
                <a16:creationId xmlns:a16="http://schemas.microsoft.com/office/drawing/2014/main" id="{49FCAC62-8B48-4989-841B-4BD848509765}"/>
              </a:ext>
            </a:extLst>
          </p:cNvPr>
          <p:cNvGrpSpPr/>
          <p:nvPr/>
        </p:nvGrpSpPr>
        <p:grpSpPr>
          <a:xfrm>
            <a:off x="376298" y="1686700"/>
            <a:ext cx="11385576" cy="2743202"/>
            <a:chOff x="332756" y="2292683"/>
            <a:chExt cx="11385576" cy="2743202"/>
          </a:xfrm>
        </p:grpSpPr>
        <p:pic>
          <p:nvPicPr>
            <p:cNvPr id="15" name="图片 14">
              <a:extLst>
                <a:ext uri="{FF2B5EF4-FFF2-40B4-BE49-F238E27FC236}">
                  <a16:creationId xmlns:a16="http://schemas.microsoft.com/office/drawing/2014/main" id="{C5D463A3-C451-4624-8ABA-5DF2171B6C41}"/>
                </a:ext>
              </a:extLst>
            </p:cNvPr>
            <p:cNvPicPr>
              <a:picLocks noChangeAspect="1"/>
            </p:cNvPicPr>
            <p:nvPr/>
          </p:nvPicPr>
          <p:blipFill>
            <a:blip r:embed="rId6"/>
            <a:stretch>
              <a:fillRect/>
            </a:stretch>
          </p:blipFill>
          <p:spPr>
            <a:xfrm>
              <a:off x="332756" y="2292684"/>
              <a:ext cx="3657601" cy="2743201"/>
            </a:xfrm>
            <a:prstGeom prst="rect">
              <a:avLst/>
            </a:prstGeom>
          </p:spPr>
        </p:pic>
        <p:pic>
          <p:nvPicPr>
            <p:cNvPr id="17" name="图片 16">
              <a:extLst>
                <a:ext uri="{FF2B5EF4-FFF2-40B4-BE49-F238E27FC236}">
                  <a16:creationId xmlns:a16="http://schemas.microsoft.com/office/drawing/2014/main" id="{BE2EF78B-7A5F-4211-9EAC-82CBDC6A6282}"/>
                </a:ext>
              </a:extLst>
            </p:cNvPr>
            <p:cNvPicPr>
              <a:picLocks noChangeAspect="1"/>
            </p:cNvPicPr>
            <p:nvPr/>
          </p:nvPicPr>
          <p:blipFill>
            <a:blip r:embed="rId7"/>
            <a:stretch>
              <a:fillRect/>
            </a:stretch>
          </p:blipFill>
          <p:spPr>
            <a:xfrm>
              <a:off x="4964389" y="2292683"/>
              <a:ext cx="3657601" cy="2743201"/>
            </a:xfrm>
            <a:prstGeom prst="rect">
              <a:avLst/>
            </a:prstGeom>
          </p:spPr>
        </p:pic>
        <p:graphicFrame>
          <p:nvGraphicFramePr>
            <p:cNvPr id="24" name="对象 23">
              <a:extLst>
                <a:ext uri="{FF2B5EF4-FFF2-40B4-BE49-F238E27FC236}">
                  <a16:creationId xmlns:a16="http://schemas.microsoft.com/office/drawing/2014/main" id="{3F75FC63-AADD-4AA5-91AA-F000F570DCE1}"/>
                </a:ext>
              </a:extLst>
            </p:cNvPr>
            <p:cNvGraphicFramePr>
              <a:graphicFrameLocks noChangeAspect="1"/>
            </p:cNvGraphicFramePr>
            <p:nvPr>
              <p:extLst>
                <p:ext uri="{D42A27DB-BD31-4B8C-83A1-F6EECF244321}">
                  <p14:modId xmlns:p14="http://schemas.microsoft.com/office/powerpoint/2010/main" val="4088613930"/>
                </p:ext>
              </p:extLst>
            </p:nvPr>
          </p:nvGraphicFramePr>
          <p:xfrm>
            <a:off x="9596022" y="2803057"/>
            <a:ext cx="2122310" cy="1722454"/>
          </p:xfrm>
          <a:graphic>
            <a:graphicData uri="http://schemas.openxmlformats.org/presentationml/2006/ole">
              <mc:AlternateContent xmlns:mc="http://schemas.openxmlformats.org/markup-compatibility/2006">
                <mc:Choice xmlns:v="urn:schemas-microsoft-com:vml" Requires="v">
                  <p:oleObj spid="_x0000_s4111" name="Equation" r:id="rId8" imgW="876240" imgH="711000" progId="Equation.DSMT4">
                    <p:embed/>
                  </p:oleObj>
                </mc:Choice>
                <mc:Fallback>
                  <p:oleObj name="Equation" r:id="rId8" imgW="876240" imgH="711000" progId="Equation.DSMT4">
                    <p:embed/>
                    <p:pic>
                      <p:nvPicPr>
                        <p:cNvPr id="0" name=""/>
                        <p:cNvPicPr/>
                        <p:nvPr/>
                      </p:nvPicPr>
                      <p:blipFill>
                        <a:blip r:embed="rId9"/>
                        <a:stretch>
                          <a:fillRect/>
                        </a:stretch>
                      </p:blipFill>
                      <p:spPr>
                        <a:xfrm>
                          <a:off x="9596022" y="2803057"/>
                          <a:ext cx="2122310" cy="1722454"/>
                        </a:xfrm>
                        <a:prstGeom prst="rect">
                          <a:avLst/>
                        </a:prstGeom>
                        <a:ln w="38100">
                          <a:solidFill>
                            <a:srgbClr val="2F5597"/>
                          </a:solidFill>
                        </a:ln>
                      </p:spPr>
                    </p:pic>
                  </p:oleObj>
                </mc:Fallback>
              </mc:AlternateContent>
            </a:graphicData>
          </a:graphic>
        </p:graphicFrame>
        <p:sp>
          <p:nvSpPr>
            <p:cNvPr id="25" name="箭头: 右 24">
              <a:extLst>
                <a:ext uri="{FF2B5EF4-FFF2-40B4-BE49-F238E27FC236}">
                  <a16:creationId xmlns:a16="http://schemas.microsoft.com/office/drawing/2014/main" id="{3435A432-B7DA-41FC-BB66-197578A653A6}"/>
                </a:ext>
              </a:extLst>
            </p:cNvPr>
            <p:cNvSpPr/>
            <p:nvPr/>
          </p:nvSpPr>
          <p:spPr>
            <a:xfrm>
              <a:off x="4245429" y="3484664"/>
              <a:ext cx="522514" cy="3688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右 26">
              <a:extLst>
                <a:ext uri="{FF2B5EF4-FFF2-40B4-BE49-F238E27FC236}">
                  <a16:creationId xmlns:a16="http://schemas.microsoft.com/office/drawing/2014/main" id="{660E6DC4-8EF0-482A-91CF-EC963D1FDF43}"/>
                </a:ext>
              </a:extLst>
            </p:cNvPr>
            <p:cNvSpPr/>
            <p:nvPr/>
          </p:nvSpPr>
          <p:spPr>
            <a:xfrm>
              <a:off x="8847749" y="3484664"/>
              <a:ext cx="522514" cy="3688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 name="直接箭头连接符 30">
            <a:extLst>
              <a:ext uri="{FF2B5EF4-FFF2-40B4-BE49-F238E27FC236}">
                <a16:creationId xmlns:a16="http://schemas.microsoft.com/office/drawing/2014/main" id="{2ECE4222-6748-4878-9D2F-10E2B5C0C310}"/>
              </a:ext>
            </a:extLst>
          </p:cNvPr>
          <p:cNvCxnSpPr/>
          <p:nvPr/>
        </p:nvCxnSpPr>
        <p:spPr>
          <a:xfrm>
            <a:off x="1596571" y="3494300"/>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7" name="组合 36">
            <a:extLst>
              <a:ext uri="{FF2B5EF4-FFF2-40B4-BE49-F238E27FC236}">
                <a16:creationId xmlns:a16="http://schemas.microsoft.com/office/drawing/2014/main" id="{1480C2CE-8597-4182-BEFD-F510389A49C1}"/>
              </a:ext>
            </a:extLst>
          </p:cNvPr>
          <p:cNvGrpSpPr/>
          <p:nvPr/>
        </p:nvGrpSpPr>
        <p:grpSpPr>
          <a:xfrm>
            <a:off x="343033" y="4890861"/>
            <a:ext cx="7703914" cy="1474123"/>
            <a:chOff x="473661" y="4890861"/>
            <a:chExt cx="7703914" cy="1474123"/>
          </a:xfrm>
        </p:grpSpPr>
        <p:graphicFrame>
          <p:nvGraphicFramePr>
            <p:cNvPr id="28" name="对象 27">
              <a:extLst>
                <a:ext uri="{FF2B5EF4-FFF2-40B4-BE49-F238E27FC236}">
                  <a16:creationId xmlns:a16="http://schemas.microsoft.com/office/drawing/2014/main" id="{3446BE46-776C-41FE-A644-6FD41F13F047}"/>
                </a:ext>
              </a:extLst>
            </p:cNvPr>
            <p:cNvGraphicFramePr>
              <a:graphicFrameLocks noChangeAspect="1"/>
            </p:cNvGraphicFramePr>
            <p:nvPr>
              <p:extLst>
                <p:ext uri="{D42A27DB-BD31-4B8C-83A1-F6EECF244321}">
                  <p14:modId xmlns:p14="http://schemas.microsoft.com/office/powerpoint/2010/main" val="743838354"/>
                </p:ext>
              </p:extLst>
            </p:nvPr>
          </p:nvGraphicFramePr>
          <p:xfrm>
            <a:off x="473661" y="5748671"/>
            <a:ext cx="7703914" cy="616313"/>
          </p:xfrm>
          <a:graphic>
            <a:graphicData uri="http://schemas.openxmlformats.org/presentationml/2006/ole">
              <mc:AlternateContent xmlns:mc="http://schemas.openxmlformats.org/markup-compatibility/2006">
                <mc:Choice xmlns:v="urn:schemas-microsoft-com:vml" Requires="v">
                  <p:oleObj spid="_x0000_s4112" name="Equation" r:id="rId10" imgW="3174840" imgH="253800" progId="Equation.DSMT4">
                    <p:embed/>
                  </p:oleObj>
                </mc:Choice>
                <mc:Fallback>
                  <p:oleObj name="Equation" r:id="rId10" imgW="3174840" imgH="253800" progId="Equation.DSMT4">
                    <p:embed/>
                    <p:pic>
                      <p:nvPicPr>
                        <p:cNvPr id="0" name=""/>
                        <p:cNvPicPr/>
                        <p:nvPr/>
                      </p:nvPicPr>
                      <p:blipFill>
                        <a:blip r:embed="rId11"/>
                        <a:stretch>
                          <a:fillRect/>
                        </a:stretch>
                      </p:blipFill>
                      <p:spPr>
                        <a:xfrm>
                          <a:off x="473661" y="5748671"/>
                          <a:ext cx="7703914" cy="616313"/>
                        </a:xfrm>
                        <a:prstGeom prst="rect">
                          <a:avLst/>
                        </a:prstGeom>
                        <a:ln w="38100">
                          <a:solidFill>
                            <a:srgbClr val="2F5597"/>
                          </a:solidFill>
                        </a:ln>
                      </p:spPr>
                    </p:pic>
                  </p:oleObj>
                </mc:Fallback>
              </mc:AlternateContent>
            </a:graphicData>
          </a:graphic>
        </p:graphicFrame>
        <p:sp>
          <p:nvSpPr>
            <p:cNvPr id="36" name="矩形 35">
              <a:extLst>
                <a:ext uri="{FF2B5EF4-FFF2-40B4-BE49-F238E27FC236}">
                  <a16:creationId xmlns:a16="http://schemas.microsoft.com/office/drawing/2014/main" id="{B9C6C04A-3781-4EF3-B551-0B436F88D26E}"/>
                </a:ext>
              </a:extLst>
            </p:cNvPr>
            <p:cNvSpPr/>
            <p:nvPr/>
          </p:nvSpPr>
          <p:spPr>
            <a:xfrm>
              <a:off x="473661" y="4890861"/>
              <a:ext cx="7703914" cy="643594"/>
            </a:xfrm>
            <a:prstGeom prst="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采用</a:t>
              </a:r>
              <a:r>
                <a:rPr lang="en-US" altLang="zh-CN" sz="2000" dirty="0">
                  <a:solidFill>
                    <a:schemeClr val="tx1"/>
                  </a:solidFill>
                </a:rPr>
                <a:t>variational Gaussian mixture model (VGM)</a:t>
              </a:r>
              <a:r>
                <a:rPr lang="zh-CN" altLang="en-US" sz="2000" dirty="0">
                  <a:solidFill>
                    <a:schemeClr val="tx1"/>
                  </a:solidFill>
                </a:rPr>
                <a:t>识别模态</a:t>
              </a:r>
            </a:p>
          </p:txBody>
        </p:sp>
      </p:grpSp>
    </p:spTree>
    <p:extLst>
      <p:ext uri="{BB962C8B-B14F-4D97-AF65-F5344CB8AC3E}">
        <p14:creationId xmlns:p14="http://schemas.microsoft.com/office/powerpoint/2010/main" val="3112262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86F394C8-7C85-4433-BB02-7C53E8359CC5}"/>
              </a:ext>
            </a:extLst>
          </p:cNvPr>
          <p:cNvSpPr/>
          <p:nvPr/>
        </p:nvSpPr>
        <p:spPr>
          <a:xfrm>
            <a:off x="1534153" y="4409737"/>
            <a:ext cx="8772370" cy="2361826"/>
          </a:xfrm>
          <a:prstGeom prst="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A5D9D6A9-337F-42A2-BCCA-8F338829F0A3}"/>
              </a:ext>
            </a:extLst>
          </p:cNvPr>
          <p:cNvSpPr/>
          <p:nvPr/>
        </p:nvSpPr>
        <p:spPr>
          <a:xfrm>
            <a:off x="1" y="481263"/>
            <a:ext cx="12192000" cy="72000"/>
          </a:xfrm>
          <a:prstGeom prst="rect">
            <a:avLst/>
          </a:prstGeom>
          <a:solidFill>
            <a:srgbClr val="003F87">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82090"/>
              </a:solidFill>
              <a:effectLst/>
              <a:uLnTx/>
              <a:uFillTx/>
              <a:latin typeface="微软雅黑 Light"/>
              <a:ea typeface="微软雅黑 Light"/>
              <a:cs typeface="+mn-cs"/>
            </a:endParaRPr>
          </a:p>
        </p:txBody>
      </p:sp>
      <p:grpSp>
        <p:nvGrpSpPr>
          <p:cNvPr id="13" name="组合 12">
            <a:extLst>
              <a:ext uri="{FF2B5EF4-FFF2-40B4-BE49-F238E27FC236}">
                <a16:creationId xmlns:a16="http://schemas.microsoft.com/office/drawing/2014/main" id="{D1242031-CB56-41DD-AAE7-EC8A25A19202}"/>
              </a:ext>
            </a:extLst>
          </p:cNvPr>
          <p:cNvGrpSpPr/>
          <p:nvPr/>
        </p:nvGrpSpPr>
        <p:grpSpPr>
          <a:xfrm>
            <a:off x="5416649" y="76583"/>
            <a:ext cx="6301683" cy="369332"/>
            <a:chOff x="5416649" y="76583"/>
            <a:chExt cx="6301683" cy="369332"/>
          </a:xfrm>
        </p:grpSpPr>
        <p:sp>
          <p:nvSpPr>
            <p:cNvPr id="12" name="矩形 11">
              <a:extLst>
                <a:ext uri="{FF2B5EF4-FFF2-40B4-BE49-F238E27FC236}">
                  <a16:creationId xmlns:a16="http://schemas.microsoft.com/office/drawing/2014/main" id="{A60EDE69-3FC4-463D-B8FA-519ED3E54C8E}"/>
                </a:ext>
              </a:extLst>
            </p:cNvPr>
            <p:cNvSpPr/>
            <p:nvPr/>
          </p:nvSpPr>
          <p:spPr>
            <a:xfrm>
              <a:off x="8586396" y="76583"/>
              <a:ext cx="1311305" cy="308804"/>
            </a:xfrm>
            <a:prstGeom prst="rect">
              <a:avLst/>
            </a:prstGeom>
            <a:solidFill>
              <a:srgbClr val="003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sp>
          <p:nvSpPr>
            <p:cNvPr id="5" name="文本框 4">
              <a:extLst>
                <a:ext uri="{FF2B5EF4-FFF2-40B4-BE49-F238E27FC236}">
                  <a16:creationId xmlns:a16="http://schemas.microsoft.com/office/drawing/2014/main" id="{1A7EBC06-2FA6-4594-A4DE-6F2E9D86D04C}"/>
                </a:ext>
              </a:extLst>
            </p:cNvPr>
            <p:cNvSpPr txBox="1"/>
            <p:nvPr/>
          </p:nvSpPr>
          <p:spPr>
            <a:xfrm>
              <a:off x="7046607" y="76583"/>
              <a:ext cx="11309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rgbClr val="003F87"/>
                  </a:solidFill>
                  <a:latin typeface="微软雅黑 Light"/>
                  <a:ea typeface="微软雅黑 Light"/>
                </a:rPr>
                <a:t>GAN</a:t>
              </a:r>
              <a:endParaRPr kumimoji="0" lang="zh-CN" altLang="en-US" sz="1800" b="0" i="0" u="none" strike="noStrike" kern="1200" cap="none" spc="0" normalizeH="0" baseline="0" noProof="0" dirty="0">
                <a:ln>
                  <a:noFill/>
                </a:ln>
                <a:solidFill>
                  <a:srgbClr val="003F87"/>
                </a:solidFill>
                <a:effectLst/>
                <a:uLnTx/>
                <a:uFillTx/>
                <a:latin typeface="微软雅黑 Light"/>
                <a:ea typeface="微软雅黑 Light"/>
              </a:endParaRPr>
            </a:p>
          </p:txBody>
        </p:sp>
        <p:sp>
          <p:nvSpPr>
            <p:cNvPr id="4" name="文本框 3">
              <a:extLst>
                <a:ext uri="{FF2B5EF4-FFF2-40B4-BE49-F238E27FC236}">
                  <a16:creationId xmlns:a16="http://schemas.microsoft.com/office/drawing/2014/main" id="{5292CB5F-A4AC-47BE-A81F-1C3B2B8C443B}"/>
                </a:ext>
              </a:extLst>
            </p:cNvPr>
            <p:cNvSpPr txBox="1"/>
            <p:nvPr/>
          </p:nvSpPr>
          <p:spPr>
            <a:xfrm>
              <a:off x="5416649" y="76583"/>
              <a:ext cx="11309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003F87"/>
                  </a:solidFill>
                  <a:latin typeface="微软雅黑 Light"/>
                  <a:ea typeface="微软雅黑 Light"/>
                </a:rPr>
                <a:t>发展过程</a:t>
              </a:r>
              <a:endParaRPr kumimoji="0" lang="zh-CN" altLang="en-US" sz="1800" b="0" i="0" u="none" strike="noStrike" kern="1200" cap="none" spc="0" normalizeH="0" baseline="0" noProof="0" dirty="0">
                <a:ln>
                  <a:noFill/>
                </a:ln>
                <a:solidFill>
                  <a:srgbClr val="003F87"/>
                </a:solidFill>
                <a:effectLst/>
                <a:uLnTx/>
                <a:uFillTx/>
                <a:latin typeface="微软雅黑 Light"/>
                <a:ea typeface="微软雅黑 Light"/>
              </a:endParaRPr>
            </a:p>
          </p:txBody>
        </p:sp>
        <p:sp>
          <p:nvSpPr>
            <p:cNvPr id="6" name="文本框 5">
              <a:extLst>
                <a:ext uri="{FF2B5EF4-FFF2-40B4-BE49-F238E27FC236}">
                  <a16:creationId xmlns:a16="http://schemas.microsoft.com/office/drawing/2014/main" id="{E2F59C7A-835A-4B02-B426-030D8A682C65}"/>
                </a:ext>
              </a:extLst>
            </p:cNvPr>
            <p:cNvSpPr txBox="1"/>
            <p:nvPr/>
          </p:nvSpPr>
          <p:spPr>
            <a:xfrm>
              <a:off x="8676565" y="76583"/>
              <a:ext cx="11309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bg1"/>
                  </a:solidFill>
                  <a:latin typeface="微软雅黑 Light"/>
                  <a:ea typeface="微软雅黑 Light"/>
                </a:rPr>
                <a:t>CTGAN</a:t>
              </a:r>
              <a:endParaRPr kumimoji="0" lang="zh-CN" altLang="en-US" sz="1800" b="0" i="0" u="none" strike="noStrike" kern="1200" cap="none" spc="0" normalizeH="0" baseline="0" noProof="0" dirty="0">
                <a:ln>
                  <a:noFill/>
                </a:ln>
                <a:solidFill>
                  <a:schemeClr val="bg1"/>
                </a:solidFill>
                <a:effectLst/>
                <a:uLnTx/>
                <a:uFillTx/>
                <a:latin typeface="微软雅黑 Light"/>
                <a:ea typeface="微软雅黑 Light"/>
              </a:endParaRPr>
            </a:p>
          </p:txBody>
        </p:sp>
        <p:sp>
          <p:nvSpPr>
            <p:cNvPr id="7" name="文本框 6">
              <a:extLst>
                <a:ext uri="{FF2B5EF4-FFF2-40B4-BE49-F238E27FC236}">
                  <a16:creationId xmlns:a16="http://schemas.microsoft.com/office/drawing/2014/main" id="{CB8930FC-3020-4855-9D38-CAB435C012DE}"/>
                </a:ext>
              </a:extLst>
            </p:cNvPr>
            <p:cNvSpPr txBox="1"/>
            <p:nvPr/>
          </p:nvSpPr>
          <p:spPr>
            <a:xfrm>
              <a:off x="10306523" y="76583"/>
              <a:ext cx="141180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3F87"/>
                  </a:solidFill>
                  <a:effectLst/>
                  <a:uLnTx/>
                  <a:uFillTx/>
                  <a:latin typeface="微软雅黑 Light"/>
                  <a:ea typeface="微软雅黑 Light"/>
                  <a:cs typeface="+mn-cs"/>
                </a:rPr>
                <a:t>总结与思考</a:t>
              </a:r>
            </a:p>
          </p:txBody>
        </p:sp>
        <p:grpSp>
          <p:nvGrpSpPr>
            <p:cNvPr id="8" name="组合 7">
              <a:extLst>
                <a:ext uri="{FF2B5EF4-FFF2-40B4-BE49-F238E27FC236}">
                  <a16:creationId xmlns:a16="http://schemas.microsoft.com/office/drawing/2014/main" id="{31C43EC3-F619-4D86-967C-43CACE30D1FB}"/>
                </a:ext>
              </a:extLst>
            </p:cNvPr>
            <p:cNvGrpSpPr/>
            <p:nvPr/>
          </p:nvGrpSpPr>
          <p:grpSpPr>
            <a:xfrm>
              <a:off x="6791404" y="159486"/>
              <a:ext cx="3296092" cy="209852"/>
              <a:chOff x="6358270" y="115009"/>
              <a:chExt cx="3296092" cy="307494"/>
            </a:xfrm>
          </p:grpSpPr>
          <p:cxnSp>
            <p:nvCxnSpPr>
              <p:cNvPr id="9" name="直接连接符 8">
                <a:extLst>
                  <a:ext uri="{FF2B5EF4-FFF2-40B4-BE49-F238E27FC236}">
                    <a16:creationId xmlns:a16="http://schemas.microsoft.com/office/drawing/2014/main" id="{2D86E86F-7BA5-4521-AB60-58BA96EA6A5B}"/>
                  </a:ext>
                </a:extLst>
              </p:cNvPr>
              <p:cNvCxnSpPr>
                <a:cxnSpLocks/>
              </p:cNvCxnSpPr>
              <p:nvPr/>
            </p:nvCxnSpPr>
            <p:spPr>
              <a:xfrm>
                <a:off x="6358270" y="115009"/>
                <a:ext cx="0" cy="30749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48787DB2-D46F-4A23-8391-FD6D91652166}"/>
                  </a:ext>
                </a:extLst>
              </p:cNvPr>
              <p:cNvCxnSpPr>
                <a:cxnSpLocks/>
              </p:cNvCxnSpPr>
              <p:nvPr/>
            </p:nvCxnSpPr>
            <p:spPr>
              <a:xfrm>
                <a:off x="8006316" y="115009"/>
                <a:ext cx="0" cy="30749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6035BB35-CC45-4A60-944C-0CB81EABC46A}"/>
                  </a:ext>
                </a:extLst>
              </p:cNvPr>
              <p:cNvCxnSpPr>
                <a:cxnSpLocks/>
              </p:cNvCxnSpPr>
              <p:nvPr/>
            </p:nvCxnSpPr>
            <p:spPr>
              <a:xfrm>
                <a:off x="9654362" y="115009"/>
                <a:ext cx="0" cy="30749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pic>
        <p:nvPicPr>
          <p:cNvPr id="41" name="图形 40">
            <a:extLst>
              <a:ext uri="{FF2B5EF4-FFF2-40B4-BE49-F238E27FC236}">
                <a16:creationId xmlns:a16="http://schemas.microsoft.com/office/drawing/2014/main" id="{7397B797-408E-4ED0-BE39-413E49E1A3A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73661" y="98896"/>
            <a:ext cx="1251222" cy="347019"/>
          </a:xfrm>
          <a:prstGeom prst="rect">
            <a:avLst/>
          </a:prstGeom>
        </p:spPr>
      </p:pic>
      <p:sp>
        <p:nvSpPr>
          <p:cNvPr id="21" name="矩形 20">
            <a:extLst>
              <a:ext uri="{FF2B5EF4-FFF2-40B4-BE49-F238E27FC236}">
                <a16:creationId xmlns:a16="http://schemas.microsoft.com/office/drawing/2014/main" id="{47BA6B27-EBF3-4554-8D95-2F792EC73369}"/>
              </a:ext>
            </a:extLst>
          </p:cNvPr>
          <p:cNvSpPr/>
          <p:nvPr/>
        </p:nvSpPr>
        <p:spPr>
          <a:xfrm>
            <a:off x="375548" y="747018"/>
            <a:ext cx="7549251" cy="520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bg1"/>
                </a:solidFill>
                <a:latin typeface="+mj-ea"/>
                <a:ea typeface="+mj-ea"/>
              </a:rPr>
              <a:t>Conditional Generator and Training-by-Sampling</a:t>
            </a:r>
          </a:p>
        </p:txBody>
      </p:sp>
      <p:cxnSp>
        <p:nvCxnSpPr>
          <p:cNvPr id="31" name="直接箭头连接符 30">
            <a:extLst>
              <a:ext uri="{FF2B5EF4-FFF2-40B4-BE49-F238E27FC236}">
                <a16:creationId xmlns:a16="http://schemas.microsoft.com/office/drawing/2014/main" id="{2ECE4222-6748-4878-9D2F-10E2B5C0C310}"/>
              </a:ext>
            </a:extLst>
          </p:cNvPr>
          <p:cNvCxnSpPr/>
          <p:nvPr/>
        </p:nvCxnSpPr>
        <p:spPr>
          <a:xfrm>
            <a:off x="1596571" y="3494300"/>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3B871EC2-20E0-480B-B7D4-A66883EF3EA3}"/>
              </a:ext>
            </a:extLst>
          </p:cNvPr>
          <p:cNvPicPr>
            <a:picLocks noChangeAspect="1"/>
          </p:cNvPicPr>
          <p:nvPr/>
        </p:nvPicPr>
        <p:blipFill>
          <a:blip r:embed="rId6"/>
          <a:stretch>
            <a:fillRect/>
          </a:stretch>
        </p:blipFill>
        <p:spPr>
          <a:xfrm>
            <a:off x="2689546" y="1404339"/>
            <a:ext cx="6593002" cy="2868777"/>
          </a:xfrm>
          <a:prstGeom prst="rect">
            <a:avLst/>
          </a:prstGeom>
        </p:spPr>
      </p:pic>
      <p:graphicFrame>
        <p:nvGraphicFramePr>
          <p:cNvPr id="14" name="对象 13">
            <a:extLst>
              <a:ext uri="{FF2B5EF4-FFF2-40B4-BE49-F238E27FC236}">
                <a16:creationId xmlns:a16="http://schemas.microsoft.com/office/drawing/2014/main" id="{BC8910F4-85FF-4B7C-A131-4DD19A19E717}"/>
              </a:ext>
            </a:extLst>
          </p:cNvPr>
          <p:cNvGraphicFramePr>
            <a:graphicFrameLocks noChangeAspect="1"/>
          </p:cNvGraphicFramePr>
          <p:nvPr>
            <p:extLst>
              <p:ext uri="{D42A27DB-BD31-4B8C-83A1-F6EECF244321}">
                <p14:modId xmlns:p14="http://schemas.microsoft.com/office/powerpoint/2010/main" val="3457850840"/>
              </p:ext>
            </p:extLst>
          </p:nvPr>
        </p:nvGraphicFramePr>
        <p:xfrm>
          <a:off x="1534153" y="4409737"/>
          <a:ext cx="4377250" cy="2361826"/>
        </p:xfrm>
        <a:graphic>
          <a:graphicData uri="http://schemas.openxmlformats.org/presentationml/2006/ole">
            <mc:AlternateContent xmlns:mc="http://schemas.openxmlformats.org/markup-compatibility/2006">
              <mc:Choice xmlns:v="urn:schemas-microsoft-com:vml" Requires="v">
                <p:oleObj spid="_x0000_s5140" name="Equation" r:id="rId7" imgW="3530520" imgH="1904760" progId="Equation.DSMT4">
                  <p:embed/>
                </p:oleObj>
              </mc:Choice>
              <mc:Fallback>
                <p:oleObj name="Equation" r:id="rId7" imgW="3530520" imgH="1904760" progId="Equation.DSMT4">
                  <p:embed/>
                  <p:pic>
                    <p:nvPicPr>
                      <p:cNvPr id="0" name=""/>
                      <p:cNvPicPr/>
                      <p:nvPr/>
                    </p:nvPicPr>
                    <p:blipFill>
                      <a:blip r:embed="rId8"/>
                      <a:stretch>
                        <a:fillRect/>
                      </a:stretch>
                    </p:blipFill>
                    <p:spPr>
                      <a:xfrm>
                        <a:off x="1534153" y="4409737"/>
                        <a:ext cx="4377250" cy="2361826"/>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0C1D2A84-8812-4837-AF86-4F8811B4EEFE}"/>
              </a:ext>
            </a:extLst>
          </p:cNvPr>
          <p:cNvGraphicFramePr>
            <a:graphicFrameLocks noChangeAspect="1"/>
          </p:cNvGraphicFramePr>
          <p:nvPr>
            <p:extLst>
              <p:ext uri="{D42A27DB-BD31-4B8C-83A1-F6EECF244321}">
                <p14:modId xmlns:p14="http://schemas.microsoft.com/office/powerpoint/2010/main" val="4142452669"/>
              </p:ext>
            </p:extLst>
          </p:nvPr>
        </p:nvGraphicFramePr>
        <p:xfrm>
          <a:off x="6096000" y="4848639"/>
          <a:ext cx="3936495" cy="1665441"/>
        </p:xfrm>
        <a:graphic>
          <a:graphicData uri="http://schemas.openxmlformats.org/presentationml/2006/ole">
            <mc:AlternateContent xmlns:mc="http://schemas.openxmlformats.org/markup-compatibility/2006">
              <mc:Choice xmlns:v="urn:schemas-microsoft-com:vml" Requires="v">
                <p:oleObj spid="_x0000_s5141" name="Equation" r:id="rId9" imgW="2641320" imgH="1117440" progId="Equation.DSMT4">
                  <p:embed/>
                </p:oleObj>
              </mc:Choice>
              <mc:Fallback>
                <p:oleObj name="Equation" r:id="rId9" imgW="2641320" imgH="1117440" progId="Equation.DSMT4">
                  <p:embed/>
                  <p:pic>
                    <p:nvPicPr>
                      <p:cNvPr id="0" name=""/>
                      <p:cNvPicPr/>
                      <p:nvPr/>
                    </p:nvPicPr>
                    <p:blipFill>
                      <a:blip r:embed="rId10"/>
                      <a:stretch>
                        <a:fillRect/>
                      </a:stretch>
                    </p:blipFill>
                    <p:spPr>
                      <a:xfrm>
                        <a:off x="6096000" y="4848639"/>
                        <a:ext cx="3936495" cy="1665441"/>
                      </a:xfrm>
                      <a:prstGeom prst="rect">
                        <a:avLst/>
                      </a:prstGeom>
                    </p:spPr>
                  </p:pic>
                </p:oleObj>
              </mc:Fallback>
            </mc:AlternateContent>
          </a:graphicData>
        </a:graphic>
      </p:graphicFrame>
    </p:spTree>
    <p:extLst>
      <p:ext uri="{BB962C8B-B14F-4D97-AF65-F5344CB8AC3E}">
        <p14:creationId xmlns:p14="http://schemas.microsoft.com/office/powerpoint/2010/main" val="3942955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5D9D6A9-337F-42A2-BCCA-8F338829F0A3}"/>
              </a:ext>
            </a:extLst>
          </p:cNvPr>
          <p:cNvSpPr/>
          <p:nvPr/>
        </p:nvSpPr>
        <p:spPr>
          <a:xfrm>
            <a:off x="1" y="481263"/>
            <a:ext cx="12192000" cy="72000"/>
          </a:xfrm>
          <a:prstGeom prst="rect">
            <a:avLst/>
          </a:prstGeom>
          <a:solidFill>
            <a:srgbClr val="003F87">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82090"/>
              </a:solidFill>
              <a:effectLst/>
              <a:uLnTx/>
              <a:uFillTx/>
              <a:latin typeface="微软雅黑 Light"/>
              <a:ea typeface="微软雅黑 Light"/>
              <a:cs typeface="+mn-cs"/>
            </a:endParaRPr>
          </a:p>
        </p:txBody>
      </p:sp>
      <p:grpSp>
        <p:nvGrpSpPr>
          <p:cNvPr id="13" name="组合 12">
            <a:extLst>
              <a:ext uri="{FF2B5EF4-FFF2-40B4-BE49-F238E27FC236}">
                <a16:creationId xmlns:a16="http://schemas.microsoft.com/office/drawing/2014/main" id="{D1242031-CB56-41DD-AAE7-EC8A25A19202}"/>
              </a:ext>
            </a:extLst>
          </p:cNvPr>
          <p:cNvGrpSpPr/>
          <p:nvPr/>
        </p:nvGrpSpPr>
        <p:grpSpPr>
          <a:xfrm>
            <a:off x="5416649" y="76583"/>
            <a:ext cx="6301683" cy="369332"/>
            <a:chOff x="5416649" y="76583"/>
            <a:chExt cx="6301683" cy="369332"/>
          </a:xfrm>
        </p:grpSpPr>
        <p:sp>
          <p:nvSpPr>
            <p:cNvPr id="12" name="矩形 11">
              <a:extLst>
                <a:ext uri="{FF2B5EF4-FFF2-40B4-BE49-F238E27FC236}">
                  <a16:creationId xmlns:a16="http://schemas.microsoft.com/office/drawing/2014/main" id="{A60EDE69-3FC4-463D-B8FA-519ED3E54C8E}"/>
                </a:ext>
              </a:extLst>
            </p:cNvPr>
            <p:cNvSpPr/>
            <p:nvPr/>
          </p:nvSpPr>
          <p:spPr>
            <a:xfrm>
              <a:off x="8586396" y="76583"/>
              <a:ext cx="1311305" cy="308804"/>
            </a:xfrm>
            <a:prstGeom prst="rect">
              <a:avLst/>
            </a:prstGeom>
            <a:solidFill>
              <a:srgbClr val="003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sp>
          <p:nvSpPr>
            <p:cNvPr id="5" name="文本框 4">
              <a:extLst>
                <a:ext uri="{FF2B5EF4-FFF2-40B4-BE49-F238E27FC236}">
                  <a16:creationId xmlns:a16="http://schemas.microsoft.com/office/drawing/2014/main" id="{1A7EBC06-2FA6-4594-A4DE-6F2E9D86D04C}"/>
                </a:ext>
              </a:extLst>
            </p:cNvPr>
            <p:cNvSpPr txBox="1"/>
            <p:nvPr/>
          </p:nvSpPr>
          <p:spPr>
            <a:xfrm>
              <a:off x="7046607" y="76583"/>
              <a:ext cx="11309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rgbClr val="003F87"/>
                  </a:solidFill>
                  <a:latin typeface="微软雅黑 Light"/>
                  <a:ea typeface="微软雅黑 Light"/>
                </a:rPr>
                <a:t>GAN</a:t>
              </a:r>
              <a:endParaRPr kumimoji="0" lang="zh-CN" altLang="en-US" sz="1800" b="0" i="0" u="none" strike="noStrike" kern="1200" cap="none" spc="0" normalizeH="0" baseline="0" noProof="0" dirty="0">
                <a:ln>
                  <a:noFill/>
                </a:ln>
                <a:solidFill>
                  <a:srgbClr val="003F87"/>
                </a:solidFill>
                <a:effectLst/>
                <a:uLnTx/>
                <a:uFillTx/>
                <a:latin typeface="微软雅黑 Light"/>
                <a:ea typeface="微软雅黑 Light"/>
              </a:endParaRPr>
            </a:p>
          </p:txBody>
        </p:sp>
        <p:sp>
          <p:nvSpPr>
            <p:cNvPr id="4" name="文本框 3">
              <a:extLst>
                <a:ext uri="{FF2B5EF4-FFF2-40B4-BE49-F238E27FC236}">
                  <a16:creationId xmlns:a16="http://schemas.microsoft.com/office/drawing/2014/main" id="{5292CB5F-A4AC-47BE-A81F-1C3B2B8C443B}"/>
                </a:ext>
              </a:extLst>
            </p:cNvPr>
            <p:cNvSpPr txBox="1"/>
            <p:nvPr/>
          </p:nvSpPr>
          <p:spPr>
            <a:xfrm>
              <a:off x="5416649" y="76583"/>
              <a:ext cx="11309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003F87"/>
                  </a:solidFill>
                  <a:latin typeface="微软雅黑 Light"/>
                  <a:ea typeface="微软雅黑 Light"/>
                </a:rPr>
                <a:t>发展过程</a:t>
              </a:r>
              <a:endParaRPr kumimoji="0" lang="zh-CN" altLang="en-US" sz="1800" b="0" i="0" u="none" strike="noStrike" kern="1200" cap="none" spc="0" normalizeH="0" baseline="0" noProof="0" dirty="0">
                <a:ln>
                  <a:noFill/>
                </a:ln>
                <a:solidFill>
                  <a:srgbClr val="003F87"/>
                </a:solidFill>
                <a:effectLst/>
                <a:uLnTx/>
                <a:uFillTx/>
                <a:latin typeface="微软雅黑 Light"/>
                <a:ea typeface="微软雅黑 Light"/>
              </a:endParaRPr>
            </a:p>
          </p:txBody>
        </p:sp>
        <p:sp>
          <p:nvSpPr>
            <p:cNvPr id="6" name="文本框 5">
              <a:extLst>
                <a:ext uri="{FF2B5EF4-FFF2-40B4-BE49-F238E27FC236}">
                  <a16:creationId xmlns:a16="http://schemas.microsoft.com/office/drawing/2014/main" id="{E2F59C7A-835A-4B02-B426-030D8A682C65}"/>
                </a:ext>
              </a:extLst>
            </p:cNvPr>
            <p:cNvSpPr txBox="1"/>
            <p:nvPr/>
          </p:nvSpPr>
          <p:spPr>
            <a:xfrm>
              <a:off x="8676565" y="76583"/>
              <a:ext cx="11309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bg1"/>
                  </a:solidFill>
                  <a:latin typeface="微软雅黑 Light"/>
                  <a:ea typeface="微软雅黑 Light"/>
                </a:rPr>
                <a:t>CTGAN</a:t>
              </a:r>
              <a:endParaRPr kumimoji="0" lang="zh-CN" altLang="en-US" sz="1800" b="0" i="0" u="none" strike="noStrike" kern="1200" cap="none" spc="0" normalizeH="0" baseline="0" noProof="0" dirty="0">
                <a:ln>
                  <a:noFill/>
                </a:ln>
                <a:solidFill>
                  <a:schemeClr val="bg1"/>
                </a:solidFill>
                <a:effectLst/>
                <a:uLnTx/>
                <a:uFillTx/>
                <a:latin typeface="微软雅黑 Light"/>
                <a:ea typeface="微软雅黑 Light"/>
              </a:endParaRPr>
            </a:p>
          </p:txBody>
        </p:sp>
        <p:sp>
          <p:nvSpPr>
            <p:cNvPr id="7" name="文本框 6">
              <a:extLst>
                <a:ext uri="{FF2B5EF4-FFF2-40B4-BE49-F238E27FC236}">
                  <a16:creationId xmlns:a16="http://schemas.microsoft.com/office/drawing/2014/main" id="{CB8930FC-3020-4855-9D38-CAB435C012DE}"/>
                </a:ext>
              </a:extLst>
            </p:cNvPr>
            <p:cNvSpPr txBox="1"/>
            <p:nvPr/>
          </p:nvSpPr>
          <p:spPr>
            <a:xfrm>
              <a:off x="10306523" y="76583"/>
              <a:ext cx="141180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3F87"/>
                  </a:solidFill>
                  <a:effectLst/>
                  <a:uLnTx/>
                  <a:uFillTx/>
                  <a:latin typeface="微软雅黑 Light"/>
                  <a:ea typeface="微软雅黑 Light"/>
                  <a:cs typeface="+mn-cs"/>
                </a:rPr>
                <a:t>总结与思考</a:t>
              </a:r>
            </a:p>
          </p:txBody>
        </p:sp>
        <p:grpSp>
          <p:nvGrpSpPr>
            <p:cNvPr id="8" name="组合 7">
              <a:extLst>
                <a:ext uri="{FF2B5EF4-FFF2-40B4-BE49-F238E27FC236}">
                  <a16:creationId xmlns:a16="http://schemas.microsoft.com/office/drawing/2014/main" id="{31C43EC3-F619-4D86-967C-43CACE30D1FB}"/>
                </a:ext>
              </a:extLst>
            </p:cNvPr>
            <p:cNvGrpSpPr/>
            <p:nvPr/>
          </p:nvGrpSpPr>
          <p:grpSpPr>
            <a:xfrm>
              <a:off x="6791404" y="159486"/>
              <a:ext cx="3296092" cy="209852"/>
              <a:chOff x="6358270" y="115009"/>
              <a:chExt cx="3296092" cy="307494"/>
            </a:xfrm>
          </p:grpSpPr>
          <p:cxnSp>
            <p:nvCxnSpPr>
              <p:cNvPr id="9" name="直接连接符 8">
                <a:extLst>
                  <a:ext uri="{FF2B5EF4-FFF2-40B4-BE49-F238E27FC236}">
                    <a16:creationId xmlns:a16="http://schemas.microsoft.com/office/drawing/2014/main" id="{2D86E86F-7BA5-4521-AB60-58BA96EA6A5B}"/>
                  </a:ext>
                </a:extLst>
              </p:cNvPr>
              <p:cNvCxnSpPr>
                <a:cxnSpLocks/>
              </p:cNvCxnSpPr>
              <p:nvPr/>
            </p:nvCxnSpPr>
            <p:spPr>
              <a:xfrm>
                <a:off x="6358270" y="115009"/>
                <a:ext cx="0" cy="30749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48787DB2-D46F-4A23-8391-FD6D91652166}"/>
                  </a:ext>
                </a:extLst>
              </p:cNvPr>
              <p:cNvCxnSpPr>
                <a:cxnSpLocks/>
              </p:cNvCxnSpPr>
              <p:nvPr/>
            </p:nvCxnSpPr>
            <p:spPr>
              <a:xfrm>
                <a:off x="8006316" y="115009"/>
                <a:ext cx="0" cy="30749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6035BB35-CC45-4A60-944C-0CB81EABC46A}"/>
                  </a:ext>
                </a:extLst>
              </p:cNvPr>
              <p:cNvCxnSpPr>
                <a:cxnSpLocks/>
              </p:cNvCxnSpPr>
              <p:nvPr/>
            </p:nvCxnSpPr>
            <p:spPr>
              <a:xfrm>
                <a:off x="9654362" y="115009"/>
                <a:ext cx="0" cy="30749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pic>
        <p:nvPicPr>
          <p:cNvPr id="41" name="图形 40">
            <a:extLst>
              <a:ext uri="{FF2B5EF4-FFF2-40B4-BE49-F238E27FC236}">
                <a16:creationId xmlns:a16="http://schemas.microsoft.com/office/drawing/2014/main" id="{7397B797-408E-4ED0-BE39-413E49E1A3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3661" y="98896"/>
            <a:ext cx="1251222" cy="347019"/>
          </a:xfrm>
          <a:prstGeom prst="rect">
            <a:avLst/>
          </a:prstGeom>
        </p:spPr>
      </p:pic>
      <p:sp>
        <p:nvSpPr>
          <p:cNvPr id="21" name="矩形 20">
            <a:extLst>
              <a:ext uri="{FF2B5EF4-FFF2-40B4-BE49-F238E27FC236}">
                <a16:creationId xmlns:a16="http://schemas.microsoft.com/office/drawing/2014/main" id="{47BA6B27-EBF3-4554-8D95-2F792EC73369}"/>
              </a:ext>
            </a:extLst>
          </p:cNvPr>
          <p:cNvSpPr/>
          <p:nvPr/>
        </p:nvSpPr>
        <p:spPr>
          <a:xfrm>
            <a:off x="375548" y="747018"/>
            <a:ext cx="8063902" cy="520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bg1"/>
                </a:solidFill>
                <a:latin typeface="+mj-ea"/>
                <a:ea typeface="+mj-ea"/>
              </a:rPr>
              <a:t>Benchmarking Synthetic Data Generation Algorithms </a:t>
            </a:r>
          </a:p>
        </p:txBody>
      </p:sp>
      <p:cxnSp>
        <p:nvCxnSpPr>
          <p:cNvPr id="31" name="直接箭头连接符 30">
            <a:extLst>
              <a:ext uri="{FF2B5EF4-FFF2-40B4-BE49-F238E27FC236}">
                <a16:creationId xmlns:a16="http://schemas.microsoft.com/office/drawing/2014/main" id="{2ECE4222-6748-4878-9D2F-10E2B5C0C310}"/>
              </a:ext>
            </a:extLst>
          </p:cNvPr>
          <p:cNvCxnSpPr/>
          <p:nvPr/>
        </p:nvCxnSpPr>
        <p:spPr>
          <a:xfrm>
            <a:off x="1596571" y="3494300"/>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4" name="组合 23">
            <a:extLst>
              <a:ext uri="{FF2B5EF4-FFF2-40B4-BE49-F238E27FC236}">
                <a16:creationId xmlns:a16="http://schemas.microsoft.com/office/drawing/2014/main" id="{420F014E-A7A5-4E4C-BD30-9DC15169B170}"/>
              </a:ext>
            </a:extLst>
          </p:cNvPr>
          <p:cNvGrpSpPr/>
          <p:nvPr/>
        </p:nvGrpSpPr>
        <p:grpSpPr>
          <a:xfrm>
            <a:off x="1563981" y="1518607"/>
            <a:ext cx="8873537" cy="2876498"/>
            <a:chOff x="473661" y="1712402"/>
            <a:chExt cx="10809795" cy="3517900"/>
          </a:xfrm>
        </p:grpSpPr>
        <p:pic>
          <p:nvPicPr>
            <p:cNvPr id="16" name="图片 15">
              <a:extLst>
                <a:ext uri="{FF2B5EF4-FFF2-40B4-BE49-F238E27FC236}">
                  <a16:creationId xmlns:a16="http://schemas.microsoft.com/office/drawing/2014/main" id="{28DD6C16-A254-4F8B-8A8B-007EC61A0F93}"/>
                </a:ext>
              </a:extLst>
            </p:cNvPr>
            <p:cNvPicPr>
              <a:picLocks noChangeAspect="1"/>
            </p:cNvPicPr>
            <p:nvPr/>
          </p:nvPicPr>
          <p:blipFill>
            <a:blip r:embed="rId5"/>
            <a:stretch>
              <a:fillRect/>
            </a:stretch>
          </p:blipFill>
          <p:spPr>
            <a:xfrm>
              <a:off x="473661" y="2262698"/>
              <a:ext cx="4795601" cy="2967604"/>
            </a:xfrm>
            <a:prstGeom prst="rect">
              <a:avLst/>
            </a:prstGeom>
          </p:spPr>
        </p:pic>
        <p:pic>
          <p:nvPicPr>
            <p:cNvPr id="22" name="图片 21">
              <a:extLst>
                <a:ext uri="{FF2B5EF4-FFF2-40B4-BE49-F238E27FC236}">
                  <a16:creationId xmlns:a16="http://schemas.microsoft.com/office/drawing/2014/main" id="{49B068A8-AA69-4305-AD0B-E2B1B591F7D0}"/>
                </a:ext>
              </a:extLst>
            </p:cNvPr>
            <p:cNvPicPr>
              <a:picLocks noChangeAspect="1"/>
            </p:cNvPicPr>
            <p:nvPr/>
          </p:nvPicPr>
          <p:blipFill>
            <a:blip r:embed="rId6"/>
            <a:stretch>
              <a:fillRect/>
            </a:stretch>
          </p:blipFill>
          <p:spPr>
            <a:xfrm>
              <a:off x="5926207" y="2262698"/>
              <a:ext cx="5357249" cy="2967604"/>
            </a:xfrm>
            <a:prstGeom prst="rect">
              <a:avLst/>
            </a:prstGeom>
          </p:spPr>
        </p:pic>
        <p:sp>
          <p:nvSpPr>
            <p:cNvPr id="23" name="矩形 22">
              <a:extLst>
                <a:ext uri="{FF2B5EF4-FFF2-40B4-BE49-F238E27FC236}">
                  <a16:creationId xmlns:a16="http://schemas.microsoft.com/office/drawing/2014/main" id="{C6E3E3A7-C78D-4D20-B57A-CC2B08E41178}"/>
                </a:ext>
              </a:extLst>
            </p:cNvPr>
            <p:cNvSpPr/>
            <p:nvPr/>
          </p:nvSpPr>
          <p:spPr>
            <a:xfrm>
              <a:off x="473661" y="1712402"/>
              <a:ext cx="4795601" cy="446598"/>
            </a:xfrm>
            <a:prstGeom prst="rect">
              <a:avLst/>
            </a:prstGeom>
            <a:solidFill>
              <a:srgbClr val="8FAAD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mn-ea"/>
                </a:rPr>
                <a:t>7 Simulated Datasets</a:t>
              </a:r>
              <a:endParaRPr lang="zh-CN" altLang="en-US" sz="2000" dirty="0">
                <a:latin typeface="+mn-ea"/>
              </a:endParaRPr>
            </a:p>
          </p:txBody>
        </p:sp>
        <p:sp>
          <p:nvSpPr>
            <p:cNvPr id="26" name="矩形 25">
              <a:extLst>
                <a:ext uri="{FF2B5EF4-FFF2-40B4-BE49-F238E27FC236}">
                  <a16:creationId xmlns:a16="http://schemas.microsoft.com/office/drawing/2014/main" id="{698839CE-2126-40F2-8F90-FD172909EC63}"/>
                </a:ext>
              </a:extLst>
            </p:cNvPr>
            <p:cNvSpPr/>
            <p:nvPr/>
          </p:nvSpPr>
          <p:spPr>
            <a:xfrm>
              <a:off x="5926207" y="1712402"/>
              <a:ext cx="5357249" cy="446598"/>
            </a:xfrm>
            <a:prstGeom prst="rect">
              <a:avLst/>
            </a:prstGeom>
            <a:solidFill>
              <a:srgbClr val="8FAAD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mn-ea"/>
                </a:rPr>
                <a:t>8 Real Datasets</a:t>
              </a:r>
              <a:endParaRPr lang="zh-CN" altLang="en-US" sz="2000" dirty="0">
                <a:latin typeface="+mn-ea"/>
              </a:endParaRPr>
            </a:p>
          </p:txBody>
        </p:sp>
      </p:grpSp>
      <p:pic>
        <p:nvPicPr>
          <p:cNvPr id="25" name="图片 24">
            <a:extLst>
              <a:ext uri="{FF2B5EF4-FFF2-40B4-BE49-F238E27FC236}">
                <a16:creationId xmlns:a16="http://schemas.microsoft.com/office/drawing/2014/main" id="{8E6700FC-CB0A-4956-81C4-E10CED1B463A}"/>
              </a:ext>
            </a:extLst>
          </p:cNvPr>
          <p:cNvPicPr>
            <a:picLocks noChangeAspect="1"/>
          </p:cNvPicPr>
          <p:nvPr/>
        </p:nvPicPr>
        <p:blipFill>
          <a:blip r:embed="rId7"/>
          <a:stretch>
            <a:fillRect/>
          </a:stretch>
        </p:blipFill>
        <p:spPr>
          <a:xfrm>
            <a:off x="3786184" y="4403313"/>
            <a:ext cx="4835216" cy="2378104"/>
          </a:xfrm>
          <a:prstGeom prst="rect">
            <a:avLst/>
          </a:prstGeom>
        </p:spPr>
      </p:pic>
    </p:spTree>
    <p:extLst>
      <p:ext uri="{BB962C8B-B14F-4D97-AF65-F5344CB8AC3E}">
        <p14:creationId xmlns:p14="http://schemas.microsoft.com/office/powerpoint/2010/main" val="37162215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椭圆 36">
            <a:extLst>
              <a:ext uri="{FF2B5EF4-FFF2-40B4-BE49-F238E27FC236}">
                <a16:creationId xmlns:a16="http://schemas.microsoft.com/office/drawing/2014/main" id="{991DEE90-AC86-48BF-A20A-547D360E5EFB}"/>
              </a:ext>
            </a:extLst>
          </p:cNvPr>
          <p:cNvSpPr/>
          <p:nvPr/>
        </p:nvSpPr>
        <p:spPr>
          <a:xfrm>
            <a:off x="9404447" y="2186452"/>
            <a:ext cx="1913392" cy="1913392"/>
          </a:xfrm>
          <a:prstGeom prst="ellipse">
            <a:avLst/>
          </a:prstGeom>
          <a:gradFill flip="none" rotWithShape="1">
            <a:gsLst>
              <a:gs pos="0">
                <a:schemeClr val="accent1">
                  <a:lumMod val="60000"/>
                  <a:lumOff val="40000"/>
                </a:schemeClr>
              </a:gs>
              <a:gs pos="100000">
                <a:schemeClr val="accent1">
                  <a:lumMod val="75000"/>
                  <a:alpha val="67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grpSp>
        <p:nvGrpSpPr>
          <p:cNvPr id="3" name="组合 2"/>
          <p:cNvGrpSpPr/>
          <p:nvPr/>
        </p:nvGrpSpPr>
        <p:grpSpPr>
          <a:xfrm>
            <a:off x="-4632" y="-1"/>
            <a:ext cx="12196631" cy="2127749"/>
            <a:chOff x="-4632" y="-1"/>
            <a:chExt cx="12196631" cy="2127749"/>
          </a:xfrm>
        </p:grpSpPr>
        <p:sp>
          <p:nvSpPr>
            <p:cNvPr id="11" name="任意多边形: 形状 10">
              <a:extLst>
                <a:ext uri="{FF2B5EF4-FFF2-40B4-BE49-F238E27FC236}">
                  <a16:creationId xmlns:a16="http://schemas.microsoft.com/office/drawing/2014/main" id="{4BF7FE7A-4E23-4577-B4D3-19330F26E572}"/>
                </a:ext>
              </a:extLst>
            </p:cNvPr>
            <p:cNvSpPr/>
            <p:nvPr/>
          </p:nvSpPr>
          <p:spPr>
            <a:xfrm flipV="1">
              <a:off x="0" y="1684"/>
              <a:ext cx="12191999" cy="2126064"/>
            </a:xfrm>
            <a:custGeom>
              <a:avLst/>
              <a:gdLst>
                <a:gd name="connsiteX0" fmla="*/ 0 w 12191999"/>
                <a:gd name="connsiteY0" fmla="*/ 2126064 h 2126064"/>
                <a:gd name="connsiteX1" fmla="*/ 12191999 w 12191999"/>
                <a:gd name="connsiteY1" fmla="*/ 2126064 h 2126064"/>
                <a:gd name="connsiteX2" fmla="*/ 0 w 12191999"/>
                <a:gd name="connsiteY2" fmla="*/ 0 h 2126064"/>
              </a:gdLst>
              <a:ahLst/>
              <a:cxnLst>
                <a:cxn ang="0">
                  <a:pos x="connsiteX0" y="connsiteY0"/>
                </a:cxn>
                <a:cxn ang="0">
                  <a:pos x="connsiteX1" y="connsiteY1"/>
                </a:cxn>
                <a:cxn ang="0">
                  <a:pos x="connsiteX2" y="connsiteY2"/>
                </a:cxn>
              </a:cxnLst>
              <a:rect l="l" t="t" r="r" b="b"/>
              <a:pathLst>
                <a:path w="12191999" h="2126064">
                  <a:moveTo>
                    <a:pt x="0" y="2126064"/>
                  </a:moveTo>
                  <a:lnTo>
                    <a:pt x="12191999" y="2126064"/>
                  </a:lnTo>
                  <a:lnTo>
                    <a:pt x="0" y="0"/>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Light"/>
                <a:ea typeface="微软雅黑 Light"/>
                <a:cs typeface="+mn-cs"/>
              </a:endParaRPr>
            </a:p>
          </p:txBody>
        </p:sp>
        <p:sp>
          <p:nvSpPr>
            <p:cNvPr id="20" name="任意多边形: 形状 19">
              <a:extLst>
                <a:ext uri="{FF2B5EF4-FFF2-40B4-BE49-F238E27FC236}">
                  <a16:creationId xmlns:a16="http://schemas.microsoft.com/office/drawing/2014/main" id="{469A4E30-8FC8-4074-B7DA-5077F2AFF989}"/>
                </a:ext>
              </a:extLst>
            </p:cNvPr>
            <p:cNvSpPr/>
            <p:nvPr/>
          </p:nvSpPr>
          <p:spPr>
            <a:xfrm flipV="1">
              <a:off x="-4632" y="-1"/>
              <a:ext cx="845081" cy="695700"/>
            </a:xfrm>
            <a:custGeom>
              <a:avLst/>
              <a:gdLst>
                <a:gd name="connsiteX0" fmla="*/ 0 w 845081"/>
                <a:gd name="connsiteY0" fmla="*/ 695700 h 695700"/>
                <a:gd name="connsiteX1" fmla="*/ 845081 w 845081"/>
                <a:gd name="connsiteY1" fmla="*/ 695700 h 695700"/>
                <a:gd name="connsiteX2" fmla="*/ 0 w 845081"/>
                <a:gd name="connsiteY2" fmla="*/ 0 h 695700"/>
                <a:gd name="connsiteX3" fmla="*/ 0 w 845081"/>
                <a:gd name="connsiteY3" fmla="*/ 695700 h 695700"/>
              </a:gdLst>
              <a:ahLst/>
              <a:cxnLst>
                <a:cxn ang="0">
                  <a:pos x="connsiteX0" y="connsiteY0"/>
                </a:cxn>
                <a:cxn ang="0">
                  <a:pos x="connsiteX1" y="connsiteY1"/>
                </a:cxn>
                <a:cxn ang="0">
                  <a:pos x="connsiteX2" y="connsiteY2"/>
                </a:cxn>
                <a:cxn ang="0">
                  <a:pos x="connsiteX3" y="connsiteY3"/>
                </a:cxn>
              </a:cxnLst>
              <a:rect l="l" t="t" r="r" b="b"/>
              <a:pathLst>
                <a:path w="845081" h="695700">
                  <a:moveTo>
                    <a:pt x="0" y="695700"/>
                  </a:moveTo>
                  <a:lnTo>
                    <a:pt x="845081" y="695700"/>
                  </a:lnTo>
                  <a:lnTo>
                    <a:pt x="0" y="0"/>
                  </a:lnTo>
                  <a:lnTo>
                    <a:pt x="0" y="695700"/>
                  </a:lnTo>
                  <a:close/>
                </a:path>
              </a:pathLst>
            </a:custGeom>
            <a:solidFill>
              <a:srgbClr val="003F8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Light"/>
                <a:ea typeface="微软雅黑 Light"/>
                <a:cs typeface="+mn-cs"/>
              </a:endParaRPr>
            </a:p>
          </p:txBody>
        </p:sp>
        <p:sp>
          <p:nvSpPr>
            <p:cNvPr id="19" name="任意多边形: 形状 18">
              <a:extLst>
                <a:ext uri="{FF2B5EF4-FFF2-40B4-BE49-F238E27FC236}">
                  <a16:creationId xmlns:a16="http://schemas.microsoft.com/office/drawing/2014/main" id="{DED759B5-476E-48A8-882B-A40A31639608}"/>
                </a:ext>
              </a:extLst>
            </p:cNvPr>
            <p:cNvSpPr/>
            <p:nvPr/>
          </p:nvSpPr>
          <p:spPr>
            <a:xfrm flipV="1">
              <a:off x="2569944" y="9621"/>
              <a:ext cx="7642459" cy="1665174"/>
            </a:xfrm>
            <a:custGeom>
              <a:avLst/>
              <a:gdLst>
                <a:gd name="connsiteX0" fmla="*/ 2049597 w 7784426"/>
                <a:gd name="connsiteY0" fmla="*/ 1687299 h 1687299"/>
                <a:gd name="connsiteX1" fmla="*/ 7784426 w 7784426"/>
                <a:gd name="connsiteY1" fmla="*/ 1687299 h 1687299"/>
                <a:gd name="connsiteX2" fmla="*/ 7276089 w 7784426"/>
                <a:gd name="connsiteY2" fmla="*/ 1268818 h 1687299"/>
                <a:gd name="connsiteX3" fmla="*/ 0 w 7784426"/>
                <a:gd name="connsiteY3" fmla="*/ 0 h 1687299"/>
                <a:gd name="connsiteX4" fmla="*/ 2049597 w 7784426"/>
                <a:gd name="connsiteY4" fmla="*/ 1687299 h 1687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84426" h="1687299">
                  <a:moveTo>
                    <a:pt x="2049597" y="1687299"/>
                  </a:moveTo>
                  <a:lnTo>
                    <a:pt x="7784426" y="1687299"/>
                  </a:lnTo>
                  <a:lnTo>
                    <a:pt x="7276089" y="1268818"/>
                  </a:lnTo>
                  <a:lnTo>
                    <a:pt x="0" y="0"/>
                  </a:lnTo>
                  <a:lnTo>
                    <a:pt x="2049597" y="1687299"/>
                  </a:lnTo>
                  <a:close/>
                </a:path>
              </a:pathLst>
            </a:custGeom>
            <a:solidFill>
              <a:srgbClr val="003F8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Light"/>
                <a:ea typeface="微软雅黑 Light"/>
                <a:cs typeface="+mn-cs"/>
              </a:endParaRPr>
            </a:p>
          </p:txBody>
        </p:sp>
      </p:grpSp>
      <p:grpSp>
        <p:nvGrpSpPr>
          <p:cNvPr id="32" name="组合 31">
            <a:extLst>
              <a:ext uri="{FF2B5EF4-FFF2-40B4-BE49-F238E27FC236}">
                <a16:creationId xmlns:a16="http://schemas.microsoft.com/office/drawing/2014/main" id="{33F5A969-260B-422F-B4E3-DA6395C64BC8}"/>
              </a:ext>
            </a:extLst>
          </p:cNvPr>
          <p:cNvGrpSpPr/>
          <p:nvPr/>
        </p:nvGrpSpPr>
        <p:grpSpPr>
          <a:xfrm>
            <a:off x="3154566" y="4130877"/>
            <a:ext cx="5762554" cy="1730828"/>
            <a:chOff x="3102428" y="3755572"/>
            <a:chExt cx="5762554" cy="1730828"/>
          </a:xfrm>
        </p:grpSpPr>
        <p:cxnSp>
          <p:nvCxnSpPr>
            <p:cNvPr id="29" name="直接连接符 28">
              <a:extLst>
                <a:ext uri="{FF2B5EF4-FFF2-40B4-BE49-F238E27FC236}">
                  <a16:creationId xmlns:a16="http://schemas.microsoft.com/office/drawing/2014/main" id="{1C4BCF85-EA4C-493A-8D5E-F0143B36AB23}"/>
                </a:ext>
              </a:extLst>
            </p:cNvPr>
            <p:cNvCxnSpPr/>
            <p:nvPr/>
          </p:nvCxnSpPr>
          <p:spPr>
            <a:xfrm>
              <a:off x="3102428" y="3755572"/>
              <a:ext cx="0" cy="173082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DE808EE5-120D-468C-A69F-51673B365677}"/>
                </a:ext>
              </a:extLst>
            </p:cNvPr>
            <p:cNvCxnSpPr/>
            <p:nvPr/>
          </p:nvCxnSpPr>
          <p:spPr>
            <a:xfrm>
              <a:off x="6019799" y="3755572"/>
              <a:ext cx="0" cy="173082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B4991D69-27EB-405C-B1D3-36EF14D376BD}"/>
                </a:ext>
              </a:extLst>
            </p:cNvPr>
            <p:cNvCxnSpPr/>
            <p:nvPr/>
          </p:nvCxnSpPr>
          <p:spPr>
            <a:xfrm>
              <a:off x="8864982" y="3755572"/>
              <a:ext cx="0" cy="173082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2" name="文本框 41">
            <a:extLst>
              <a:ext uri="{FF2B5EF4-FFF2-40B4-BE49-F238E27FC236}">
                <a16:creationId xmlns:a16="http://schemas.microsoft.com/office/drawing/2014/main" id="{0AE1EE13-9C37-48CE-BDB5-4C39D3287054}"/>
              </a:ext>
            </a:extLst>
          </p:cNvPr>
          <p:cNvSpPr txBox="1"/>
          <p:nvPr/>
        </p:nvSpPr>
        <p:spPr>
          <a:xfrm>
            <a:off x="3452213" y="4724552"/>
            <a:ext cx="238597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微软雅黑"/>
                <a:ea typeface="微软雅黑"/>
                <a:cs typeface="+mn-cs"/>
              </a:rPr>
              <a:t>GAN</a:t>
            </a:r>
            <a:r>
              <a:rPr kumimoji="0" lang="zh-CN" altLang="en-US" sz="2400" b="0" i="0" u="none" strike="noStrike" kern="1200" cap="none" spc="0" normalizeH="0" baseline="0" noProof="0" dirty="0">
                <a:ln>
                  <a:noFill/>
                </a:ln>
                <a:solidFill>
                  <a:prstClr val="black"/>
                </a:solidFill>
                <a:effectLst/>
                <a:uLnTx/>
                <a:uFillTx/>
                <a:latin typeface="微软雅黑"/>
                <a:ea typeface="微软雅黑"/>
                <a:cs typeface="+mn-cs"/>
              </a:rPr>
              <a:t>类型</a:t>
            </a:r>
          </a:p>
        </p:txBody>
      </p:sp>
      <p:sp>
        <p:nvSpPr>
          <p:cNvPr id="48" name="文本框 47">
            <a:extLst>
              <a:ext uri="{FF2B5EF4-FFF2-40B4-BE49-F238E27FC236}">
                <a16:creationId xmlns:a16="http://schemas.microsoft.com/office/drawing/2014/main" id="{2AAA4CA5-B98F-4084-9D8B-791B4F288906}"/>
              </a:ext>
            </a:extLst>
          </p:cNvPr>
          <p:cNvSpPr txBox="1"/>
          <p:nvPr/>
        </p:nvSpPr>
        <p:spPr>
          <a:xfrm>
            <a:off x="9168158" y="4724550"/>
            <a:ext cx="238597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dirty="0">
                <a:solidFill>
                  <a:prstClr val="black"/>
                </a:solidFill>
                <a:latin typeface="微软雅黑"/>
                <a:ea typeface="微软雅黑"/>
              </a:rPr>
              <a:t>总结与思考</a:t>
            </a:r>
            <a:endParaRPr kumimoji="0" lang="zh-CN" altLang="en-US" sz="2400" b="0" i="0" u="none" strike="noStrike" kern="1200" cap="none" spc="0" normalizeH="0" baseline="0" noProof="0" dirty="0">
              <a:ln>
                <a:noFill/>
              </a:ln>
              <a:solidFill>
                <a:prstClr val="black"/>
              </a:solidFill>
              <a:effectLst/>
              <a:uLnTx/>
              <a:uFillTx/>
              <a:latin typeface="微软雅黑"/>
              <a:ea typeface="微软雅黑"/>
              <a:cs typeface="+mn-cs"/>
            </a:endParaRPr>
          </a:p>
        </p:txBody>
      </p:sp>
      <p:grpSp>
        <p:nvGrpSpPr>
          <p:cNvPr id="6" name="组合 5">
            <a:extLst>
              <a:ext uri="{FF2B5EF4-FFF2-40B4-BE49-F238E27FC236}">
                <a16:creationId xmlns:a16="http://schemas.microsoft.com/office/drawing/2014/main" id="{1D8E30C5-F3E2-490B-BA55-8584F5B46F7C}"/>
              </a:ext>
            </a:extLst>
          </p:cNvPr>
          <p:cNvGrpSpPr/>
          <p:nvPr/>
        </p:nvGrpSpPr>
        <p:grpSpPr>
          <a:xfrm>
            <a:off x="6868837" y="2467476"/>
            <a:ext cx="1300163" cy="1300163"/>
            <a:chOff x="6868837" y="2467476"/>
            <a:chExt cx="1300163" cy="1300163"/>
          </a:xfrm>
        </p:grpSpPr>
        <p:sp>
          <p:nvSpPr>
            <p:cNvPr id="24" name="椭圆 23">
              <a:extLst>
                <a:ext uri="{FF2B5EF4-FFF2-40B4-BE49-F238E27FC236}">
                  <a16:creationId xmlns:a16="http://schemas.microsoft.com/office/drawing/2014/main" id="{AA2B2B69-B1A9-43D3-8805-96C7DC83E749}"/>
                </a:ext>
              </a:extLst>
            </p:cNvPr>
            <p:cNvSpPr/>
            <p:nvPr/>
          </p:nvSpPr>
          <p:spPr>
            <a:xfrm>
              <a:off x="6868837" y="2467476"/>
              <a:ext cx="1300163" cy="1300163"/>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pic>
          <p:nvPicPr>
            <p:cNvPr id="50" name="图形 49">
              <a:extLst>
                <a:ext uri="{FF2B5EF4-FFF2-40B4-BE49-F238E27FC236}">
                  <a16:creationId xmlns:a16="http://schemas.microsoft.com/office/drawing/2014/main" id="{9EAAE6D9-A0F7-4A31-8973-72D41173CF7F}"/>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214643" y="2805011"/>
              <a:ext cx="550429" cy="634015"/>
            </a:xfrm>
            <a:prstGeom prst="rect">
              <a:avLst/>
            </a:prstGeom>
          </p:spPr>
        </p:pic>
      </p:grpSp>
      <p:grpSp>
        <p:nvGrpSpPr>
          <p:cNvPr id="5" name="组合 4">
            <a:extLst>
              <a:ext uri="{FF2B5EF4-FFF2-40B4-BE49-F238E27FC236}">
                <a16:creationId xmlns:a16="http://schemas.microsoft.com/office/drawing/2014/main" id="{719C66ED-F764-400B-9AA0-0C65B6AF1012}"/>
              </a:ext>
            </a:extLst>
          </p:cNvPr>
          <p:cNvGrpSpPr/>
          <p:nvPr/>
        </p:nvGrpSpPr>
        <p:grpSpPr>
          <a:xfrm>
            <a:off x="4023002" y="2467476"/>
            <a:ext cx="1300163" cy="1300163"/>
            <a:chOff x="4023002" y="2467476"/>
            <a:chExt cx="1300163" cy="1300163"/>
          </a:xfrm>
        </p:grpSpPr>
        <p:sp>
          <p:nvSpPr>
            <p:cNvPr id="23" name="椭圆 22">
              <a:extLst>
                <a:ext uri="{FF2B5EF4-FFF2-40B4-BE49-F238E27FC236}">
                  <a16:creationId xmlns:a16="http://schemas.microsoft.com/office/drawing/2014/main" id="{FBB762AA-0FA7-4AE0-9706-E0F0F67F6B71}"/>
                </a:ext>
              </a:extLst>
            </p:cNvPr>
            <p:cNvSpPr/>
            <p:nvPr/>
          </p:nvSpPr>
          <p:spPr>
            <a:xfrm>
              <a:off x="4023002" y="2467476"/>
              <a:ext cx="1300163" cy="130016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pic>
          <p:nvPicPr>
            <p:cNvPr id="51" name="图形 50">
              <a:extLst>
                <a:ext uri="{FF2B5EF4-FFF2-40B4-BE49-F238E27FC236}">
                  <a16:creationId xmlns:a16="http://schemas.microsoft.com/office/drawing/2014/main" id="{2EB309AA-217D-47D1-AA4F-092E330BA8D6}"/>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326109" y="2824061"/>
              <a:ext cx="638175" cy="638175"/>
            </a:xfrm>
            <a:prstGeom prst="rect">
              <a:avLst/>
            </a:prstGeom>
          </p:spPr>
        </p:pic>
      </p:grpSp>
      <p:grpSp>
        <p:nvGrpSpPr>
          <p:cNvPr id="2" name="组合 1">
            <a:extLst>
              <a:ext uri="{FF2B5EF4-FFF2-40B4-BE49-F238E27FC236}">
                <a16:creationId xmlns:a16="http://schemas.microsoft.com/office/drawing/2014/main" id="{23751CDC-445C-446B-B799-DBBAD7025BE3}"/>
              </a:ext>
            </a:extLst>
          </p:cNvPr>
          <p:cNvGrpSpPr/>
          <p:nvPr/>
        </p:nvGrpSpPr>
        <p:grpSpPr>
          <a:xfrm>
            <a:off x="1177167" y="2481733"/>
            <a:ext cx="1300163" cy="1300163"/>
            <a:chOff x="1177167" y="2337355"/>
            <a:chExt cx="1300163" cy="1300163"/>
          </a:xfrm>
        </p:grpSpPr>
        <p:sp>
          <p:nvSpPr>
            <p:cNvPr id="22" name="椭圆 21">
              <a:extLst>
                <a:ext uri="{FF2B5EF4-FFF2-40B4-BE49-F238E27FC236}">
                  <a16:creationId xmlns:a16="http://schemas.microsoft.com/office/drawing/2014/main" id="{0773D16B-B26D-4ACE-B82D-19CC3160B13E}"/>
                </a:ext>
              </a:extLst>
            </p:cNvPr>
            <p:cNvSpPr/>
            <p:nvPr/>
          </p:nvSpPr>
          <p:spPr>
            <a:xfrm>
              <a:off x="1177167" y="2337355"/>
              <a:ext cx="1300163" cy="1300163"/>
            </a:xfrm>
            <a:prstGeom prst="ellipse">
              <a:avLst/>
            </a:prstGeom>
            <a:solidFill>
              <a:srgbClr val="003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pic>
          <p:nvPicPr>
            <p:cNvPr id="52" name="图形 51">
              <a:extLst>
                <a:ext uri="{FF2B5EF4-FFF2-40B4-BE49-F238E27FC236}">
                  <a16:creationId xmlns:a16="http://schemas.microsoft.com/office/drawing/2014/main" id="{A3425BBB-6727-4250-85F3-365EA0CB06CD}"/>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482804" y="2708834"/>
              <a:ext cx="633116" cy="634015"/>
            </a:xfrm>
            <a:prstGeom prst="rect">
              <a:avLst/>
            </a:prstGeom>
          </p:spPr>
        </p:pic>
      </p:grpSp>
      <p:grpSp>
        <p:nvGrpSpPr>
          <p:cNvPr id="7" name="组合 6">
            <a:extLst>
              <a:ext uri="{FF2B5EF4-FFF2-40B4-BE49-F238E27FC236}">
                <a16:creationId xmlns:a16="http://schemas.microsoft.com/office/drawing/2014/main" id="{2312F191-3487-48B2-8693-727C14881658}"/>
              </a:ext>
            </a:extLst>
          </p:cNvPr>
          <p:cNvGrpSpPr/>
          <p:nvPr/>
        </p:nvGrpSpPr>
        <p:grpSpPr>
          <a:xfrm>
            <a:off x="9714671" y="2467476"/>
            <a:ext cx="1300163" cy="1300163"/>
            <a:chOff x="9714671" y="2467476"/>
            <a:chExt cx="1300163" cy="1300163"/>
          </a:xfrm>
        </p:grpSpPr>
        <p:sp>
          <p:nvSpPr>
            <p:cNvPr id="25" name="椭圆 24">
              <a:extLst>
                <a:ext uri="{FF2B5EF4-FFF2-40B4-BE49-F238E27FC236}">
                  <a16:creationId xmlns:a16="http://schemas.microsoft.com/office/drawing/2014/main" id="{A282D3A1-3DD5-42E5-BC06-B87C450047C1}"/>
                </a:ext>
              </a:extLst>
            </p:cNvPr>
            <p:cNvSpPr/>
            <p:nvPr/>
          </p:nvSpPr>
          <p:spPr>
            <a:xfrm>
              <a:off x="9714671" y="2467476"/>
              <a:ext cx="1300163" cy="130016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pic>
          <p:nvPicPr>
            <p:cNvPr id="53" name="图形 52">
              <a:extLst>
                <a:ext uri="{FF2B5EF4-FFF2-40B4-BE49-F238E27FC236}">
                  <a16:creationId xmlns:a16="http://schemas.microsoft.com/office/drawing/2014/main" id="{4AD0FFA1-B1D6-4A7A-8CFA-8B13327B51BB}"/>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042056" y="2824061"/>
              <a:ext cx="638175" cy="638175"/>
            </a:xfrm>
            <a:prstGeom prst="rect">
              <a:avLst/>
            </a:prstGeom>
          </p:spPr>
        </p:pic>
      </p:grpSp>
      <p:grpSp>
        <p:nvGrpSpPr>
          <p:cNvPr id="4" name="组合 3">
            <a:extLst>
              <a:ext uri="{FF2B5EF4-FFF2-40B4-BE49-F238E27FC236}">
                <a16:creationId xmlns:a16="http://schemas.microsoft.com/office/drawing/2014/main" id="{01DC4DF9-EDB5-4893-B60E-C4238C656D54}"/>
              </a:ext>
            </a:extLst>
          </p:cNvPr>
          <p:cNvGrpSpPr/>
          <p:nvPr/>
        </p:nvGrpSpPr>
        <p:grpSpPr>
          <a:xfrm>
            <a:off x="7796463" y="964934"/>
            <a:ext cx="4049551" cy="873366"/>
            <a:chOff x="7796463" y="964934"/>
            <a:chExt cx="4049551" cy="873366"/>
          </a:xfrm>
        </p:grpSpPr>
        <p:sp>
          <p:nvSpPr>
            <p:cNvPr id="33" name="文本框 32">
              <a:extLst>
                <a:ext uri="{FF2B5EF4-FFF2-40B4-BE49-F238E27FC236}">
                  <a16:creationId xmlns:a16="http://schemas.microsoft.com/office/drawing/2014/main" id="{C0C6EF5C-9CFE-4CE5-8D09-222CD3D47BEE}"/>
                </a:ext>
              </a:extLst>
            </p:cNvPr>
            <p:cNvSpPr txBox="1"/>
            <p:nvPr/>
          </p:nvSpPr>
          <p:spPr>
            <a:xfrm>
              <a:off x="8212132" y="964934"/>
              <a:ext cx="3633882"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800" b="0" i="0" u="none" strike="noStrike" kern="1200" cap="none" spc="0" normalizeH="0" baseline="0" noProof="0" dirty="0">
                  <a:ln>
                    <a:noFill/>
                  </a:ln>
                  <a:solidFill>
                    <a:srgbClr val="003F87"/>
                  </a:solidFill>
                  <a:effectLst/>
                  <a:uLnTx/>
                  <a:uFillTx/>
                  <a:latin typeface="微软雅黑"/>
                  <a:ea typeface="微软雅黑"/>
                  <a:cs typeface="+mn-cs"/>
                </a:rPr>
                <a:t>CONTENTS</a:t>
              </a:r>
              <a:endParaRPr kumimoji="0" lang="zh-CN" altLang="en-US" sz="4800" b="0" i="0" u="none" strike="noStrike" kern="1200" cap="none" spc="0" normalizeH="0" baseline="0" noProof="0" dirty="0">
                <a:ln>
                  <a:noFill/>
                </a:ln>
                <a:solidFill>
                  <a:srgbClr val="003F87"/>
                </a:solidFill>
                <a:effectLst/>
                <a:uLnTx/>
                <a:uFillTx/>
                <a:latin typeface="微软雅黑"/>
                <a:ea typeface="微软雅黑"/>
                <a:cs typeface="+mn-cs"/>
              </a:endParaRPr>
            </a:p>
          </p:txBody>
        </p:sp>
        <p:cxnSp>
          <p:nvCxnSpPr>
            <p:cNvPr id="35" name="直接连接符 34">
              <a:extLst>
                <a:ext uri="{FF2B5EF4-FFF2-40B4-BE49-F238E27FC236}">
                  <a16:creationId xmlns:a16="http://schemas.microsoft.com/office/drawing/2014/main" id="{729C69BF-F084-41CE-B5C1-0F9FAF53BB2A}"/>
                </a:ext>
              </a:extLst>
            </p:cNvPr>
            <p:cNvCxnSpPr>
              <a:cxnSpLocks/>
            </p:cNvCxnSpPr>
            <p:nvPr/>
          </p:nvCxnSpPr>
          <p:spPr>
            <a:xfrm flipH="1">
              <a:off x="7796463" y="1838300"/>
              <a:ext cx="360786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9625B235-73FE-4F5D-B741-E83D11F671F4}"/>
                </a:ext>
              </a:extLst>
            </p:cNvPr>
            <p:cNvCxnSpPr>
              <a:cxnSpLocks/>
            </p:cNvCxnSpPr>
            <p:nvPr/>
          </p:nvCxnSpPr>
          <p:spPr>
            <a:xfrm flipH="1">
              <a:off x="10544175" y="1762998"/>
              <a:ext cx="86015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4" name="文本框 53">
            <a:extLst>
              <a:ext uri="{FF2B5EF4-FFF2-40B4-BE49-F238E27FC236}">
                <a16:creationId xmlns:a16="http://schemas.microsoft.com/office/drawing/2014/main" id="{B48B34B3-953B-43F7-9936-47B1D78ECC55}"/>
              </a:ext>
            </a:extLst>
          </p:cNvPr>
          <p:cNvSpPr txBox="1"/>
          <p:nvPr/>
        </p:nvSpPr>
        <p:spPr>
          <a:xfrm>
            <a:off x="570102" y="4428336"/>
            <a:ext cx="2385970"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微软雅黑"/>
              <a:ea typeface="微软雅黑"/>
              <a:cs typeface="+mn-cs"/>
            </a:endParaRPr>
          </a:p>
        </p:txBody>
      </p:sp>
      <p:pic>
        <p:nvPicPr>
          <p:cNvPr id="38" name="图形 37">
            <a:extLst>
              <a:ext uri="{FF2B5EF4-FFF2-40B4-BE49-F238E27FC236}">
                <a16:creationId xmlns:a16="http://schemas.microsoft.com/office/drawing/2014/main" id="{6B9C6FAA-6780-431A-910C-738D95B3514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02150" y="365509"/>
            <a:ext cx="2161308" cy="599425"/>
          </a:xfrm>
          <a:prstGeom prst="rect">
            <a:avLst/>
          </a:prstGeom>
        </p:spPr>
      </p:pic>
      <p:sp>
        <p:nvSpPr>
          <p:cNvPr id="40" name="文本框 39">
            <a:extLst>
              <a:ext uri="{FF2B5EF4-FFF2-40B4-BE49-F238E27FC236}">
                <a16:creationId xmlns:a16="http://schemas.microsoft.com/office/drawing/2014/main" id="{04E6415A-080A-412B-A374-19496E675F49}"/>
              </a:ext>
            </a:extLst>
          </p:cNvPr>
          <p:cNvSpPr txBox="1"/>
          <p:nvPr/>
        </p:nvSpPr>
        <p:spPr>
          <a:xfrm>
            <a:off x="631954" y="4724552"/>
            <a:ext cx="238597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微软雅黑"/>
                <a:ea typeface="微软雅黑"/>
                <a:cs typeface="+mn-cs"/>
              </a:rPr>
              <a:t>发展过程</a:t>
            </a:r>
          </a:p>
        </p:txBody>
      </p:sp>
      <p:sp>
        <p:nvSpPr>
          <p:cNvPr id="56" name="文本框 55">
            <a:extLst>
              <a:ext uri="{FF2B5EF4-FFF2-40B4-BE49-F238E27FC236}">
                <a16:creationId xmlns:a16="http://schemas.microsoft.com/office/drawing/2014/main" id="{63535199-513C-49B0-8A6A-926E3D04FA24}"/>
              </a:ext>
            </a:extLst>
          </p:cNvPr>
          <p:cNvSpPr txBox="1"/>
          <p:nvPr/>
        </p:nvSpPr>
        <p:spPr>
          <a:xfrm>
            <a:off x="6340470" y="4724551"/>
            <a:ext cx="238597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微软雅黑"/>
                <a:ea typeface="微软雅黑"/>
                <a:cs typeface="+mn-cs"/>
              </a:rPr>
              <a:t>CTGAN</a:t>
            </a:r>
            <a:endParaRPr kumimoji="0" lang="zh-CN" altLang="en-US" sz="2400" b="0" i="0" u="none" strike="noStrike" kern="1200" cap="none" spc="0" normalizeH="0" baseline="0" noProof="0" dirty="0">
              <a:ln>
                <a:noFill/>
              </a:ln>
              <a:solidFill>
                <a:prstClr val="black"/>
              </a:solidFill>
              <a:effectLst/>
              <a:uLnTx/>
              <a:uFillTx/>
              <a:latin typeface="微软雅黑"/>
              <a:ea typeface="微软雅黑"/>
              <a:cs typeface="+mn-cs"/>
            </a:endParaRPr>
          </a:p>
        </p:txBody>
      </p:sp>
    </p:spTree>
    <p:extLst>
      <p:ext uri="{BB962C8B-B14F-4D97-AF65-F5344CB8AC3E}">
        <p14:creationId xmlns:p14="http://schemas.microsoft.com/office/powerpoint/2010/main" val="804503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5D9D6A9-337F-42A2-BCCA-8F338829F0A3}"/>
              </a:ext>
            </a:extLst>
          </p:cNvPr>
          <p:cNvSpPr/>
          <p:nvPr/>
        </p:nvSpPr>
        <p:spPr>
          <a:xfrm>
            <a:off x="1" y="481263"/>
            <a:ext cx="12192000" cy="72000"/>
          </a:xfrm>
          <a:prstGeom prst="rect">
            <a:avLst/>
          </a:prstGeom>
          <a:solidFill>
            <a:srgbClr val="003F87">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82090"/>
              </a:solidFill>
              <a:effectLst/>
              <a:uLnTx/>
              <a:uFillTx/>
              <a:latin typeface="微软雅黑 Light"/>
              <a:ea typeface="微软雅黑 Light"/>
              <a:cs typeface="+mn-cs"/>
            </a:endParaRPr>
          </a:p>
        </p:txBody>
      </p:sp>
      <p:grpSp>
        <p:nvGrpSpPr>
          <p:cNvPr id="13" name="组合 12">
            <a:extLst>
              <a:ext uri="{FF2B5EF4-FFF2-40B4-BE49-F238E27FC236}">
                <a16:creationId xmlns:a16="http://schemas.microsoft.com/office/drawing/2014/main" id="{D1242031-CB56-41DD-AAE7-EC8A25A19202}"/>
              </a:ext>
            </a:extLst>
          </p:cNvPr>
          <p:cNvGrpSpPr/>
          <p:nvPr/>
        </p:nvGrpSpPr>
        <p:grpSpPr>
          <a:xfrm>
            <a:off x="5416649" y="76583"/>
            <a:ext cx="6301683" cy="369332"/>
            <a:chOff x="5416649" y="76583"/>
            <a:chExt cx="6301683" cy="369332"/>
          </a:xfrm>
        </p:grpSpPr>
        <p:sp>
          <p:nvSpPr>
            <p:cNvPr id="12" name="矩形 11">
              <a:extLst>
                <a:ext uri="{FF2B5EF4-FFF2-40B4-BE49-F238E27FC236}">
                  <a16:creationId xmlns:a16="http://schemas.microsoft.com/office/drawing/2014/main" id="{A60EDE69-3FC4-463D-B8FA-519ED3E54C8E}"/>
                </a:ext>
              </a:extLst>
            </p:cNvPr>
            <p:cNvSpPr/>
            <p:nvPr/>
          </p:nvSpPr>
          <p:spPr>
            <a:xfrm>
              <a:off x="10356774" y="87246"/>
              <a:ext cx="1311305" cy="308804"/>
            </a:xfrm>
            <a:prstGeom prst="rect">
              <a:avLst/>
            </a:prstGeom>
            <a:solidFill>
              <a:srgbClr val="003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sp>
          <p:nvSpPr>
            <p:cNvPr id="5" name="文本框 4">
              <a:extLst>
                <a:ext uri="{FF2B5EF4-FFF2-40B4-BE49-F238E27FC236}">
                  <a16:creationId xmlns:a16="http://schemas.microsoft.com/office/drawing/2014/main" id="{1A7EBC06-2FA6-4594-A4DE-6F2E9D86D04C}"/>
                </a:ext>
              </a:extLst>
            </p:cNvPr>
            <p:cNvSpPr txBox="1"/>
            <p:nvPr/>
          </p:nvSpPr>
          <p:spPr>
            <a:xfrm>
              <a:off x="7046607" y="76583"/>
              <a:ext cx="11309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rgbClr val="003F87"/>
                  </a:solidFill>
                  <a:latin typeface="微软雅黑 Light"/>
                  <a:ea typeface="微软雅黑 Light"/>
                </a:rPr>
                <a:t>GAN</a:t>
              </a:r>
              <a:endParaRPr kumimoji="0" lang="zh-CN" altLang="en-US" sz="1800" b="0" i="0" u="none" strike="noStrike" kern="1200" cap="none" spc="0" normalizeH="0" baseline="0" noProof="0" dirty="0">
                <a:ln>
                  <a:noFill/>
                </a:ln>
                <a:solidFill>
                  <a:srgbClr val="003F87"/>
                </a:solidFill>
                <a:effectLst/>
                <a:uLnTx/>
                <a:uFillTx/>
                <a:latin typeface="微软雅黑 Light"/>
                <a:ea typeface="微软雅黑 Light"/>
              </a:endParaRPr>
            </a:p>
          </p:txBody>
        </p:sp>
        <p:sp>
          <p:nvSpPr>
            <p:cNvPr id="4" name="文本框 3">
              <a:extLst>
                <a:ext uri="{FF2B5EF4-FFF2-40B4-BE49-F238E27FC236}">
                  <a16:creationId xmlns:a16="http://schemas.microsoft.com/office/drawing/2014/main" id="{5292CB5F-A4AC-47BE-A81F-1C3B2B8C443B}"/>
                </a:ext>
              </a:extLst>
            </p:cNvPr>
            <p:cNvSpPr txBox="1"/>
            <p:nvPr/>
          </p:nvSpPr>
          <p:spPr>
            <a:xfrm>
              <a:off x="5416649" y="76583"/>
              <a:ext cx="11309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003F87"/>
                  </a:solidFill>
                  <a:latin typeface="微软雅黑 Light"/>
                  <a:ea typeface="微软雅黑 Light"/>
                </a:rPr>
                <a:t>发展过程</a:t>
              </a:r>
              <a:endParaRPr kumimoji="0" lang="zh-CN" altLang="en-US" sz="1800" b="0" i="0" u="none" strike="noStrike" kern="1200" cap="none" spc="0" normalizeH="0" baseline="0" noProof="0" dirty="0">
                <a:ln>
                  <a:noFill/>
                </a:ln>
                <a:solidFill>
                  <a:srgbClr val="003F87"/>
                </a:solidFill>
                <a:effectLst/>
                <a:uLnTx/>
                <a:uFillTx/>
                <a:latin typeface="微软雅黑 Light"/>
                <a:ea typeface="微软雅黑 Light"/>
              </a:endParaRPr>
            </a:p>
          </p:txBody>
        </p:sp>
        <p:sp>
          <p:nvSpPr>
            <p:cNvPr id="6" name="文本框 5">
              <a:extLst>
                <a:ext uri="{FF2B5EF4-FFF2-40B4-BE49-F238E27FC236}">
                  <a16:creationId xmlns:a16="http://schemas.microsoft.com/office/drawing/2014/main" id="{E2F59C7A-835A-4B02-B426-030D8A682C65}"/>
                </a:ext>
              </a:extLst>
            </p:cNvPr>
            <p:cNvSpPr txBox="1"/>
            <p:nvPr/>
          </p:nvSpPr>
          <p:spPr>
            <a:xfrm>
              <a:off x="8676565" y="76583"/>
              <a:ext cx="113096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rgbClr val="003F87"/>
                  </a:solidFill>
                  <a:latin typeface="微软雅黑 Light"/>
                  <a:ea typeface="微软雅黑 Light"/>
                </a:rPr>
                <a:t>CTGAN</a:t>
              </a:r>
              <a:endParaRPr kumimoji="0" lang="zh-CN" altLang="en-US" sz="1800" b="0" i="0" u="none" strike="noStrike" kern="1200" cap="none" spc="0" normalizeH="0" baseline="0" noProof="0" dirty="0">
                <a:ln>
                  <a:noFill/>
                </a:ln>
                <a:solidFill>
                  <a:srgbClr val="003F87"/>
                </a:solidFill>
                <a:effectLst/>
                <a:uLnTx/>
                <a:uFillTx/>
                <a:latin typeface="微软雅黑 Light"/>
                <a:ea typeface="微软雅黑 Light"/>
                <a:cs typeface="+mn-cs"/>
              </a:endParaRPr>
            </a:p>
          </p:txBody>
        </p:sp>
        <p:sp>
          <p:nvSpPr>
            <p:cNvPr id="7" name="文本框 6">
              <a:extLst>
                <a:ext uri="{FF2B5EF4-FFF2-40B4-BE49-F238E27FC236}">
                  <a16:creationId xmlns:a16="http://schemas.microsoft.com/office/drawing/2014/main" id="{CB8930FC-3020-4855-9D38-CAB435C012DE}"/>
                </a:ext>
              </a:extLst>
            </p:cNvPr>
            <p:cNvSpPr txBox="1"/>
            <p:nvPr/>
          </p:nvSpPr>
          <p:spPr>
            <a:xfrm>
              <a:off x="10306523" y="76583"/>
              <a:ext cx="141180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chemeClr val="bg1"/>
                  </a:solidFill>
                  <a:effectLst/>
                  <a:uLnTx/>
                  <a:uFillTx/>
                  <a:latin typeface="微软雅黑 Light"/>
                  <a:ea typeface="微软雅黑 Light"/>
                  <a:cs typeface="+mn-cs"/>
                </a:rPr>
                <a:t>总结与思考</a:t>
              </a:r>
            </a:p>
          </p:txBody>
        </p:sp>
        <p:grpSp>
          <p:nvGrpSpPr>
            <p:cNvPr id="8" name="组合 7">
              <a:extLst>
                <a:ext uri="{FF2B5EF4-FFF2-40B4-BE49-F238E27FC236}">
                  <a16:creationId xmlns:a16="http://schemas.microsoft.com/office/drawing/2014/main" id="{31C43EC3-F619-4D86-967C-43CACE30D1FB}"/>
                </a:ext>
              </a:extLst>
            </p:cNvPr>
            <p:cNvGrpSpPr/>
            <p:nvPr/>
          </p:nvGrpSpPr>
          <p:grpSpPr>
            <a:xfrm>
              <a:off x="6791404" y="159486"/>
              <a:ext cx="3296092" cy="209852"/>
              <a:chOff x="6358270" y="115009"/>
              <a:chExt cx="3296092" cy="307494"/>
            </a:xfrm>
          </p:grpSpPr>
          <p:cxnSp>
            <p:nvCxnSpPr>
              <p:cNvPr id="9" name="直接连接符 8">
                <a:extLst>
                  <a:ext uri="{FF2B5EF4-FFF2-40B4-BE49-F238E27FC236}">
                    <a16:creationId xmlns:a16="http://schemas.microsoft.com/office/drawing/2014/main" id="{2D86E86F-7BA5-4521-AB60-58BA96EA6A5B}"/>
                  </a:ext>
                </a:extLst>
              </p:cNvPr>
              <p:cNvCxnSpPr>
                <a:cxnSpLocks/>
              </p:cNvCxnSpPr>
              <p:nvPr/>
            </p:nvCxnSpPr>
            <p:spPr>
              <a:xfrm>
                <a:off x="6358270" y="115009"/>
                <a:ext cx="0" cy="30749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48787DB2-D46F-4A23-8391-FD6D91652166}"/>
                  </a:ext>
                </a:extLst>
              </p:cNvPr>
              <p:cNvCxnSpPr>
                <a:cxnSpLocks/>
              </p:cNvCxnSpPr>
              <p:nvPr/>
            </p:nvCxnSpPr>
            <p:spPr>
              <a:xfrm>
                <a:off x="8006316" y="115009"/>
                <a:ext cx="0" cy="30749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6035BB35-CC45-4A60-944C-0CB81EABC46A}"/>
                  </a:ext>
                </a:extLst>
              </p:cNvPr>
              <p:cNvCxnSpPr>
                <a:cxnSpLocks/>
              </p:cNvCxnSpPr>
              <p:nvPr/>
            </p:nvCxnSpPr>
            <p:spPr>
              <a:xfrm>
                <a:off x="9654362" y="115009"/>
                <a:ext cx="0" cy="30749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pic>
        <p:nvPicPr>
          <p:cNvPr id="41" name="图形 40">
            <a:extLst>
              <a:ext uri="{FF2B5EF4-FFF2-40B4-BE49-F238E27FC236}">
                <a16:creationId xmlns:a16="http://schemas.microsoft.com/office/drawing/2014/main" id="{7397B797-408E-4ED0-BE39-413E49E1A3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3661" y="98896"/>
            <a:ext cx="1251222" cy="347019"/>
          </a:xfrm>
          <a:prstGeom prst="rect">
            <a:avLst/>
          </a:prstGeom>
        </p:spPr>
      </p:pic>
      <p:grpSp>
        <p:nvGrpSpPr>
          <p:cNvPr id="17" name="组合 16">
            <a:extLst>
              <a:ext uri="{FF2B5EF4-FFF2-40B4-BE49-F238E27FC236}">
                <a16:creationId xmlns:a16="http://schemas.microsoft.com/office/drawing/2014/main" id="{9AB5D83E-9E6B-4D50-9F0F-003549BA7F85}"/>
              </a:ext>
            </a:extLst>
          </p:cNvPr>
          <p:cNvGrpSpPr/>
          <p:nvPr/>
        </p:nvGrpSpPr>
        <p:grpSpPr>
          <a:xfrm>
            <a:off x="615029" y="797166"/>
            <a:ext cx="9741745" cy="3012834"/>
            <a:chOff x="615029" y="797166"/>
            <a:chExt cx="9741745" cy="3012834"/>
          </a:xfrm>
        </p:grpSpPr>
        <p:sp>
          <p:nvSpPr>
            <p:cNvPr id="3" name="矩形 2">
              <a:extLst>
                <a:ext uri="{FF2B5EF4-FFF2-40B4-BE49-F238E27FC236}">
                  <a16:creationId xmlns:a16="http://schemas.microsoft.com/office/drawing/2014/main" id="{E540ED44-4866-4E71-A972-64E3D50A2407}"/>
                </a:ext>
              </a:extLst>
            </p:cNvPr>
            <p:cNvSpPr/>
            <p:nvPr/>
          </p:nvSpPr>
          <p:spPr>
            <a:xfrm>
              <a:off x="615029" y="1549400"/>
              <a:ext cx="9741745" cy="2260600"/>
            </a:xfrm>
            <a:prstGeom prst="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250000"/>
                </a:lnSpc>
                <a:buFont typeface="Wingdings" panose="05000000000000000000" pitchFamily="2" charset="2"/>
                <a:buChar char="l"/>
              </a:pPr>
              <a:r>
                <a:rPr lang="en-US" altLang="zh-CN" sz="2000" dirty="0">
                  <a:solidFill>
                    <a:schemeClr val="tx1"/>
                  </a:solidFill>
                </a:rPr>
                <a:t>CTGAN</a:t>
              </a:r>
              <a:r>
                <a:rPr lang="zh-CN" altLang="en-US" sz="2000" dirty="0">
                  <a:solidFill>
                    <a:schemeClr val="tx1"/>
                  </a:solidFill>
                </a:rPr>
                <a:t>生成表数据的性能优于</a:t>
              </a:r>
              <a:r>
                <a:rPr lang="en-US" altLang="zh-CN" sz="2000" dirty="0">
                  <a:solidFill>
                    <a:schemeClr val="tx1"/>
                  </a:solidFill>
                </a:rPr>
                <a:t>GANs</a:t>
              </a:r>
              <a:r>
                <a:rPr lang="zh-CN" altLang="en-US" sz="2000" dirty="0">
                  <a:solidFill>
                    <a:schemeClr val="tx1"/>
                  </a:solidFill>
                </a:rPr>
                <a:t>和</a:t>
              </a:r>
              <a:r>
                <a:rPr lang="en-US" altLang="zh-CN" sz="2000" dirty="0">
                  <a:solidFill>
                    <a:schemeClr val="tx1"/>
                  </a:solidFill>
                </a:rPr>
                <a:t>BNs</a:t>
              </a:r>
              <a:r>
                <a:rPr lang="zh-CN" altLang="en-US" sz="2000" dirty="0">
                  <a:solidFill>
                    <a:schemeClr val="tx1"/>
                  </a:solidFill>
                </a:rPr>
                <a:t>。</a:t>
              </a:r>
              <a:endParaRPr lang="en-US" altLang="zh-CN" sz="2000" dirty="0">
                <a:solidFill>
                  <a:schemeClr val="tx1"/>
                </a:solidFill>
              </a:endParaRPr>
            </a:p>
            <a:p>
              <a:pPr marL="342900" indent="-342900">
                <a:lnSpc>
                  <a:spcPct val="250000"/>
                </a:lnSpc>
                <a:buFont typeface="Wingdings" panose="05000000000000000000" pitchFamily="2" charset="2"/>
                <a:buChar char="l"/>
              </a:pPr>
              <a:r>
                <a:rPr lang="en-US" altLang="zh-CN" sz="2000" dirty="0">
                  <a:solidFill>
                    <a:schemeClr val="tx1"/>
                  </a:solidFill>
                </a:rPr>
                <a:t>Mode-Specific Normalization </a:t>
              </a:r>
              <a:r>
                <a:rPr lang="zh-CN" altLang="en-US" sz="2000" dirty="0">
                  <a:solidFill>
                    <a:schemeClr val="tx1"/>
                  </a:solidFill>
                </a:rPr>
                <a:t>将连续值转化为适合神经网络训练的有节向量形式。</a:t>
              </a:r>
              <a:endParaRPr lang="en-US" altLang="zh-CN" sz="2000" dirty="0">
                <a:solidFill>
                  <a:schemeClr val="tx1"/>
                </a:solidFill>
              </a:endParaRPr>
            </a:p>
            <a:p>
              <a:pPr marL="342900" indent="-342900">
                <a:lnSpc>
                  <a:spcPct val="250000"/>
                </a:lnSpc>
                <a:buFont typeface="Wingdings" panose="05000000000000000000" pitchFamily="2" charset="2"/>
                <a:buChar char="l"/>
              </a:pPr>
              <a:r>
                <a:rPr lang="en-US" altLang="zh-CN" sz="2000" dirty="0">
                  <a:solidFill>
                    <a:schemeClr val="tx1"/>
                  </a:solidFill>
                </a:rPr>
                <a:t>Conditional Generator</a:t>
              </a:r>
              <a:r>
                <a:rPr lang="zh-CN" altLang="en-US" sz="2000" dirty="0">
                  <a:solidFill>
                    <a:schemeClr val="tx1"/>
                  </a:solidFill>
                </a:rPr>
                <a:t>用于生成特定离散值的数据，可用于数据增强。</a:t>
              </a:r>
              <a:endParaRPr lang="en-US" altLang="zh-CN" sz="2000" dirty="0">
                <a:solidFill>
                  <a:schemeClr val="tx1"/>
                </a:solidFill>
              </a:endParaRPr>
            </a:p>
            <a:p>
              <a:pPr algn="ctr"/>
              <a:endParaRPr lang="zh-CN" altLang="en-US" sz="2000" dirty="0">
                <a:solidFill>
                  <a:schemeClr val="tx1"/>
                </a:solidFill>
              </a:endParaRPr>
            </a:p>
          </p:txBody>
        </p:sp>
        <p:sp>
          <p:nvSpPr>
            <p:cNvPr id="15" name="矩形 14">
              <a:extLst>
                <a:ext uri="{FF2B5EF4-FFF2-40B4-BE49-F238E27FC236}">
                  <a16:creationId xmlns:a16="http://schemas.microsoft.com/office/drawing/2014/main" id="{F435D986-7BBE-40E5-8E78-1F1CF1D98F93}"/>
                </a:ext>
              </a:extLst>
            </p:cNvPr>
            <p:cNvSpPr/>
            <p:nvPr/>
          </p:nvSpPr>
          <p:spPr>
            <a:xfrm>
              <a:off x="615029" y="797166"/>
              <a:ext cx="2082800" cy="520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mj-ea"/>
                  <a:ea typeface="+mj-ea"/>
                </a:rPr>
                <a:t>总结</a:t>
              </a:r>
            </a:p>
          </p:txBody>
        </p:sp>
      </p:grpSp>
      <p:grpSp>
        <p:nvGrpSpPr>
          <p:cNvPr id="19" name="组合 18">
            <a:extLst>
              <a:ext uri="{FF2B5EF4-FFF2-40B4-BE49-F238E27FC236}">
                <a16:creationId xmlns:a16="http://schemas.microsoft.com/office/drawing/2014/main" id="{D11DFA31-4F1B-4B6F-A48D-F72D63F2B44A}"/>
              </a:ext>
            </a:extLst>
          </p:cNvPr>
          <p:cNvGrpSpPr/>
          <p:nvPr/>
        </p:nvGrpSpPr>
        <p:grpSpPr>
          <a:xfrm>
            <a:off x="615029" y="4041534"/>
            <a:ext cx="9741745" cy="2335202"/>
            <a:chOff x="615029" y="797166"/>
            <a:chExt cx="9741745" cy="2335202"/>
          </a:xfrm>
        </p:grpSpPr>
        <p:sp>
          <p:nvSpPr>
            <p:cNvPr id="20" name="矩形 19">
              <a:extLst>
                <a:ext uri="{FF2B5EF4-FFF2-40B4-BE49-F238E27FC236}">
                  <a16:creationId xmlns:a16="http://schemas.microsoft.com/office/drawing/2014/main" id="{1D27392D-AC46-4CA5-B932-64C54C6F7863}"/>
                </a:ext>
              </a:extLst>
            </p:cNvPr>
            <p:cNvSpPr/>
            <p:nvPr/>
          </p:nvSpPr>
          <p:spPr>
            <a:xfrm>
              <a:off x="615029" y="1549399"/>
              <a:ext cx="9741745" cy="1582969"/>
            </a:xfrm>
            <a:prstGeom prst="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200000"/>
                </a:lnSpc>
                <a:buFont typeface="Wingdings" panose="05000000000000000000" pitchFamily="2" charset="2"/>
                <a:buChar char="l"/>
              </a:pPr>
              <a:r>
                <a:rPr lang="zh-CN" altLang="en-US" sz="2000" dirty="0">
                  <a:solidFill>
                    <a:schemeClr val="tx1"/>
                  </a:solidFill>
                </a:rPr>
                <a:t>如何从理论上证明</a:t>
              </a:r>
              <a:r>
                <a:rPr lang="en-US" altLang="zh-CN" sz="2000" dirty="0">
                  <a:solidFill>
                    <a:schemeClr val="tx1"/>
                  </a:solidFill>
                </a:rPr>
                <a:t>GAN</a:t>
              </a:r>
              <a:r>
                <a:rPr lang="zh-CN" altLang="en-US" sz="2000" dirty="0">
                  <a:solidFill>
                    <a:schemeClr val="tx1"/>
                  </a:solidFill>
                </a:rPr>
                <a:t>可以处理同时具有离散和连续数据的分布。</a:t>
              </a:r>
              <a:endParaRPr lang="en-US" altLang="zh-CN" sz="2000" dirty="0">
                <a:solidFill>
                  <a:schemeClr val="tx1"/>
                </a:solidFill>
              </a:endParaRPr>
            </a:p>
            <a:p>
              <a:pPr marL="342900" indent="-342900">
                <a:lnSpc>
                  <a:spcPct val="200000"/>
                </a:lnSpc>
                <a:buFont typeface="Wingdings" panose="05000000000000000000" pitchFamily="2" charset="2"/>
                <a:buChar char="l"/>
              </a:pPr>
              <a:r>
                <a:rPr lang="zh-CN" altLang="en-US" sz="2000" dirty="0">
                  <a:solidFill>
                    <a:schemeClr val="tx1"/>
                  </a:solidFill>
                </a:rPr>
                <a:t>模态分解算法的选择。</a:t>
              </a:r>
              <a:endParaRPr lang="en-US" altLang="zh-CN" sz="2000" dirty="0">
                <a:solidFill>
                  <a:schemeClr val="tx1"/>
                </a:solidFill>
              </a:endParaRPr>
            </a:p>
          </p:txBody>
        </p:sp>
        <p:sp>
          <p:nvSpPr>
            <p:cNvPr id="21" name="矩形 20">
              <a:extLst>
                <a:ext uri="{FF2B5EF4-FFF2-40B4-BE49-F238E27FC236}">
                  <a16:creationId xmlns:a16="http://schemas.microsoft.com/office/drawing/2014/main" id="{C2A931DC-34E5-4043-8BD1-F294291F8DFA}"/>
                </a:ext>
              </a:extLst>
            </p:cNvPr>
            <p:cNvSpPr/>
            <p:nvPr/>
          </p:nvSpPr>
          <p:spPr>
            <a:xfrm>
              <a:off x="615029" y="797166"/>
              <a:ext cx="2082800" cy="520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mj-ea"/>
                  <a:ea typeface="+mj-ea"/>
                </a:rPr>
                <a:t>思考</a:t>
              </a:r>
            </a:p>
          </p:txBody>
        </p:sp>
      </p:grpSp>
    </p:spTree>
    <p:extLst>
      <p:ext uri="{BB962C8B-B14F-4D97-AF65-F5344CB8AC3E}">
        <p14:creationId xmlns:p14="http://schemas.microsoft.com/office/powerpoint/2010/main" val="3507593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形 27">
            <a:extLst>
              <a:ext uri="{FF2B5EF4-FFF2-40B4-BE49-F238E27FC236}">
                <a16:creationId xmlns:a16="http://schemas.microsoft.com/office/drawing/2014/main" id="{9E16A54B-3014-4DC3-A96D-7A2A8A68AC6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10309" y="1445121"/>
            <a:ext cx="5215098" cy="4330394"/>
          </a:xfrm>
          <a:prstGeom prst="rect">
            <a:avLst/>
          </a:prstGeom>
          <a:effectLst>
            <a:glow rad="12700">
              <a:schemeClr val="bg1">
                <a:alpha val="41000"/>
              </a:schemeClr>
            </a:glow>
          </a:effectLst>
        </p:spPr>
      </p:pic>
      <p:pic>
        <p:nvPicPr>
          <p:cNvPr id="24" name="图形 23">
            <a:extLst>
              <a:ext uri="{FF2B5EF4-FFF2-40B4-BE49-F238E27FC236}">
                <a16:creationId xmlns:a16="http://schemas.microsoft.com/office/drawing/2014/main" id="{E86CA992-2458-4D0A-B4A6-2C7C9652987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331960" y="2827608"/>
            <a:ext cx="623999" cy="518142"/>
          </a:xfrm>
          <a:prstGeom prst="rect">
            <a:avLst/>
          </a:prstGeom>
          <a:effectLst>
            <a:glow rad="12700">
              <a:schemeClr val="bg1">
                <a:alpha val="41000"/>
              </a:schemeClr>
            </a:glow>
          </a:effectLst>
        </p:spPr>
      </p:pic>
      <p:pic>
        <p:nvPicPr>
          <p:cNvPr id="23" name="图形 22">
            <a:extLst>
              <a:ext uri="{FF2B5EF4-FFF2-40B4-BE49-F238E27FC236}">
                <a16:creationId xmlns:a16="http://schemas.microsoft.com/office/drawing/2014/main" id="{01A623C9-37DC-4B6E-BD65-56B0C337645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58912" y="3669555"/>
            <a:ext cx="623999" cy="518142"/>
          </a:xfrm>
          <a:prstGeom prst="rect">
            <a:avLst/>
          </a:prstGeom>
          <a:effectLst>
            <a:glow rad="12700">
              <a:schemeClr val="bg1">
                <a:alpha val="41000"/>
              </a:schemeClr>
            </a:glow>
          </a:effectLst>
        </p:spPr>
      </p:pic>
      <p:sp>
        <p:nvSpPr>
          <p:cNvPr id="20" name="矩形 19">
            <a:extLst>
              <a:ext uri="{FF2B5EF4-FFF2-40B4-BE49-F238E27FC236}">
                <a16:creationId xmlns:a16="http://schemas.microsoft.com/office/drawing/2014/main" id="{C0BC3B4D-DE95-4660-8889-F39AB20F4DBD}"/>
              </a:ext>
            </a:extLst>
          </p:cNvPr>
          <p:cNvSpPr/>
          <p:nvPr/>
        </p:nvSpPr>
        <p:spPr>
          <a:xfrm flipV="1">
            <a:off x="0" y="6552308"/>
            <a:ext cx="12178488" cy="305692"/>
          </a:xfrm>
          <a:prstGeom prst="rect">
            <a:avLst/>
          </a:prstGeom>
          <a:solidFill>
            <a:srgbClr val="003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Light"/>
              <a:ea typeface="微软雅黑 Light"/>
              <a:cs typeface="+mn-cs"/>
            </a:endParaRPr>
          </a:p>
        </p:txBody>
      </p:sp>
      <p:sp>
        <p:nvSpPr>
          <p:cNvPr id="17" name="文本框 16">
            <a:extLst>
              <a:ext uri="{FF2B5EF4-FFF2-40B4-BE49-F238E27FC236}">
                <a16:creationId xmlns:a16="http://schemas.microsoft.com/office/drawing/2014/main" id="{C20597D1-D3A9-4543-B7E9-42A99E9122D9}"/>
              </a:ext>
            </a:extLst>
          </p:cNvPr>
          <p:cNvSpPr txBox="1"/>
          <p:nvPr/>
        </p:nvSpPr>
        <p:spPr>
          <a:xfrm>
            <a:off x="8016305" y="2558909"/>
            <a:ext cx="2703287" cy="722249"/>
          </a:xfrm>
          <a:prstGeom prst="rect">
            <a:avLst/>
          </a:prstGeom>
          <a:noFill/>
        </p:spPr>
        <p:txBody>
          <a:bodyPr wrap="square" rtlCol="0">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lang="zh-CN" altLang="en-US" sz="4000" dirty="0">
                <a:solidFill>
                  <a:srgbClr val="003F87"/>
                </a:solidFill>
                <a:latin typeface="微软雅黑"/>
                <a:ea typeface="微软雅黑"/>
              </a:rPr>
              <a:t>感谢观看</a:t>
            </a:r>
            <a:endParaRPr kumimoji="0" lang="zh-CN" altLang="en-US" sz="4000" b="0" i="0" u="none" strike="noStrike" kern="1200" cap="none" spc="0" normalizeH="0" baseline="0" noProof="0" dirty="0">
              <a:ln>
                <a:noFill/>
              </a:ln>
              <a:solidFill>
                <a:srgbClr val="003F87"/>
              </a:solidFill>
              <a:effectLst/>
              <a:uLnTx/>
              <a:uFillTx/>
              <a:latin typeface="微软雅黑"/>
              <a:ea typeface="微软雅黑"/>
            </a:endParaRPr>
          </a:p>
        </p:txBody>
      </p:sp>
      <p:pic>
        <p:nvPicPr>
          <p:cNvPr id="5" name="图形 4">
            <a:extLst>
              <a:ext uri="{FF2B5EF4-FFF2-40B4-BE49-F238E27FC236}">
                <a16:creationId xmlns:a16="http://schemas.microsoft.com/office/drawing/2014/main" id="{1E317E6C-BBA7-4430-84FA-4C6C4487FAC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543909" y="175131"/>
            <a:ext cx="1508654" cy="529352"/>
          </a:xfrm>
          <a:prstGeom prst="rect">
            <a:avLst/>
          </a:prstGeom>
        </p:spPr>
      </p:pic>
      <p:pic>
        <p:nvPicPr>
          <p:cNvPr id="15" name="图形 14">
            <a:extLst>
              <a:ext uri="{FF2B5EF4-FFF2-40B4-BE49-F238E27FC236}">
                <a16:creationId xmlns:a16="http://schemas.microsoft.com/office/drawing/2014/main" id="{A3094F62-EAF0-41BE-8707-942335AF678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88208" y="426805"/>
            <a:ext cx="623999" cy="518142"/>
          </a:xfrm>
          <a:prstGeom prst="rect">
            <a:avLst/>
          </a:prstGeom>
          <a:effectLst>
            <a:glow rad="12700">
              <a:schemeClr val="bg1">
                <a:alpha val="41000"/>
              </a:schemeClr>
            </a:glow>
          </a:effectLst>
        </p:spPr>
      </p:pic>
      <p:pic>
        <p:nvPicPr>
          <p:cNvPr id="16" name="图形 15">
            <a:extLst>
              <a:ext uri="{FF2B5EF4-FFF2-40B4-BE49-F238E27FC236}">
                <a16:creationId xmlns:a16="http://schemas.microsoft.com/office/drawing/2014/main" id="{D76DFED0-B383-4A06-A2D3-4719720C403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01408" y="4402483"/>
            <a:ext cx="623999" cy="518142"/>
          </a:xfrm>
          <a:prstGeom prst="rect">
            <a:avLst/>
          </a:prstGeom>
          <a:effectLst>
            <a:glow rad="12700">
              <a:schemeClr val="bg1">
                <a:alpha val="41000"/>
              </a:schemeClr>
            </a:glow>
          </a:effectLst>
        </p:spPr>
      </p:pic>
      <p:pic>
        <p:nvPicPr>
          <p:cNvPr id="22" name="图形 21">
            <a:extLst>
              <a:ext uri="{FF2B5EF4-FFF2-40B4-BE49-F238E27FC236}">
                <a16:creationId xmlns:a16="http://schemas.microsoft.com/office/drawing/2014/main" id="{9C81B2E4-B51C-49D8-B71F-3CEFEAECCA5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101408" y="5365067"/>
            <a:ext cx="623999" cy="518142"/>
          </a:xfrm>
          <a:prstGeom prst="rect">
            <a:avLst/>
          </a:prstGeom>
          <a:effectLst>
            <a:glow rad="12700">
              <a:schemeClr val="bg1">
                <a:alpha val="41000"/>
              </a:schemeClr>
            </a:glow>
          </a:effectLst>
        </p:spPr>
      </p:pic>
      <p:sp>
        <p:nvSpPr>
          <p:cNvPr id="25" name="文本框 24">
            <a:extLst>
              <a:ext uri="{FF2B5EF4-FFF2-40B4-BE49-F238E27FC236}">
                <a16:creationId xmlns:a16="http://schemas.microsoft.com/office/drawing/2014/main" id="{E3FECFCA-7D80-4796-9562-DE7780060511}"/>
              </a:ext>
            </a:extLst>
          </p:cNvPr>
          <p:cNvSpPr txBox="1"/>
          <p:nvPr/>
        </p:nvSpPr>
        <p:spPr>
          <a:xfrm>
            <a:off x="4135771" y="6104482"/>
            <a:ext cx="3774974" cy="369332"/>
          </a:xfrm>
          <a:prstGeom prst="rect">
            <a:avLst/>
          </a:prstGeom>
          <a:noFill/>
        </p:spPr>
        <p:txBody>
          <a:bodyPr wrap="square" rtlCol="0">
            <a:spAutoFit/>
          </a:bodyPr>
          <a:lstStyle/>
          <a:p>
            <a:r>
              <a:rPr lang="zh-CN" altLang="en-US" dirty="0">
                <a:solidFill>
                  <a:srgbClr val="003F87"/>
                </a:solidFill>
              </a:rPr>
              <a:t>勤 学 </a:t>
            </a:r>
            <a:r>
              <a:rPr lang="en-US" altLang="zh-CN" dirty="0">
                <a:solidFill>
                  <a:srgbClr val="003F87"/>
                </a:solidFill>
              </a:rPr>
              <a:t> /  </a:t>
            </a:r>
            <a:r>
              <a:rPr lang="zh-CN" altLang="en-US" dirty="0">
                <a:solidFill>
                  <a:srgbClr val="003F87"/>
                </a:solidFill>
              </a:rPr>
              <a:t>修 德  </a:t>
            </a:r>
            <a:r>
              <a:rPr lang="en-US" altLang="zh-CN" dirty="0">
                <a:solidFill>
                  <a:srgbClr val="003F87"/>
                </a:solidFill>
              </a:rPr>
              <a:t>/  </a:t>
            </a:r>
            <a:r>
              <a:rPr lang="zh-CN" altLang="en-US" dirty="0">
                <a:solidFill>
                  <a:srgbClr val="003F87"/>
                </a:solidFill>
              </a:rPr>
              <a:t>明 辨  </a:t>
            </a:r>
            <a:r>
              <a:rPr lang="en-US" altLang="zh-CN" dirty="0">
                <a:solidFill>
                  <a:srgbClr val="003F87"/>
                </a:solidFill>
              </a:rPr>
              <a:t>/  </a:t>
            </a:r>
            <a:r>
              <a:rPr lang="zh-CN" altLang="en-US" dirty="0">
                <a:solidFill>
                  <a:srgbClr val="003F87"/>
                </a:solidFill>
              </a:rPr>
              <a:t>笃 实</a:t>
            </a:r>
          </a:p>
        </p:txBody>
      </p:sp>
      <p:pic>
        <p:nvPicPr>
          <p:cNvPr id="27" name="图形 26">
            <a:extLst>
              <a:ext uri="{FF2B5EF4-FFF2-40B4-BE49-F238E27FC236}">
                <a16:creationId xmlns:a16="http://schemas.microsoft.com/office/drawing/2014/main" id="{6A1B681F-C850-4D63-9310-6FD6D4B8419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83928" y="3360503"/>
            <a:ext cx="623999" cy="518142"/>
          </a:xfrm>
          <a:prstGeom prst="rect">
            <a:avLst/>
          </a:prstGeom>
          <a:effectLst>
            <a:glow rad="12700">
              <a:schemeClr val="bg1">
                <a:alpha val="41000"/>
              </a:schemeClr>
            </a:glow>
          </a:effectLst>
        </p:spPr>
      </p:pic>
      <p:pic>
        <p:nvPicPr>
          <p:cNvPr id="29" name="图形 28">
            <a:extLst>
              <a:ext uri="{FF2B5EF4-FFF2-40B4-BE49-F238E27FC236}">
                <a16:creationId xmlns:a16="http://schemas.microsoft.com/office/drawing/2014/main" id="{9718D3A6-E32A-4F9D-A1F9-D28E2D3ECD3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07928" y="673324"/>
            <a:ext cx="623999" cy="518142"/>
          </a:xfrm>
          <a:prstGeom prst="rect">
            <a:avLst/>
          </a:prstGeom>
          <a:effectLst>
            <a:glow rad="12700">
              <a:schemeClr val="bg1">
                <a:alpha val="41000"/>
              </a:schemeClr>
            </a:glow>
          </a:effectLst>
        </p:spPr>
      </p:pic>
      <p:pic>
        <p:nvPicPr>
          <p:cNvPr id="31" name="图形 30">
            <a:extLst>
              <a:ext uri="{FF2B5EF4-FFF2-40B4-BE49-F238E27FC236}">
                <a16:creationId xmlns:a16="http://schemas.microsoft.com/office/drawing/2014/main" id="{630D5242-335A-4398-B6EC-29E1F7963EE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04305" y="4857050"/>
            <a:ext cx="623999" cy="518142"/>
          </a:xfrm>
          <a:prstGeom prst="rect">
            <a:avLst/>
          </a:prstGeom>
          <a:effectLst>
            <a:glow rad="12700">
              <a:schemeClr val="bg1">
                <a:alpha val="41000"/>
              </a:schemeClr>
            </a:glow>
          </a:effectLst>
        </p:spPr>
      </p:pic>
      <p:pic>
        <p:nvPicPr>
          <p:cNvPr id="32" name="图形 31">
            <a:extLst>
              <a:ext uri="{FF2B5EF4-FFF2-40B4-BE49-F238E27FC236}">
                <a16:creationId xmlns:a16="http://schemas.microsoft.com/office/drawing/2014/main" id="{DC784CC6-B30C-4AE7-9777-FC110D30319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47866" y="4360212"/>
            <a:ext cx="623999" cy="518142"/>
          </a:xfrm>
          <a:prstGeom prst="rect">
            <a:avLst/>
          </a:prstGeom>
          <a:effectLst>
            <a:glow rad="12700">
              <a:schemeClr val="bg1">
                <a:alpha val="41000"/>
              </a:schemeClr>
            </a:glow>
          </a:effectLst>
        </p:spPr>
      </p:pic>
      <p:pic>
        <p:nvPicPr>
          <p:cNvPr id="2" name="图片 1"/>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192504" y="1189878"/>
            <a:ext cx="5961580" cy="4470903"/>
          </a:xfrm>
          <a:prstGeom prst="rect">
            <a:avLst/>
          </a:prstGeom>
        </p:spPr>
      </p:pic>
      <p:sp>
        <p:nvSpPr>
          <p:cNvPr id="3" name="矩形 2"/>
          <p:cNvSpPr/>
          <p:nvPr/>
        </p:nvSpPr>
        <p:spPr>
          <a:xfrm>
            <a:off x="183550" y="1189877"/>
            <a:ext cx="5970535" cy="4470904"/>
          </a:xfrm>
          <a:prstGeom prst="rect">
            <a:avLst/>
          </a:prstGeom>
          <a:solidFill>
            <a:schemeClr val="bg1">
              <a:lumMod val="85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p:nvSpPr>
        <p:spPr>
          <a:xfrm>
            <a:off x="7623222" y="5482886"/>
            <a:ext cx="2987665" cy="777348"/>
          </a:xfrm>
          <a:prstGeom prst="ellipse">
            <a:avLst/>
          </a:prstGeom>
          <a:noFill/>
          <a:ln w="38100">
            <a:solidFill>
              <a:srgbClr val="8DA1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8185335" y="5781218"/>
            <a:ext cx="1863440" cy="242352"/>
          </a:xfrm>
          <a:prstGeom prst="ellipse">
            <a:avLst/>
          </a:prstGeom>
          <a:noFill/>
          <a:ln w="38100">
            <a:solidFill>
              <a:srgbClr val="8DA1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46662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蓝色大气简约答辩类PPT模板"/>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2">
      <a:majorFont>
        <a:latin typeface="Calibri Light"/>
        <a:ea typeface="微软雅黑"/>
        <a:cs typeface=""/>
      </a:majorFont>
      <a:minorFont>
        <a:latin typeface="微软雅黑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1588</TotalTime>
  <Words>1443</Words>
  <Application>Microsoft Office PowerPoint</Application>
  <PresentationFormat>宽屏</PresentationFormat>
  <Paragraphs>154</Paragraphs>
  <Slides>15</Slides>
  <Notes>15</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2</vt:i4>
      </vt:variant>
      <vt:variant>
        <vt:lpstr>幻灯片标题</vt:lpstr>
      </vt:variant>
      <vt:variant>
        <vt:i4>15</vt:i4>
      </vt:variant>
    </vt:vector>
  </HeadingPairs>
  <TitlesOfParts>
    <vt:vector size="24" baseType="lpstr">
      <vt:lpstr>等线</vt:lpstr>
      <vt:lpstr>微软雅黑</vt:lpstr>
      <vt:lpstr>微软雅黑 Light</vt:lpstr>
      <vt:lpstr>Arial</vt:lpstr>
      <vt:lpstr>Calibri Light</vt:lpstr>
      <vt:lpstr>Wingdings</vt:lpstr>
      <vt:lpstr>1_Office 主题​​</vt:lpstr>
      <vt:lpstr>MathType 7.0 Equation</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蓝色大气简约答辩类PPT模板</dc:title>
  <dc:creator>Windows 用户</dc:creator>
  <cp:lastModifiedBy>T</cp:lastModifiedBy>
  <cp:revision>100</cp:revision>
  <dcterms:created xsi:type="dcterms:W3CDTF">2018-09-30T02:27:57Z</dcterms:created>
  <dcterms:modified xsi:type="dcterms:W3CDTF">2021-11-09T15:17:42Z</dcterms:modified>
</cp:coreProperties>
</file>